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332" r:id="rId5"/>
    <p:sldId id="333" r:id="rId6"/>
    <p:sldId id="334" r:id="rId7"/>
    <p:sldId id="329" r:id="rId8"/>
    <p:sldId id="265" r:id="rId9"/>
    <p:sldId id="313" r:id="rId10"/>
    <p:sldId id="314" r:id="rId11"/>
    <p:sldId id="336" r:id="rId12"/>
    <p:sldId id="268" r:id="rId13"/>
    <p:sldId id="269" r:id="rId14"/>
    <p:sldId id="270" r:id="rId15"/>
    <p:sldId id="337" r:id="rId16"/>
    <p:sldId id="271" r:id="rId17"/>
    <p:sldId id="322" r:id="rId18"/>
    <p:sldId id="284" r:id="rId19"/>
    <p:sldId id="323" r:id="rId20"/>
    <p:sldId id="324" r:id="rId21"/>
    <p:sldId id="325" r:id="rId22"/>
    <p:sldId id="335" r:id="rId23"/>
  </p:sldIdLst>
  <p:sldSz cx="13004800" cy="9753600"/>
  <p:notesSz cx="6858000" cy="9144000"/>
  <p:defaultTextStyle>
    <a:defPPr marL="0" marR="0" indent="0" algn="l" defTabSz="9142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660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319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799976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636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295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652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311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5972" algn="ctr" defTabSz="5841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fi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/>
    <p:restoredTop sz="80444" autoAdjust="0"/>
  </p:normalViewPr>
  <p:slideViewPr>
    <p:cSldViewPr snapToGrid="0">
      <p:cViewPr varScale="1">
        <p:scale>
          <a:sx n="89" d="100"/>
          <a:sy n="89" d="100"/>
        </p:scale>
        <p:origin x="2056" y="168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36222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110" latinLnBrk="0">
      <a:defRPr sz="2000">
        <a:latin typeface="Lucida Grande"/>
        <a:ea typeface="Lucida Grande"/>
        <a:cs typeface="Lucida Grande"/>
        <a:sym typeface="Lucida Grande"/>
      </a:defRPr>
    </a:lvl1pPr>
    <a:lvl2pPr indent="228565" defTabSz="584110" latinLnBrk="0">
      <a:defRPr sz="2000">
        <a:latin typeface="Lucida Grande"/>
        <a:ea typeface="Lucida Grande"/>
        <a:cs typeface="Lucida Grande"/>
        <a:sym typeface="Lucida Grande"/>
      </a:defRPr>
    </a:lvl2pPr>
    <a:lvl3pPr indent="457129" defTabSz="584110" latinLnBrk="0">
      <a:defRPr sz="2000">
        <a:latin typeface="Lucida Grande"/>
        <a:ea typeface="Lucida Grande"/>
        <a:cs typeface="Lucida Grande"/>
        <a:sym typeface="Lucida Grande"/>
      </a:defRPr>
    </a:lvl3pPr>
    <a:lvl4pPr indent="685694" defTabSz="584110" latinLnBrk="0">
      <a:defRPr sz="2000">
        <a:latin typeface="Lucida Grande"/>
        <a:ea typeface="Lucida Grande"/>
        <a:cs typeface="Lucida Grande"/>
        <a:sym typeface="Lucida Grande"/>
      </a:defRPr>
    </a:lvl4pPr>
    <a:lvl5pPr indent="914260" defTabSz="584110" latinLnBrk="0">
      <a:defRPr sz="2000">
        <a:latin typeface="Lucida Grande"/>
        <a:ea typeface="Lucida Grande"/>
        <a:cs typeface="Lucida Grande"/>
        <a:sym typeface="Lucida Grande"/>
      </a:defRPr>
    </a:lvl5pPr>
    <a:lvl6pPr indent="1142824" defTabSz="584110" latinLnBrk="0">
      <a:defRPr sz="2000">
        <a:latin typeface="Lucida Grande"/>
        <a:ea typeface="Lucida Grande"/>
        <a:cs typeface="Lucida Grande"/>
        <a:sym typeface="Lucida Grande"/>
      </a:defRPr>
    </a:lvl6pPr>
    <a:lvl7pPr indent="1371390" defTabSz="584110" latinLnBrk="0">
      <a:defRPr sz="2000">
        <a:latin typeface="Lucida Grande"/>
        <a:ea typeface="Lucida Grande"/>
        <a:cs typeface="Lucida Grande"/>
        <a:sym typeface="Lucida Grande"/>
      </a:defRPr>
    </a:lvl7pPr>
    <a:lvl8pPr indent="1599957" defTabSz="584110" latinLnBrk="0">
      <a:defRPr sz="2000">
        <a:latin typeface="Lucida Grande"/>
        <a:ea typeface="Lucida Grande"/>
        <a:cs typeface="Lucida Grande"/>
        <a:sym typeface="Lucida Grande"/>
      </a:defRPr>
    </a:lvl8pPr>
    <a:lvl9pPr indent="1828518" defTabSz="58411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705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228565" defTabSz="5841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dealing with multiple FDs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Client – Server model</a:t>
            </a:r>
          </a:p>
          <a:p>
            <a:pPr lvl="1"/>
            <a:r>
              <a:rPr lang="en-US" dirty="0"/>
              <a:t>Supported by the O.S.</a:t>
            </a:r>
          </a:p>
          <a:p>
            <a:pPr lvl="1"/>
            <a:endParaRPr lang="en-US" dirty="0"/>
          </a:p>
          <a:p>
            <a:pPr marL="0" marR="0" lvl="1" indent="22860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Used in client-server models</a:t>
            </a:r>
          </a:p>
          <a:p>
            <a:pPr marL="0" marR="0" lvl="1" indent="22860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1" indent="22860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Blocking vs non-blocking</a:t>
            </a:r>
          </a:p>
          <a:p>
            <a:pPr marL="0" marR="0" lvl="1" indent="22860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Network encoding, endianness</a:t>
            </a:r>
          </a:p>
          <a:p>
            <a:pPr marL="0" marR="0" lvl="1" indent="22860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1" indent="22860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59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Handles format of transmission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TCP/IP are part of network </a:t>
            </a:r>
            <a:r>
              <a:rPr lang="en-US" i="1" dirty="0"/>
              <a:t>layers</a:t>
            </a:r>
            <a:endParaRPr lang="en-US" dirty="0"/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Sockets are convenient methods for inter-machine communications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Each layer in the protocol stack only needs to talk to adjacent layers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24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37BD843-1AC9-BE48-A0FC-40E41F0B5F59}" type="slidenum">
              <a:rPr lang="en-US" sz="1200">
                <a:solidFill>
                  <a:prstClr val="black"/>
                </a:solidFill>
                <a:latin typeface="Times New Roman" charset="0"/>
              </a:rPr>
              <a:pPr/>
              <a:t>7</a:t>
            </a:fld>
            <a:endParaRPr lang="en-US" sz="120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6493" tIns="43247" rIns="86493" bIns="43247"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In theory there are about 4 billion available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Still a long way to a complete deployment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6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Byte-stream channel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chemeClr val="accent2"/>
              </a:solidFill>
            </a:endParaRP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chemeClr val="accent2"/>
              </a:solidFill>
            </a:endParaRP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2"/>
                </a:solidFill>
              </a:rPr>
              <a:t>Sometimes it is better to handle loss and retransmission at upper layers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06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325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000" dirty="0">
                <a:solidFill>
                  <a:schemeClr val="accent1"/>
                </a:solidFill>
              </a:rPr>
              <a:t>protocol may use this parameter to specify a specific protocol.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00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Order of packets is preserved and retransmission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Bottom line: we are sending / receiving a stream of bytes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08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5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3" y="166114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799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4" y="9258301"/>
            <a:ext cx="230820" cy="246209"/>
          </a:xfrm>
          <a:prstGeom prst="rect">
            <a:avLst/>
          </a:prstGeom>
        </p:spPr>
        <p:txBody>
          <a:bodyPr/>
          <a:lstStyle>
            <a:lvl1pPr algn="l"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" name="Seal 3 SPOT281.jpg" descr="Seal 3 SPOT281.jpg"/>
          <p:cNvPicPr>
            <a:picLocks noChangeAspect="1"/>
          </p:cNvPicPr>
          <p:nvPr/>
        </p:nvPicPr>
        <p:blipFill>
          <a:blip r:embed="rId2"/>
          <a:srcRect l="3953" t="3727" r="4037" b="3957"/>
          <a:stretch>
            <a:fillRect/>
          </a:stretch>
        </p:blipFill>
        <p:spPr>
          <a:xfrm>
            <a:off x="11652634" y="843097"/>
            <a:ext cx="747854" cy="75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361" extrusionOk="0">
                <a:moveTo>
                  <a:pt x="11422" y="16"/>
                </a:moveTo>
                <a:cubicBezTo>
                  <a:pt x="7331" y="-203"/>
                  <a:pt x="3227" y="1854"/>
                  <a:pt x="1122" y="5835"/>
                </a:cubicBezTo>
                <a:cubicBezTo>
                  <a:pt x="406" y="7190"/>
                  <a:pt x="27" y="8923"/>
                  <a:pt x="2" y="10637"/>
                </a:cubicBezTo>
                <a:cubicBezTo>
                  <a:pt x="-23" y="12351"/>
                  <a:pt x="307" y="14046"/>
                  <a:pt x="985" y="15337"/>
                </a:cubicBezTo>
                <a:cubicBezTo>
                  <a:pt x="2583" y="18378"/>
                  <a:pt x="4999" y="20320"/>
                  <a:pt x="8244" y="21167"/>
                </a:cubicBezTo>
                <a:cubicBezTo>
                  <a:pt x="8700" y="21286"/>
                  <a:pt x="9272" y="21346"/>
                  <a:pt x="9902" y="21359"/>
                </a:cubicBezTo>
                <a:cubicBezTo>
                  <a:pt x="11791" y="21397"/>
                  <a:pt x="14195" y="20985"/>
                  <a:pt x="15560" y="20308"/>
                </a:cubicBezTo>
                <a:cubicBezTo>
                  <a:pt x="17837" y="19180"/>
                  <a:pt x="19258" y="17799"/>
                  <a:pt x="20453" y="15529"/>
                </a:cubicBezTo>
                <a:cubicBezTo>
                  <a:pt x="21226" y="14062"/>
                  <a:pt x="21577" y="12337"/>
                  <a:pt x="21539" y="10603"/>
                </a:cubicBezTo>
                <a:cubicBezTo>
                  <a:pt x="21476" y="7712"/>
                  <a:pt x="20339" y="4789"/>
                  <a:pt x="18327" y="2942"/>
                </a:cubicBezTo>
                <a:cubicBezTo>
                  <a:pt x="16323" y="1103"/>
                  <a:pt x="13877" y="148"/>
                  <a:pt x="11422" y="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709400" cy="6565899"/>
          </a:xfrm>
          <a:prstGeom prst="rect">
            <a:avLst/>
          </a:prstGeom>
        </p:spPr>
        <p:txBody>
          <a:bodyPr numCol="2" spcCol="585380"/>
          <a:lstStyle>
            <a:lvl1pPr>
              <a:spcBef>
                <a:spcPts val="4898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898"/>
              </a:spcBef>
              <a:defRPr sz="2400"/>
            </a:lvl2pPr>
            <a:lvl3pPr>
              <a:spcBef>
                <a:spcPts val="4898"/>
              </a:spcBef>
              <a:defRPr sz="2400"/>
            </a:lvl3pPr>
            <a:lvl4pPr>
              <a:spcBef>
                <a:spcPts val="4898"/>
              </a:spcBef>
              <a:defRPr sz="2400"/>
            </a:lvl4pPr>
            <a:lvl5pPr>
              <a:spcBef>
                <a:spcPts val="4898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4"/>
            <a:ext cx="11861800" cy="8026401"/>
          </a:xfrm>
          <a:prstGeom prst="rect">
            <a:avLst/>
          </a:prstGeom>
        </p:spPr>
        <p:txBody>
          <a:bodyPr/>
          <a:lstStyle>
            <a:lvl1pPr>
              <a:spcBef>
                <a:spcPts val="7199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199"/>
              </a:spcBef>
              <a:defRPr sz="2400"/>
            </a:lvl2pPr>
            <a:lvl3pPr>
              <a:spcBef>
                <a:spcPts val="7199"/>
              </a:spcBef>
              <a:defRPr sz="2400"/>
            </a:lvl3pPr>
            <a:lvl4pPr>
              <a:spcBef>
                <a:spcPts val="7199"/>
              </a:spcBef>
              <a:defRPr sz="2400"/>
            </a:lvl4pPr>
            <a:lvl5pPr>
              <a:spcBef>
                <a:spcPts val="7199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4"/>
            <a:ext cx="11861800" cy="2336801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4" y="9258301"/>
            <a:ext cx="230820" cy="246209"/>
          </a:xfrm>
          <a:prstGeom prst="rect">
            <a:avLst/>
          </a:prstGeom>
        </p:spPr>
        <p:txBody>
          <a:bodyPr/>
          <a:lstStyle>
            <a:lvl1pPr algn="l"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5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699" y="7785101"/>
            <a:ext cx="5791201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899"/>
            <a:ext cx="4953000" cy="5080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5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1" y="1320799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1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3" y="9258301"/>
            <a:ext cx="230820" cy="246209"/>
          </a:xfrm>
          <a:prstGeom prst="rect">
            <a:avLst/>
          </a:prstGeom>
        </p:spPr>
        <p:txBody>
          <a:bodyPr/>
          <a:lstStyle>
            <a:lvl1pPr algn="l"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4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1" y="330200"/>
            <a:ext cx="5092700" cy="1397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1" y="2324100"/>
            <a:ext cx="5092700" cy="6565899"/>
          </a:xfrm>
          <a:prstGeom prst="rect">
            <a:avLst/>
          </a:prstGeom>
        </p:spPr>
        <p:txBody>
          <a:bodyPr/>
          <a:lstStyle>
            <a:lvl1pPr>
              <a:spcBef>
                <a:spcPts val="4898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898"/>
              </a:spcBef>
              <a:defRPr sz="2400"/>
            </a:lvl2pPr>
            <a:lvl3pPr>
              <a:spcBef>
                <a:spcPts val="4898"/>
              </a:spcBef>
              <a:defRPr sz="2400"/>
            </a:lvl3pPr>
            <a:lvl4pPr>
              <a:spcBef>
                <a:spcPts val="4898"/>
              </a:spcBef>
              <a:defRPr sz="2400"/>
            </a:lvl4pPr>
            <a:lvl5pPr>
              <a:spcBef>
                <a:spcPts val="4898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5" y="9258301"/>
            <a:ext cx="230820" cy="246209"/>
          </a:xfrm>
          <a:prstGeom prst="rect">
            <a:avLst/>
          </a:prstGeom>
        </p:spPr>
        <p:txBody>
          <a:bodyPr/>
          <a:lstStyle>
            <a:lvl1pPr algn="l"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2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2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2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2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2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2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2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1" y="2324100"/>
            <a:ext cx="5092700" cy="6565899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899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561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54476" y="9258301"/>
            <a:ext cx="230820" cy="246209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3DAE6F-E510-4B57-9529-E66BDD621E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 lIns="91425" tIns="45712" rIns="91425" bIns="45712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A975AF-CFB9-47BD-B2E0-EB83A62177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2033365" y="9131300"/>
            <a:ext cx="424929" cy="295804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2.</a:t>
            </a:r>
            <a:fld id="{7A20B33E-DE00-46D8-9AC5-DDD0A1EBCEF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570333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094" tIns="38094" rIns="38094" bIns="38094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1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094" tIns="38094" rIns="38094" bIns="38094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5475" y="9131300"/>
            <a:ext cx="272819" cy="295804"/>
          </a:xfrm>
          <a:prstGeom prst="rect">
            <a:avLst/>
          </a:prstGeom>
          <a:ln w="12700">
            <a:miter lim="400000"/>
          </a:ln>
        </p:spPr>
        <p:txBody>
          <a:bodyPr wrap="none" lIns="38094" tIns="38094" rIns="38094" bIns="38094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9" r:id="rId19"/>
  </p:sldLayoutIdLst>
  <p:transition spd="med"/>
  <p:hf hdr="0" ftr="0" dt="0"/>
  <p:txStyles>
    <p:titleStyle>
      <a:lvl1pPr marL="0" marR="0" indent="0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565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129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694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260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2824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390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599957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518" algn="l" defTabSz="5841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170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017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8864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712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559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406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253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100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5948" marR="0" indent="-203170" algn="l" defTabSz="58411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565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129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694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260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2824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390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599957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518" algn="r" defTabSz="5841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t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hyperlink" Target="http://www.uconn.edu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if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ine"/>
          <p:cNvSpPr/>
          <p:nvPr/>
        </p:nvSpPr>
        <p:spPr>
          <a:xfrm>
            <a:off x="647700" y="4749805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09" name="Seal 3 SPOT281.jpg" descr="Seal 3 SPOT281.jpg"/>
          <p:cNvPicPr>
            <a:picLocks noChangeAspect="1"/>
          </p:cNvPicPr>
          <p:nvPr/>
        </p:nvPicPr>
        <p:blipFill>
          <a:blip r:embed="rId3"/>
          <a:srcRect l="3469" t="3249" r="3360" b="3533"/>
          <a:stretch>
            <a:fillRect/>
          </a:stretch>
        </p:blipFill>
        <p:spPr>
          <a:xfrm>
            <a:off x="12017003" y="166114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0" name="Sockets Programm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(S1) Introduction to Internet </a:t>
            </a:r>
            <a:r>
              <a:rPr dirty="0"/>
              <a:t>Sockets</a:t>
            </a:r>
          </a:p>
        </p:txBody>
      </p:sp>
      <p:sp>
        <p:nvSpPr>
          <p:cNvPr id="211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4"/>
          <a:srcRect l="21856" t="7266" r="18812" b="6749"/>
          <a:stretch>
            <a:fillRect/>
          </a:stretch>
        </p:blipFill>
        <p:spPr>
          <a:xfrm>
            <a:off x="7943195" y="5488799"/>
            <a:ext cx="3677102" cy="3669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7" extrusionOk="0">
                <a:moveTo>
                  <a:pt x="10809" y="0"/>
                </a:moveTo>
                <a:cubicBezTo>
                  <a:pt x="9508" y="-1"/>
                  <a:pt x="9254" y="24"/>
                  <a:pt x="8398" y="243"/>
                </a:cubicBezTo>
                <a:cubicBezTo>
                  <a:pt x="6709" y="676"/>
                  <a:pt x="5526" y="1266"/>
                  <a:pt x="4048" y="2413"/>
                </a:cubicBezTo>
                <a:cubicBezTo>
                  <a:pt x="1511" y="4383"/>
                  <a:pt x="-12" y="7596"/>
                  <a:pt x="0" y="10772"/>
                </a:cubicBezTo>
                <a:cubicBezTo>
                  <a:pt x="2" y="11226"/>
                  <a:pt x="34" y="11681"/>
                  <a:pt x="100" y="12129"/>
                </a:cubicBezTo>
                <a:cubicBezTo>
                  <a:pt x="303" y="13513"/>
                  <a:pt x="604" y="14506"/>
                  <a:pt x="1164" y="15643"/>
                </a:cubicBezTo>
                <a:cubicBezTo>
                  <a:pt x="2463" y="18276"/>
                  <a:pt x="4647" y="20145"/>
                  <a:pt x="7560" y="21114"/>
                </a:cubicBezTo>
                <a:cubicBezTo>
                  <a:pt x="7904" y="21229"/>
                  <a:pt x="8571" y="21375"/>
                  <a:pt x="9575" y="21558"/>
                </a:cubicBezTo>
                <a:cubicBezTo>
                  <a:pt x="9719" y="21584"/>
                  <a:pt x="9967" y="21597"/>
                  <a:pt x="10269" y="21598"/>
                </a:cubicBezTo>
                <a:cubicBezTo>
                  <a:pt x="11174" y="21599"/>
                  <a:pt x="12571" y="21496"/>
                  <a:pt x="13152" y="21362"/>
                </a:cubicBezTo>
                <a:cubicBezTo>
                  <a:pt x="16431" y="20601"/>
                  <a:pt x="19089" y="18499"/>
                  <a:pt x="20495" y="15556"/>
                </a:cubicBezTo>
                <a:cubicBezTo>
                  <a:pt x="21313" y="13847"/>
                  <a:pt x="21588" y="12587"/>
                  <a:pt x="21578" y="10602"/>
                </a:cubicBezTo>
                <a:cubicBezTo>
                  <a:pt x="21572" y="9310"/>
                  <a:pt x="21547" y="9094"/>
                  <a:pt x="21294" y="8132"/>
                </a:cubicBezTo>
                <a:cubicBezTo>
                  <a:pt x="20484" y="5044"/>
                  <a:pt x="18384" y="2462"/>
                  <a:pt x="15549" y="1068"/>
                </a:cubicBezTo>
                <a:cubicBezTo>
                  <a:pt x="13900" y="257"/>
                  <a:pt x="12769" y="2"/>
                  <a:pt x="10809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Mot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Sockets</a:t>
            </a:r>
            <a:endParaRPr dirty="0"/>
          </a:p>
        </p:txBody>
      </p:sp>
      <p:sp>
        <p:nvSpPr>
          <p:cNvPr id="221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22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3" name="Objecti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Allows both inter-machine and inter-process communications</a:t>
            </a:r>
            <a:endParaRPr dirty="0"/>
          </a:p>
          <a:p>
            <a:pPr lvl="1"/>
            <a:r>
              <a:rPr lang="en-US" dirty="0"/>
              <a:t>Simple APIs for IPC, including communications over network</a:t>
            </a:r>
          </a:p>
          <a:p>
            <a:pPr lvl="1"/>
            <a:r>
              <a:rPr lang="en-US" dirty="0"/>
              <a:t>Communication channels created without forking</a:t>
            </a:r>
          </a:p>
          <a:p>
            <a:pPr lvl="1"/>
            <a:r>
              <a:rPr dirty="0"/>
              <a:t>Greater interoperability</a:t>
            </a:r>
            <a:endParaRPr lang="en-US" dirty="0"/>
          </a:p>
          <a:p>
            <a:r>
              <a:rPr lang="en-US" dirty="0"/>
              <a:t>Plan </a:t>
            </a:r>
          </a:p>
          <a:p>
            <a:pPr lvl="1"/>
            <a:r>
              <a:rPr lang="en-US" dirty="0"/>
              <a:t>Introduction to networking and sockets</a:t>
            </a:r>
          </a:p>
          <a:p>
            <a:pPr lvl="1"/>
            <a:r>
              <a:rPr lang="en-US" dirty="0"/>
              <a:t>Socket-based communications</a:t>
            </a:r>
          </a:p>
          <a:p>
            <a:pPr lvl="2"/>
            <a:r>
              <a:rPr lang="en-US" dirty="0"/>
              <a:t>Client and Server</a:t>
            </a:r>
          </a:p>
          <a:p>
            <a:pPr lvl="1"/>
            <a:r>
              <a:rPr lang="en-US" dirty="0"/>
              <a:t>Protocol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9948" y="9131300"/>
            <a:ext cx="178348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reliminar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Network sockets</a:t>
            </a:r>
            <a:endParaRPr dirty="0"/>
          </a:p>
        </p:txBody>
      </p:sp>
      <p:sp>
        <p:nvSpPr>
          <p:cNvPr id="227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28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9" name="Sockets are very useful for inter-machine concurrenc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We will focus on </a:t>
            </a:r>
            <a:r>
              <a:rPr lang="en-US" dirty="0">
                <a:solidFill>
                  <a:schemeClr val="accent1"/>
                </a:solidFill>
              </a:rPr>
              <a:t>network s</a:t>
            </a:r>
            <a:r>
              <a:rPr dirty="0">
                <a:solidFill>
                  <a:schemeClr val="accent1"/>
                </a:solidFill>
              </a:rPr>
              <a:t>ockets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endParaRPr lang="en-US" dirty="0"/>
          </a:p>
          <a:p>
            <a:pPr lvl="1"/>
            <a:r>
              <a:rPr lang="en-US" dirty="0"/>
              <a:t>Networking service is provided by OS</a:t>
            </a:r>
          </a:p>
          <a:p>
            <a:pPr lvl="1"/>
            <a:r>
              <a:rPr lang="en-US" dirty="0"/>
              <a:t>Two processes </a:t>
            </a:r>
            <a:r>
              <a:rPr lang="en-US"/>
              <a:t>on same/different </a:t>
            </a:r>
            <a:r>
              <a:rPr lang="en-US" dirty="0"/>
              <a:t>machines can talk to </a:t>
            </a:r>
            <a:r>
              <a:rPr lang="en-US"/>
              <a:t>each other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TCP/IP</a:t>
            </a:r>
            <a:r>
              <a:rPr lang="en-US" dirty="0"/>
              <a:t> provides end-to-end communication layer in the Internet</a:t>
            </a:r>
          </a:p>
          <a:p>
            <a:pPr lvl="1"/>
            <a:r>
              <a:rPr lang="en-US" dirty="0"/>
              <a:t>IP: addressing and routing</a:t>
            </a:r>
          </a:p>
          <a:p>
            <a:pPr lvl="1"/>
            <a:r>
              <a:rPr lang="en-US" dirty="0"/>
              <a:t>TCP: other services such as error correction and retransmission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9948" y="9131300"/>
            <a:ext cx="178348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C1DB-CAB5-4B8E-B9FE-BFDCE07B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Protocol Layers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91BF3-CE9A-49FA-A731-615CA7239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Networks are complex, with many “pieces”:</a:t>
            </a:r>
          </a:p>
          <a:p>
            <a:pPr lvl="1"/>
            <a:r>
              <a:rPr lang="en-US" dirty="0"/>
              <a:t>hosts</a:t>
            </a:r>
          </a:p>
          <a:p>
            <a:pPr lvl="1"/>
            <a:r>
              <a:rPr lang="en-US" dirty="0"/>
              <a:t>routers</a:t>
            </a:r>
          </a:p>
          <a:p>
            <a:pPr lvl="1"/>
            <a:r>
              <a:rPr lang="en-US" dirty="0"/>
              <a:t>links of various media</a:t>
            </a:r>
          </a:p>
          <a:p>
            <a:pPr lvl="1"/>
            <a:r>
              <a:rPr lang="en-US" dirty="0"/>
              <a:t>applications</a:t>
            </a:r>
          </a:p>
          <a:p>
            <a:pPr lvl="1"/>
            <a:r>
              <a:rPr lang="en-US" dirty="0"/>
              <a:t>protocols</a:t>
            </a:r>
          </a:p>
          <a:p>
            <a:pPr lvl="1"/>
            <a:r>
              <a:rPr lang="en-US" dirty="0"/>
              <a:t>hardware, software</a:t>
            </a:r>
          </a:p>
          <a:p>
            <a:pPr algn="ctr" eaLnBrk="1" hangingPunct="1">
              <a:buFont typeface="Wingdings" charset="0"/>
              <a:buNone/>
            </a:pPr>
            <a:r>
              <a:rPr lang="en-US" sz="4000" i="1" dirty="0">
                <a:solidFill>
                  <a:srgbClr val="CC0000"/>
                </a:solidFill>
                <a:latin typeface="Gill Sans MT" charset="0"/>
              </a:rPr>
              <a:t>Question:</a:t>
            </a:r>
            <a:r>
              <a:rPr lang="en-US" sz="2800" u="sng" dirty="0">
                <a:solidFill>
                  <a:srgbClr val="FF0000"/>
                </a:solidFill>
                <a:latin typeface="Gill Sans MT" charset="0"/>
              </a:rPr>
              <a:t> </a:t>
            </a:r>
          </a:p>
          <a:p>
            <a:pPr algn="ctr" eaLnBrk="1" hangingPunct="1">
              <a:buFont typeface="Wingdings" charset="0"/>
              <a:buNone/>
            </a:pPr>
            <a:r>
              <a:rPr lang="en-US" dirty="0">
                <a:latin typeface="Gill Sans MT" charset="0"/>
              </a:rPr>
              <a:t>is there any hope of </a:t>
            </a:r>
            <a:r>
              <a:rPr lang="en-US" i="1" dirty="0">
                <a:latin typeface="Gill Sans MT" charset="0"/>
              </a:rPr>
              <a:t>organizing</a:t>
            </a:r>
            <a:r>
              <a:rPr lang="en-US" dirty="0">
                <a:latin typeface="Gill Sans MT" charset="0"/>
              </a:rPr>
              <a:t> structure of network?</a:t>
            </a:r>
          </a:p>
          <a:p>
            <a:pPr algn="ctr" eaLnBrk="1" hangingPunct="1">
              <a:buFont typeface="Wingdings" charset="0"/>
              <a:buNone/>
            </a:pPr>
            <a:r>
              <a:rPr lang="en-US" dirty="0">
                <a:latin typeface="Gill Sans MT" charset="0"/>
              </a:rPr>
              <a:t>…. or at least our discussion of networks?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BC7E0-7432-4E18-83FE-7CBD151D5A4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6469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D9C4-6861-4606-80A5-E79181B6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layering?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50020-C3E4-4DE4-9EF9-447736BA7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Dealing with complex systems!</a:t>
            </a:r>
          </a:p>
          <a:p>
            <a:r>
              <a:rPr lang="en-US" dirty="0"/>
              <a:t>Explicit structure allows identification, relationship of complex system’s pieces</a:t>
            </a:r>
          </a:p>
          <a:p>
            <a:pPr lvl="1"/>
            <a:r>
              <a:rPr lang="en-US" dirty="0"/>
              <a:t>layered reference model for discussion</a:t>
            </a:r>
          </a:p>
          <a:p>
            <a:r>
              <a:rPr lang="en-US" dirty="0"/>
              <a:t>Modularization eases maintenance, updating of system</a:t>
            </a:r>
          </a:p>
          <a:p>
            <a:pPr lvl="1"/>
            <a:r>
              <a:rPr lang="en-US" dirty="0"/>
              <a:t>change of implementation of layer’s service transparent to rest of system</a:t>
            </a:r>
          </a:p>
          <a:p>
            <a:r>
              <a:rPr lang="en-US" dirty="0"/>
              <a:t>layering considered harmful?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8E91BD-E290-4455-889F-9096056129D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666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8E9F-6D91-46CB-9D22-3378CDFF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protocol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B6E3-07B1-4ACB-94FF-D75DA3953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8567" indent="-408567" eaLnBrk="1" hangingPunct="1">
              <a:lnSpc>
                <a:spcPct val="80000"/>
              </a:lnSpc>
            </a:pPr>
            <a:r>
              <a:rPr lang="en-US" i="1" dirty="0">
                <a:solidFill>
                  <a:srgbClr val="CC0000"/>
                </a:solidFill>
                <a:latin typeface="+mn-ea"/>
              </a:rPr>
              <a:t>application:</a:t>
            </a:r>
            <a:r>
              <a:rPr lang="en-US" dirty="0">
                <a:latin typeface="+mn-ea"/>
              </a:rPr>
              <a:t> supporting network applications</a:t>
            </a:r>
          </a:p>
          <a:p>
            <a:pPr marL="970630" lvl="1" indent="-320531" eaLnBrk="1" hangingPunct="1">
              <a:lnSpc>
                <a:spcPct val="80000"/>
              </a:lnSpc>
            </a:pPr>
            <a:r>
              <a:rPr lang="en-US" dirty="0">
                <a:latin typeface="+mn-ea"/>
                <a:cs typeface="Arial" charset="0"/>
              </a:rPr>
              <a:t>FTP, SMTP, HTTP</a:t>
            </a:r>
          </a:p>
          <a:p>
            <a:pPr marL="408567" indent="-408567" eaLnBrk="1" hangingPunct="1">
              <a:lnSpc>
                <a:spcPct val="80000"/>
              </a:lnSpc>
            </a:pPr>
            <a:r>
              <a:rPr lang="en-US" i="1" dirty="0">
                <a:solidFill>
                  <a:srgbClr val="CC0000"/>
                </a:solidFill>
                <a:latin typeface="+mn-ea"/>
              </a:rPr>
              <a:t>transport:</a:t>
            </a:r>
            <a:r>
              <a:rPr lang="en-US" dirty="0">
                <a:latin typeface="+mn-ea"/>
              </a:rPr>
              <a:t> process-process data transfer</a:t>
            </a:r>
          </a:p>
          <a:p>
            <a:pPr marL="970630" lvl="1" indent="-320531" eaLnBrk="1" hangingPunct="1">
              <a:lnSpc>
                <a:spcPct val="80000"/>
              </a:lnSpc>
            </a:pPr>
            <a:r>
              <a:rPr lang="en-US" dirty="0">
                <a:latin typeface="+mn-ea"/>
                <a:cs typeface="Arial" charset="0"/>
              </a:rPr>
              <a:t>TCP, UDP</a:t>
            </a:r>
          </a:p>
          <a:p>
            <a:pPr marL="408567" indent="-408567" eaLnBrk="1" hangingPunct="1">
              <a:lnSpc>
                <a:spcPct val="80000"/>
              </a:lnSpc>
            </a:pPr>
            <a:r>
              <a:rPr lang="en-US" i="1" dirty="0">
                <a:solidFill>
                  <a:srgbClr val="CC0000"/>
                </a:solidFill>
                <a:latin typeface="+mn-ea"/>
              </a:rPr>
              <a:t>network:</a:t>
            </a:r>
            <a:r>
              <a:rPr lang="en-US" dirty="0">
                <a:latin typeface="+mn-ea"/>
              </a:rPr>
              <a:t> routing of datagrams from source </a:t>
            </a:r>
            <a:br>
              <a:rPr lang="en-US" dirty="0">
                <a:latin typeface="+mn-ea"/>
              </a:rPr>
            </a:br>
            <a:r>
              <a:rPr lang="en-US" dirty="0">
                <a:latin typeface="+mn-ea"/>
              </a:rPr>
              <a:t>to destination</a:t>
            </a:r>
          </a:p>
          <a:p>
            <a:pPr marL="970630" lvl="1" indent="-320531" eaLnBrk="1" hangingPunct="1">
              <a:lnSpc>
                <a:spcPct val="80000"/>
              </a:lnSpc>
            </a:pPr>
            <a:r>
              <a:rPr lang="en-US" dirty="0">
                <a:latin typeface="+mn-ea"/>
                <a:cs typeface="Arial" charset="0"/>
              </a:rPr>
              <a:t>IP, routing protocols</a:t>
            </a:r>
          </a:p>
          <a:p>
            <a:pPr marL="408567" indent="-408567" eaLnBrk="1" hangingPunct="1">
              <a:lnSpc>
                <a:spcPct val="80000"/>
              </a:lnSpc>
            </a:pPr>
            <a:r>
              <a:rPr lang="en-US" i="1" dirty="0">
                <a:solidFill>
                  <a:srgbClr val="CC0000"/>
                </a:solidFill>
                <a:latin typeface="+mn-ea"/>
              </a:rPr>
              <a:t>link:</a:t>
            </a:r>
            <a:r>
              <a:rPr lang="en-US" dirty="0">
                <a:latin typeface="+mn-ea"/>
              </a:rPr>
              <a:t> data transfer between neighboring  </a:t>
            </a:r>
            <a:br>
              <a:rPr lang="en-US" dirty="0">
                <a:latin typeface="+mn-ea"/>
              </a:rPr>
            </a:br>
            <a:r>
              <a:rPr lang="en-US" dirty="0">
                <a:latin typeface="+mn-ea"/>
              </a:rPr>
              <a:t>network elements</a:t>
            </a:r>
          </a:p>
          <a:p>
            <a:pPr marL="970630" lvl="1" indent="-320531" eaLnBrk="1" hangingPunct="1">
              <a:lnSpc>
                <a:spcPct val="80000"/>
              </a:lnSpc>
            </a:pPr>
            <a:r>
              <a:rPr lang="en-US" dirty="0">
                <a:latin typeface="+mn-ea"/>
                <a:cs typeface="Arial" charset="0"/>
              </a:rPr>
              <a:t>Ethernet</a:t>
            </a:r>
            <a:r>
              <a:rPr lang="en-US">
                <a:latin typeface="+mn-ea"/>
                <a:cs typeface="Arial" charset="0"/>
              </a:rPr>
              <a:t>, 802.11 </a:t>
            </a:r>
            <a:r>
              <a:rPr lang="en-US" dirty="0">
                <a:latin typeface="+mn-ea"/>
                <a:cs typeface="Arial" charset="0"/>
              </a:rPr>
              <a:t>(</a:t>
            </a:r>
            <a:r>
              <a:rPr lang="en-US" dirty="0" err="1">
                <a:latin typeface="+mn-ea"/>
                <a:cs typeface="Arial" charset="0"/>
              </a:rPr>
              <a:t>WiFi</a:t>
            </a:r>
            <a:r>
              <a:rPr lang="en-US" dirty="0">
                <a:latin typeface="+mn-ea"/>
                <a:cs typeface="Arial" charset="0"/>
              </a:rPr>
              <a:t>), PPP</a:t>
            </a:r>
          </a:p>
          <a:p>
            <a:pPr marL="408567" indent="-408567" eaLnBrk="1" hangingPunct="1">
              <a:lnSpc>
                <a:spcPct val="80000"/>
              </a:lnSpc>
            </a:pPr>
            <a:r>
              <a:rPr lang="en-US" i="1" dirty="0">
                <a:solidFill>
                  <a:srgbClr val="CC0000"/>
                </a:solidFill>
                <a:latin typeface="+mn-ea"/>
              </a:rPr>
              <a:t>physical:</a:t>
            </a:r>
            <a:r>
              <a:rPr lang="en-US" dirty="0">
                <a:latin typeface="+mn-ea"/>
              </a:rPr>
              <a:t> bits </a:t>
            </a:r>
            <a:r>
              <a:rPr lang="ja-JP" altLang="en-US" dirty="0">
                <a:latin typeface="+mn-ea"/>
              </a:rPr>
              <a:t>“</a:t>
            </a:r>
            <a:r>
              <a:rPr lang="en-US" altLang="ja-JP" dirty="0">
                <a:latin typeface="+mn-ea"/>
              </a:rPr>
              <a:t>on the wire</a:t>
            </a:r>
            <a:r>
              <a:rPr lang="ja-JP" altLang="en-US" dirty="0">
                <a:latin typeface="+mn-ea"/>
              </a:rPr>
              <a:t>”</a:t>
            </a:r>
            <a:endParaRPr lang="en-US" altLang="ja-JP" dirty="0">
              <a:latin typeface="+mn-ea"/>
            </a:endParaRPr>
          </a:p>
          <a:p>
            <a:pPr marL="408567" indent="-408567" eaLnBrk="1" hangingPunct="1">
              <a:lnSpc>
                <a:spcPct val="80000"/>
              </a:lnSpc>
            </a:pPr>
            <a:endParaRPr lang="en-US" dirty="0">
              <a:latin typeface="+mn-ea"/>
            </a:endParaRPr>
          </a:p>
          <a:p>
            <a:endParaRPr lang="en-US" dirty="0">
              <a:latin typeface="+mn-ea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5ADC3D-B73E-4B61-8103-A93E3C19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2029" y="2685062"/>
            <a:ext cx="2691271" cy="50212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5AE863-F2BE-4C5B-9A7B-CEF742F5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4952" y="2822787"/>
            <a:ext cx="2691271" cy="50212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1DB04625-3FE1-42FA-9DBB-D62A5FA92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6429" y="2960513"/>
            <a:ext cx="1734134" cy="456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kern="1200" dirty="0">
                <a:solidFill>
                  <a:srgbClr val="000000"/>
                </a:solidFill>
                <a:cs typeface="Arial" charset="0"/>
              </a:rPr>
              <a:t>application</a:t>
            </a: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kern="1200" dirty="0">
              <a:solidFill>
                <a:srgbClr val="000000"/>
              </a:solidFill>
              <a:cs typeface="Arial" charset="0"/>
            </a:endParaRP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kern="1200" dirty="0">
              <a:solidFill>
                <a:srgbClr val="000000"/>
              </a:solidFill>
              <a:cs typeface="Arial" charset="0"/>
            </a:endParaRP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kern="1200" dirty="0">
                <a:solidFill>
                  <a:srgbClr val="000000"/>
                </a:solidFill>
                <a:cs typeface="Arial" charset="0"/>
              </a:rPr>
              <a:t>transport</a:t>
            </a: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kern="1200" dirty="0">
              <a:solidFill>
                <a:srgbClr val="000000"/>
              </a:solidFill>
              <a:cs typeface="Arial" charset="0"/>
            </a:endParaRP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kern="1200" dirty="0">
              <a:solidFill>
                <a:srgbClr val="000000"/>
              </a:solidFill>
              <a:cs typeface="Arial" charset="0"/>
            </a:endParaRP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kern="1200" dirty="0">
                <a:solidFill>
                  <a:srgbClr val="000000"/>
                </a:solidFill>
                <a:cs typeface="Arial" charset="0"/>
              </a:rPr>
              <a:t>network</a:t>
            </a: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kern="1200" dirty="0">
              <a:solidFill>
                <a:srgbClr val="000000"/>
              </a:solidFill>
              <a:cs typeface="Arial" charset="0"/>
            </a:endParaRP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kern="1200" dirty="0">
              <a:solidFill>
                <a:srgbClr val="000000"/>
              </a:solidFill>
              <a:cs typeface="Arial" charset="0"/>
            </a:endParaRP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kern="1200" dirty="0">
                <a:solidFill>
                  <a:srgbClr val="000000"/>
                </a:solidFill>
                <a:cs typeface="Arial" charset="0"/>
              </a:rPr>
              <a:t>link</a:t>
            </a: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kern="1200" dirty="0">
              <a:solidFill>
                <a:srgbClr val="000000"/>
              </a:solidFill>
              <a:cs typeface="Arial" charset="0"/>
            </a:endParaRPr>
          </a:p>
          <a:p>
            <a:pPr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kern="1200" dirty="0">
                <a:solidFill>
                  <a:srgbClr val="000000"/>
                </a:solidFill>
                <a:cs typeface="Arial" charset="0"/>
              </a:rPr>
              <a:t>physical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BCDF91CF-3DB7-4B0D-97B4-2FCDFB579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565921" y="3807178"/>
            <a:ext cx="268224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851C9BD8-1FD1-48B7-B68E-676B459DB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65921" y="4809632"/>
            <a:ext cx="268224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20FE7F83-4ACD-4F03-B8CB-DD60A3F36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9565921" y="5821116"/>
            <a:ext cx="268224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E94D519C-7606-4FC0-95C0-A3E688AE9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9565921" y="6832601"/>
            <a:ext cx="268224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3CBE8F1-8512-4E2F-884A-A15CD6FAE73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937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Freeform 99"/>
          <p:cNvSpPr>
            <a:spLocks/>
          </p:cNvSpPr>
          <p:nvPr/>
        </p:nvSpPr>
        <p:spPr bwMode="auto">
          <a:xfrm>
            <a:off x="9925191" y="5910864"/>
            <a:ext cx="932463" cy="1614312"/>
          </a:xfrm>
          <a:custGeom>
            <a:avLst/>
            <a:gdLst>
              <a:gd name="T0" fmla="*/ 2147483647 w 413"/>
              <a:gd name="T1" fmla="*/ 2147483647 h 715"/>
              <a:gd name="T2" fmla="*/ 2147483647 w 413"/>
              <a:gd name="T3" fmla="*/ 0 h 715"/>
              <a:gd name="T4" fmla="*/ 0 w 413"/>
              <a:gd name="T5" fmla="*/ 2147483647 h 715"/>
              <a:gd name="T6" fmla="*/ 2147483647 w 413"/>
              <a:gd name="T7" fmla="*/ 2147483647 h 715"/>
              <a:gd name="T8" fmla="*/ 2147483647 w 413"/>
              <a:gd name="T9" fmla="*/ 2147483647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19" tIns="65010" rIns="130019" bIns="65010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31074" name="Group 347"/>
          <p:cNvGrpSpPr>
            <a:grpSpLocks/>
          </p:cNvGrpSpPr>
          <p:nvPr/>
        </p:nvGrpSpPr>
        <p:grpSpPr bwMode="auto">
          <a:xfrm>
            <a:off x="10780890" y="6994596"/>
            <a:ext cx="1399822" cy="853440"/>
            <a:chOff x="1871277" y="1576300"/>
            <a:chExt cx="1128371" cy="437861"/>
          </a:xfrm>
        </p:grpSpPr>
        <p:sp>
          <p:nvSpPr>
            <p:cNvPr id="146" name="Oval 145"/>
            <p:cNvSpPr>
              <a:spLocks noChangeArrowheads="1"/>
            </p:cNvSpPr>
            <p:nvPr/>
          </p:nvSpPr>
          <p:spPr bwMode="auto">
            <a:xfrm flipV="1">
              <a:off x="1874917" y="1694453"/>
              <a:ext cx="1124731" cy="319708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400" kern="1200">
                <a:solidFill>
                  <a:srgbClr val="FFFFFF"/>
                </a:solidFill>
                <a:latin typeface="Gill Sans MT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1871277" y="1739629"/>
              <a:ext cx="1128371" cy="1158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400" kern="1200">
                <a:solidFill>
                  <a:srgbClr val="FFFFFF"/>
                </a:solidFill>
                <a:latin typeface="Gill Sans MT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48" name="Oval 147"/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4731" cy="319708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400" kern="1200">
                <a:solidFill>
                  <a:srgbClr val="FFFFFF"/>
                </a:solidFill>
                <a:latin typeface="Gill Sans MT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49" name="Freeform 148"/>
            <p:cNvSpPr/>
            <p:nvPr/>
          </p:nvSpPr>
          <p:spPr bwMode="auto">
            <a:xfrm>
              <a:off x="2158830" y="1673602"/>
              <a:ext cx="549626" cy="16101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400" kern="1200" dirty="0">
                <a:solidFill>
                  <a:srgbClr val="FFFFFF"/>
                </a:solidFill>
                <a:latin typeface="Gill Sans MT"/>
                <a:cs typeface="Arial"/>
              </a:endParaRPr>
            </a:p>
          </p:txBody>
        </p:sp>
        <p:sp>
          <p:nvSpPr>
            <p:cNvPr id="150" name="Freeform 149"/>
            <p:cNvSpPr>
              <a:spLocks/>
            </p:cNvSpPr>
            <p:nvPr/>
          </p:nvSpPr>
          <p:spPr bwMode="auto">
            <a:xfrm>
              <a:off x="2102410" y="1633060"/>
              <a:ext cx="662463" cy="111203"/>
            </a:xfrm>
            <a:custGeom>
              <a:avLst/>
              <a:gdLst>
                <a:gd name="T0" fmla="*/ 0 w 3723451"/>
                <a:gd name="T1" fmla="*/ 3244 h 932950"/>
                <a:gd name="T2" fmla="*/ 20738 w 3723451"/>
                <a:gd name="T3" fmla="*/ 38 h 932950"/>
                <a:gd name="T4" fmla="*/ 58742 w 3723451"/>
                <a:gd name="T5" fmla="*/ 7398 h 932950"/>
                <a:gd name="T6" fmla="*/ 94997 w 3723451"/>
                <a:gd name="T7" fmla="*/ 0 h 932950"/>
                <a:gd name="T8" fmla="*/ 117860 w 3723451"/>
                <a:gd name="T9" fmla="*/ 2944 h 932950"/>
                <a:gd name="T10" fmla="*/ 100850 w 3723451"/>
                <a:gd name="T11" fmla="*/ 6564 h 932950"/>
                <a:gd name="T12" fmla="*/ 95374 w 3723451"/>
                <a:gd name="T13" fmla="*/ 5588 h 932950"/>
                <a:gd name="T14" fmla="*/ 59409 w 3723451"/>
                <a:gd name="T15" fmla="*/ 13259 h 932950"/>
                <a:gd name="T16" fmla="*/ 22525 w 3723451"/>
                <a:gd name="T17" fmla="*/ 5870 h 932950"/>
                <a:gd name="T18" fmla="*/ 16562 w 3723451"/>
                <a:gd name="T19" fmla="*/ 6668 h 932950"/>
                <a:gd name="T20" fmla="*/ 0 w 3723451"/>
                <a:gd name="T21" fmla="*/ 3244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1" name="Freeform 150"/>
            <p:cNvSpPr>
              <a:spLocks/>
            </p:cNvSpPr>
            <p:nvPr/>
          </p:nvSpPr>
          <p:spPr bwMode="auto">
            <a:xfrm>
              <a:off x="2537380" y="1728046"/>
              <a:ext cx="243874" cy="97302"/>
            </a:xfrm>
            <a:custGeom>
              <a:avLst/>
              <a:gdLst>
                <a:gd name="T0" fmla="*/ 0 w 1366596"/>
                <a:gd name="T1" fmla="*/ 0 h 809868"/>
                <a:gd name="T2" fmla="*/ 43553 w 1366596"/>
                <a:gd name="T3" fmla="*/ 9009 h 809868"/>
                <a:gd name="T4" fmla="*/ 27569 w 1366596"/>
                <a:gd name="T5" fmla="*/ 11659 h 809868"/>
                <a:gd name="T6" fmla="*/ 147 w 1366596"/>
                <a:gd name="T7" fmla="*/ 6161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2" name="Freeform 151"/>
            <p:cNvSpPr>
              <a:spLocks/>
            </p:cNvSpPr>
            <p:nvPr/>
          </p:nvSpPr>
          <p:spPr bwMode="auto">
            <a:xfrm>
              <a:off x="2089671" y="1730363"/>
              <a:ext cx="242053" cy="97302"/>
            </a:xfrm>
            <a:custGeom>
              <a:avLst/>
              <a:gdLst>
                <a:gd name="T0" fmla="*/ 42658 w 1348191"/>
                <a:gd name="T1" fmla="*/ 0 h 791462"/>
                <a:gd name="T2" fmla="*/ 43249 w 1348191"/>
                <a:gd name="T3" fmla="*/ 5757 h 791462"/>
                <a:gd name="T4" fmla="*/ 15646 w 1348191"/>
                <a:gd name="T5" fmla="*/ 11930 h 791462"/>
                <a:gd name="T6" fmla="*/ 0 w 1348191"/>
                <a:gd name="T7" fmla="*/ 9225 h 791462"/>
                <a:gd name="T8" fmla="*/ 4265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153" name="Straight Connector 152"/>
            <p:cNvCxnSpPr>
              <a:cxnSpLocks noChangeShapeType="1"/>
              <a:endCxn id="148" idx="2"/>
            </p:cNvCxnSpPr>
            <p:nvPr/>
          </p:nvCxnSpPr>
          <p:spPr bwMode="auto">
            <a:xfrm flipH="1" flipV="1">
              <a:off x="1871277" y="1737313"/>
              <a:ext cx="3640" cy="12278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54" name="Straight Connector 153"/>
            <p:cNvCxnSpPr>
              <a:cxnSpLocks noChangeShapeType="1"/>
            </p:cNvCxnSpPr>
            <p:nvPr/>
          </p:nvCxnSpPr>
          <p:spPr bwMode="auto">
            <a:xfrm flipH="1" flipV="1">
              <a:off x="2996008" y="1734996"/>
              <a:ext cx="3640" cy="12278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31111" name="Rectangle 16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800" dirty="0">
                <a:solidFill>
                  <a:schemeClr val="accent1"/>
                </a:solidFill>
                <a:latin typeface="Gill Sans MT" charset="0"/>
              </a:rPr>
              <a:t>Encapsulation</a:t>
            </a:r>
          </a:p>
        </p:txBody>
      </p:sp>
      <p:sp>
        <p:nvSpPr>
          <p:cNvPr id="131077" name="Freeform 3"/>
          <p:cNvSpPr>
            <a:spLocks/>
          </p:cNvSpPr>
          <p:nvPr/>
        </p:nvSpPr>
        <p:spPr bwMode="auto">
          <a:xfrm>
            <a:off x="10139687" y="3194758"/>
            <a:ext cx="907627" cy="1212426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19" tIns="65010" rIns="130019" bIns="65010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31078" name="Group 180"/>
          <p:cNvGrpSpPr>
            <a:grpSpLocks/>
          </p:cNvGrpSpPr>
          <p:nvPr/>
        </p:nvGrpSpPr>
        <p:grpSpPr bwMode="auto">
          <a:xfrm>
            <a:off x="10424161" y="3917245"/>
            <a:ext cx="1496906" cy="505742"/>
            <a:chOff x="4410" y="1365"/>
            <a:chExt cx="663" cy="224"/>
          </a:xfrm>
        </p:grpSpPr>
        <p:sp>
          <p:nvSpPr>
            <p:cNvPr id="131205" name="Rectangle 181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206" name="AutoShape 182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207" name="Freeform 183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208" name="Freeform 184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3688 h 63"/>
                <a:gd name="T2" fmla="*/ 868488 w 280"/>
                <a:gd name="T3" fmla="*/ 3587 h 63"/>
                <a:gd name="T4" fmla="*/ 5125560 w 280"/>
                <a:gd name="T5" fmla="*/ 0 h 63"/>
                <a:gd name="T6" fmla="*/ 6543881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209" name="Freeform 185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31079" name="Freeform 2"/>
          <p:cNvSpPr>
            <a:spLocks/>
          </p:cNvSpPr>
          <p:nvPr/>
        </p:nvSpPr>
        <p:spPr bwMode="auto">
          <a:xfrm>
            <a:off x="5429963" y="2059094"/>
            <a:ext cx="5757333" cy="5452534"/>
          </a:xfrm>
          <a:custGeom>
            <a:avLst/>
            <a:gdLst>
              <a:gd name="T0" fmla="*/ 2147483647 w 2550"/>
              <a:gd name="T1" fmla="*/ 0 h 2415"/>
              <a:gd name="T2" fmla="*/ 2147483647 w 2550"/>
              <a:gd name="T3" fmla="*/ 0 h 2415"/>
              <a:gd name="T4" fmla="*/ 2147483647 w 2550"/>
              <a:gd name="T5" fmla="*/ 2147483647 h 2415"/>
              <a:gd name="T6" fmla="*/ 0 w 2550"/>
              <a:gd name="T7" fmla="*/ 2147483647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130019" tIns="65010" rIns="130019" bIns="65010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3863063" y="318348"/>
            <a:ext cx="1262525" cy="50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i="1" kern="1200">
                <a:solidFill>
                  <a:srgbClr val="000099"/>
                </a:solidFill>
                <a:cs typeface="Arial" charset="0"/>
              </a:rPr>
              <a:t>source</a:t>
            </a:r>
          </a:p>
        </p:txBody>
      </p:sp>
      <p:sp>
        <p:nvSpPr>
          <p:cNvPr id="131081" name="Freeform 10"/>
          <p:cNvSpPr>
            <a:spLocks/>
          </p:cNvSpPr>
          <p:nvPr/>
        </p:nvSpPr>
        <p:spPr bwMode="auto">
          <a:xfrm>
            <a:off x="5502205" y="925695"/>
            <a:ext cx="512515" cy="2244231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19" tIns="65010" rIns="130019" bIns="65010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082" name="Rectangle 23"/>
          <p:cNvSpPr>
            <a:spLocks noChangeArrowheads="1"/>
          </p:cNvSpPr>
          <p:nvPr/>
        </p:nvSpPr>
        <p:spPr bwMode="auto">
          <a:xfrm>
            <a:off x="3761458" y="939236"/>
            <a:ext cx="1844605" cy="2199076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1083" name="Rectangle 24"/>
          <p:cNvSpPr>
            <a:spLocks noChangeArrowheads="1"/>
          </p:cNvSpPr>
          <p:nvPr/>
        </p:nvSpPr>
        <p:spPr bwMode="auto">
          <a:xfrm>
            <a:off x="3693725" y="1040836"/>
            <a:ext cx="1810738" cy="218552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1084" name="Line 25"/>
          <p:cNvSpPr>
            <a:spLocks noChangeShapeType="1"/>
          </p:cNvSpPr>
          <p:nvPr/>
        </p:nvSpPr>
        <p:spPr bwMode="auto">
          <a:xfrm>
            <a:off x="3693726" y="1492392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085" name="Text Box 26"/>
          <p:cNvSpPr txBox="1">
            <a:spLocks noChangeArrowheads="1"/>
          </p:cNvSpPr>
          <p:nvPr/>
        </p:nvSpPr>
        <p:spPr bwMode="auto">
          <a:xfrm>
            <a:off x="3632767" y="993427"/>
            <a:ext cx="1873956" cy="2325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application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transport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network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link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physical</a:t>
            </a:r>
          </a:p>
        </p:txBody>
      </p:sp>
      <p:sp>
        <p:nvSpPr>
          <p:cNvPr id="131086" name="Line 27"/>
          <p:cNvSpPr>
            <a:spLocks noChangeShapeType="1"/>
          </p:cNvSpPr>
          <p:nvPr/>
        </p:nvSpPr>
        <p:spPr bwMode="auto">
          <a:xfrm>
            <a:off x="3705014" y="1948463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087" name="Line 28"/>
          <p:cNvSpPr>
            <a:spLocks noChangeShapeType="1"/>
          </p:cNvSpPr>
          <p:nvPr/>
        </p:nvSpPr>
        <p:spPr bwMode="auto">
          <a:xfrm>
            <a:off x="3711788" y="2348089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088" name="Line 29"/>
          <p:cNvSpPr>
            <a:spLocks noChangeShapeType="1"/>
          </p:cNvSpPr>
          <p:nvPr/>
        </p:nvSpPr>
        <p:spPr bwMode="auto">
          <a:xfrm>
            <a:off x="3711788" y="2740944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1733973" y="1946205"/>
            <a:ext cx="1718170" cy="431236"/>
            <a:chOff x="501" y="1990"/>
            <a:chExt cx="761" cy="191"/>
          </a:xfrm>
        </p:grpSpPr>
        <p:sp>
          <p:nvSpPr>
            <p:cNvPr id="131199" name="Rectangle 40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200" name="Rectangle 41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t</a:t>
              </a:r>
            </a:p>
          </p:txBody>
        </p:sp>
        <p:sp>
          <p:nvSpPr>
            <p:cNvPr id="131201" name="Rectangle 42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n</a:t>
              </a:r>
            </a:p>
          </p:txBody>
        </p:sp>
        <p:sp>
          <p:nvSpPr>
            <p:cNvPr id="131202" name="Rectangle 43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M</a:t>
              </a:r>
            </a:p>
          </p:txBody>
        </p:sp>
        <p:sp>
          <p:nvSpPr>
            <p:cNvPr id="131203" name="Line 44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204" name="Line 45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562194" y="1417886"/>
            <a:ext cx="1393907" cy="485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300" kern="1200">
                <a:solidFill>
                  <a:srgbClr val="CC0000"/>
                </a:solidFill>
                <a:cs typeface="Arial" charset="0"/>
              </a:rPr>
              <a:t>segment</a:t>
            </a:r>
          </a:p>
        </p:txBody>
      </p:sp>
      <p:grpSp>
        <p:nvGrpSpPr>
          <p:cNvPr id="6" name="Group 178"/>
          <p:cNvGrpSpPr>
            <a:grpSpLocks/>
          </p:cNvGrpSpPr>
          <p:nvPr/>
        </p:nvGrpSpPr>
        <p:grpSpPr bwMode="auto">
          <a:xfrm>
            <a:off x="2181015" y="1469814"/>
            <a:ext cx="428978" cy="415431"/>
            <a:chOff x="1962" y="2058"/>
            <a:chExt cx="190" cy="184"/>
          </a:xfrm>
        </p:grpSpPr>
        <p:sp>
          <p:nvSpPr>
            <p:cNvPr id="131197" name="Rectangle 47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98" name="Rectangle 48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t</a:t>
              </a:r>
            </a:p>
          </p:txBody>
        </p:sp>
      </p:grp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277709" y="1901049"/>
            <a:ext cx="1508690" cy="485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300" kern="1200">
                <a:solidFill>
                  <a:srgbClr val="CC0000"/>
                </a:solidFill>
                <a:cs typeface="Arial" charset="0"/>
              </a:rPr>
              <a:t>datagram</a:t>
            </a:r>
          </a:p>
        </p:txBody>
      </p:sp>
      <p:sp>
        <p:nvSpPr>
          <p:cNvPr id="131093" name="Text Box 54"/>
          <p:cNvSpPr txBox="1">
            <a:spLocks noChangeArrowheads="1"/>
          </p:cNvSpPr>
          <p:nvPr/>
        </p:nvSpPr>
        <p:spPr bwMode="auto">
          <a:xfrm>
            <a:off x="2201341" y="5913124"/>
            <a:ext cx="2115975" cy="5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800" i="1" kern="1200">
                <a:solidFill>
                  <a:srgbClr val="000099"/>
                </a:solidFill>
                <a:cs typeface="Arial" charset="0"/>
              </a:rPr>
              <a:t>destination</a:t>
            </a:r>
          </a:p>
        </p:txBody>
      </p:sp>
      <p:sp>
        <p:nvSpPr>
          <p:cNvPr id="131094" name="Freeform 56"/>
          <p:cNvSpPr>
            <a:spLocks/>
          </p:cNvSpPr>
          <p:nvPr/>
        </p:nvSpPr>
        <p:spPr bwMode="auto">
          <a:xfrm>
            <a:off x="4237851" y="6457251"/>
            <a:ext cx="512515" cy="2244231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19" tIns="65010" rIns="130019" bIns="65010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095" name="Rectangle 57"/>
          <p:cNvSpPr>
            <a:spLocks noChangeArrowheads="1"/>
          </p:cNvSpPr>
          <p:nvPr/>
        </p:nvSpPr>
        <p:spPr bwMode="auto">
          <a:xfrm>
            <a:off x="2497102" y="6466276"/>
            <a:ext cx="1844605" cy="2199076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1096" name="Rectangle 58"/>
          <p:cNvSpPr>
            <a:spLocks noChangeArrowheads="1"/>
          </p:cNvSpPr>
          <p:nvPr/>
        </p:nvSpPr>
        <p:spPr bwMode="auto">
          <a:xfrm>
            <a:off x="2429369" y="6567876"/>
            <a:ext cx="1810738" cy="218552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1097" name="Line 59"/>
          <p:cNvSpPr>
            <a:spLocks noChangeShapeType="1"/>
          </p:cNvSpPr>
          <p:nvPr/>
        </p:nvSpPr>
        <p:spPr bwMode="auto">
          <a:xfrm>
            <a:off x="2429369" y="7019432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098" name="Text Box 60"/>
          <p:cNvSpPr txBox="1">
            <a:spLocks noChangeArrowheads="1"/>
          </p:cNvSpPr>
          <p:nvPr/>
        </p:nvSpPr>
        <p:spPr bwMode="auto">
          <a:xfrm>
            <a:off x="2368410" y="6520467"/>
            <a:ext cx="1873956" cy="2325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application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transport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network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link</a:t>
            </a:r>
          </a:p>
          <a:p>
            <a:pPr defTabSz="1300259" eaLnBrk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  <a:cs typeface="Arial" charset="0"/>
              </a:rPr>
              <a:t>physical</a:t>
            </a:r>
          </a:p>
        </p:txBody>
      </p:sp>
      <p:sp>
        <p:nvSpPr>
          <p:cNvPr id="131099" name="Line 61"/>
          <p:cNvSpPr>
            <a:spLocks noChangeShapeType="1"/>
          </p:cNvSpPr>
          <p:nvPr/>
        </p:nvSpPr>
        <p:spPr bwMode="auto">
          <a:xfrm>
            <a:off x="2440660" y="7475503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100" name="Line 62"/>
          <p:cNvSpPr>
            <a:spLocks noChangeShapeType="1"/>
          </p:cNvSpPr>
          <p:nvPr/>
        </p:nvSpPr>
        <p:spPr bwMode="auto">
          <a:xfrm>
            <a:off x="2447431" y="7875129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1101" name="Line 63"/>
          <p:cNvSpPr>
            <a:spLocks noChangeShapeType="1"/>
          </p:cNvSpPr>
          <p:nvPr/>
        </p:nvSpPr>
        <p:spPr bwMode="auto">
          <a:xfrm>
            <a:off x="2447431" y="8267984"/>
            <a:ext cx="1797191" cy="4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16748" y="6556587"/>
            <a:ext cx="2104249" cy="1736232"/>
            <a:chOff x="152400" y="4610100"/>
            <a:chExt cx="1479550" cy="1220788"/>
          </a:xfrm>
        </p:grpSpPr>
        <p:grpSp>
          <p:nvGrpSpPr>
            <p:cNvPr id="131173" name="Group 64"/>
            <p:cNvGrpSpPr>
              <a:grpSpLocks/>
            </p:cNvGrpSpPr>
            <p:nvPr/>
          </p:nvGrpSpPr>
          <p:grpSpPr bwMode="auto">
            <a:xfrm>
              <a:off x="152400" y="5527675"/>
              <a:ext cx="1479550" cy="303213"/>
              <a:chOff x="332" y="2224"/>
              <a:chExt cx="932" cy="191"/>
            </a:xfrm>
          </p:grpSpPr>
          <p:sp>
            <p:nvSpPr>
              <p:cNvPr id="131189" name="Rectangle 65"/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90" name="Rectangle 66"/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131191" name="Rectangle 67"/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n</a:t>
                </a:r>
              </a:p>
            </p:txBody>
          </p:sp>
          <p:sp>
            <p:nvSpPr>
              <p:cNvPr id="131192" name="Rectangle 68"/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l</a:t>
                </a:r>
              </a:p>
            </p:txBody>
          </p:sp>
          <p:sp>
            <p:nvSpPr>
              <p:cNvPr id="131193" name="Rectangle 69"/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M</a:t>
                </a:r>
              </a:p>
            </p:txBody>
          </p:sp>
          <p:sp>
            <p:nvSpPr>
              <p:cNvPr id="131194" name="Line 70"/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1195" name="Line 71"/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1196" name="Line 72"/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31174" name="Group 73"/>
            <p:cNvGrpSpPr>
              <a:grpSpLocks/>
            </p:cNvGrpSpPr>
            <p:nvPr/>
          </p:nvGrpSpPr>
          <p:grpSpPr bwMode="auto">
            <a:xfrm>
              <a:off x="420688" y="5229225"/>
              <a:ext cx="1208087" cy="303213"/>
              <a:chOff x="501" y="1990"/>
              <a:chExt cx="761" cy="191"/>
            </a:xfrm>
          </p:grpSpPr>
          <p:sp>
            <p:nvSpPr>
              <p:cNvPr id="131183" name="Rectangle 74"/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84" name="Rectangle 75"/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131185" name="Rectangle 76"/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n</a:t>
                </a:r>
              </a:p>
            </p:txBody>
          </p:sp>
          <p:sp>
            <p:nvSpPr>
              <p:cNvPr id="131186" name="Rectangle 77"/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M</a:t>
                </a:r>
              </a:p>
            </p:txBody>
          </p:sp>
          <p:sp>
            <p:nvSpPr>
              <p:cNvPr id="131187" name="Line 78"/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1188" name="Line 79"/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31175" name="Group 80"/>
            <p:cNvGrpSpPr>
              <a:grpSpLocks/>
            </p:cNvGrpSpPr>
            <p:nvPr/>
          </p:nvGrpSpPr>
          <p:grpSpPr bwMode="auto">
            <a:xfrm>
              <a:off x="723900" y="4921250"/>
              <a:ext cx="890588" cy="303213"/>
              <a:chOff x="645" y="1734"/>
              <a:chExt cx="561" cy="191"/>
            </a:xfrm>
          </p:grpSpPr>
          <p:sp>
            <p:nvSpPr>
              <p:cNvPr id="131179" name="Rectangle 81"/>
              <p:cNvSpPr>
                <a:spLocks noChangeArrowheads="1"/>
              </p:cNvSpPr>
              <p:nvPr/>
            </p:nvSpPr>
            <p:spPr bwMode="auto">
              <a:xfrm>
                <a:off x="645" y="1751"/>
                <a:ext cx="4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80" name="Rectangle 82"/>
              <p:cNvSpPr>
                <a:spLocks noChangeArrowheads="1"/>
              </p:cNvSpPr>
              <p:nvPr/>
            </p:nvSpPr>
            <p:spPr bwMode="auto">
              <a:xfrm>
                <a:off x="648" y="173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131181" name="Rectangle 83"/>
              <p:cNvSpPr>
                <a:spLocks noChangeArrowheads="1"/>
              </p:cNvSpPr>
              <p:nvPr/>
            </p:nvSpPr>
            <p:spPr bwMode="auto">
              <a:xfrm>
                <a:off x="778" y="173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M</a:t>
                </a:r>
              </a:p>
            </p:txBody>
          </p:sp>
          <p:sp>
            <p:nvSpPr>
              <p:cNvPr id="131182" name="Line 84"/>
              <p:cNvSpPr>
                <a:spLocks noChangeShapeType="1"/>
              </p:cNvSpPr>
              <p:nvPr/>
            </p:nvSpPr>
            <p:spPr bwMode="auto">
              <a:xfrm>
                <a:off x="824" y="175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31176" name="Group 85"/>
            <p:cNvGrpSpPr>
              <a:grpSpLocks/>
            </p:cNvGrpSpPr>
            <p:nvPr/>
          </p:nvGrpSpPr>
          <p:grpSpPr bwMode="auto">
            <a:xfrm>
              <a:off x="930275" y="4610100"/>
              <a:ext cx="679450" cy="301625"/>
              <a:chOff x="780" y="1553"/>
              <a:chExt cx="428" cy="190"/>
            </a:xfrm>
          </p:grpSpPr>
          <p:sp>
            <p:nvSpPr>
              <p:cNvPr id="131177" name="Rectangle 86"/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78" name="Rectangle 87"/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M</a:t>
                </a:r>
              </a:p>
            </p:txBody>
          </p:sp>
        </p:grpSp>
      </p:grpSp>
      <p:grpSp>
        <p:nvGrpSpPr>
          <p:cNvPr id="131103" name="Group 88"/>
          <p:cNvGrpSpPr>
            <a:grpSpLocks/>
          </p:cNvGrpSpPr>
          <p:nvPr/>
        </p:nvGrpSpPr>
        <p:grpSpPr bwMode="auto">
          <a:xfrm>
            <a:off x="8042205" y="5922152"/>
            <a:ext cx="1973298" cy="1472071"/>
            <a:chOff x="3601" y="168"/>
            <a:chExt cx="874" cy="652"/>
          </a:xfrm>
        </p:grpSpPr>
        <p:sp>
          <p:nvSpPr>
            <p:cNvPr id="131168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69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70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171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1300259" eaLnBrk="0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600" kern="1200">
                  <a:solidFill>
                    <a:srgbClr val="000000"/>
                  </a:solidFill>
                  <a:cs typeface="Arial" charset="0"/>
                </a:rPr>
                <a:t>network</a:t>
              </a:r>
            </a:p>
            <a:p>
              <a:pPr defTabSz="1300259" eaLnBrk="0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600" kern="1200">
                  <a:solidFill>
                    <a:srgbClr val="000000"/>
                  </a:solidFill>
                  <a:cs typeface="Arial" charset="0"/>
                </a:rPr>
                <a:t>link</a:t>
              </a:r>
            </a:p>
            <a:p>
              <a:pPr defTabSz="1300259" eaLnBrk="0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600" kern="1200">
                  <a:solidFill>
                    <a:srgbClr val="000000"/>
                  </a:solidFill>
                  <a:cs typeface="Arial" charset="0"/>
                </a:rPr>
                <a:t>physical</a:t>
              </a:r>
            </a:p>
          </p:txBody>
        </p:sp>
        <p:sp>
          <p:nvSpPr>
            <p:cNvPr id="131172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31104" name="Group 94"/>
          <p:cNvGrpSpPr>
            <a:grpSpLocks/>
          </p:cNvGrpSpPr>
          <p:nvPr/>
        </p:nvGrpSpPr>
        <p:grpSpPr bwMode="auto">
          <a:xfrm>
            <a:off x="8279272" y="3230887"/>
            <a:ext cx="1973298" cy="1043093"/>
            <a:chOff x="4696" y="597"/>
            <a:chExt cx="874" cy="462"/>
          </a:xfrm>
        </p:grpSpPr>
        <p:sp>
          <p:nvSpPr>
            <p:cNvPr id="131164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65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66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167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1300259" eaLnBrk="0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600" kern="1200">
                  <a:solidFill>
                    <a:srgbClr val="000000"/>
                  </a:solidFill>
                  <a:cs typeface="Arial" charset="0"/>
                </a:rPr>
                <a:t>link</a:t>
              </a:r>
            </a:p>
            <a:p>
              <a:pPr defTabSz="1300259" eaLnBrk="0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600" kern="1200">
                  <a:solidFill>
                    <a:srgbClr val="000000"/>
                  </a:solidFill>
                  <a:cs typeface="Arial" charset="0"/>
                </a:rPr>
                <a:t>physical</a:t>
              </a:r>
            </a:p>
          </p:txBody>
        </p:sp>
      </p:grpSp>
      <p:sp>
        <p:nvSpPr>
          <p:cNvPr id="131105" name="Freeform 114"/>
          <p:cNvSpPr>
            <a:spLocks/>
          </p:cNvSpPr>
          <p:nvPr/>
        </p:nvSpPr>
        <p:spPr bwMode="auto">
          <a:xfrm>
            <a:off x="2600960" y="758613"/>
            <a:ext cx="7486791" cy="7814170"/>
          </a:xfrm>
          <a:custGeom>
            <a:avLst/>
            <a:gdLst>
              <a:gd name="T0" fmla="*/ 2147483647 w 3316"/>
              <a:gd name="T1" fmla="*/ 0 h 3461"/>
              <a:gd name="T2" fmla="*/ 2147483647 w 3316"/>
              <a:gd name="T3" fmla="*/ 2147483647 h 3461"/>
              <a:gd name="T4" fmla="*/ 2147483647 w 3316"/>
              <a:gd name="T5" fmla="*/ 2147483647 h 3461"/>
              <a:gd name="T6" fmla="*/ 2147483647 w 3316"/>
              <a:gd name="T7" fmla="*/ 2147483647 h 3461"/>
              <a:gd name="T8" fmla="*/ 2147483647 w 3316"/>
              <a:gd name="T9" fmla="*/ 2147483647 h 3461"/>
              <a:gd name="T10" fmla="*/ 2147483647 w 3316"/>
              <a:gd name="T11" fmla="*/ 2147483647 h 3461"/>
              <a:gd name="T12" fmla="*/ 2147483647 w 3316"/>
              <a:gd name="T13" fmla="*/ 2147483647 h 3461"/>
              <a:gd name="T14" fmla="*/ 2147483647 w 3316"/>
              <a:gd name="T15" fmla="*/ 2147483647 h 3461"/>
              <a:gd name="T16" fmla="*/ 2147483647 w 3316"/>
              <a:gd name="T17" fmla="*/ 2147483647 h 3461"/>
              <a:gd name="T18" fmla="*/ 2147483647 w 3316"/>
              <a:gd name="T19" fmla="*/ 2147483647 h 3461"/>
              <a:gd name="T20" fmla="*/ 2147483647 w 3316"/>
              <a:gd name="T21" fmla="*/ 2147483647 h 3461"/>
              <a:gd name="T22" fmla="*/ 0 w 3316"/>
              <a:gd name="T23" fmla="*/ 2147483647 h 3461"/>
              <a:gd name="T24" fmla="*/ 0 w 3316"/>
              <a:gd name="T25" fmla="*/ 2147483647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30019" tIns="65010" rIns="130019" bIns="65010" anchor="ctr"/>
          <a:lstStyle/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endParaRPr lang="en-US" sz="34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6028268" y="6030525"/>
            <a:ext cx="2104249" cy="866987"/>
            <a:chOff x="4238625" y="4240213"/>
            <a:chExt cx="1479550" cy="609600"/>
          </a:xfrm>
        </p:grpSpPr>
        <p:grpSp>
          <p:nvGrpSpPr>
            <p:cNvPr id="131148" name="Group 115"/>
            <p:cNvGrpSpPr>
              <a:grpSpLocks/>
            </p:cNvGrpSpPr>
            <p:nvPr/>
          </p:nvGrpSpPr>
          <p:grpSpPr bwMode="auto">
            <a:xfrm>
              <a:off x="4238625" y="4546600"/>
              <a:ext cx="1479550" cy="303213"/>
              <a:chOff x="332" y="2224"/>
              <a:chExt cx="932" cy="191"/>
            </a:xfrm>
          </p:grpSpPr>
          <p:sp>
            <p:nvSpPr>
              <p:cNvPr id="131156" name="Rectangle 116"/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57" name="Rectangle 117"/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131158" name="Rectangle 118"/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n</a:t>
                </a:r>
              </a:p>
            </p:txBody>
          </p:sp>
          <p:sp>
            <p:nvSpPr>
              <p:cNvPr id="131159" name="Rectangle 119"/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l</a:t>
                </a:r>
              </a:p>
            </p:txBody>
          </p:sp>
          <p:sp>
            <p:nvSpPr>
              <p:cNvPr id="131160" name="Rectangle 120"/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M</a:t>
                </a:r>
              </a:p>
            </p:txBody>
          </p:sp>
          <p:sp>
            <p:nvSpPr>
              <p:cNvPr id="131161" name="Line 121"/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1162" name="Line 122"/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1163" name="Line 123"/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31149" name="Group 124"/>
            <p:cNvGrpSpPr>
              <a:grpSpLocks/>
            </p:cNvGrpSpPr>
            <p:nvPr/>
          </p:nvGrpSpPr>
          <p:grpSpPr bwMode="auto">
            <a:xfrm>
              <a:off x="4497388" y="4240213"/>
              <a:ext cx="1208087" cy="303212"/>
              <a:chOff x="501" y="1990"/>
              <a:chExt cx="761" cy="191"/>
            </a:xfrm>
          </p:grpSpPr>
          <p:sp>
            <p:nvSpPr>
              <p:cNvPr id="131150" name="Rectangle 125"/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51" name="Rectangle 126"/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t</a:t>
                </a:r>
              </a:p>
            </p:txBody>
          </p:sp>
          <p:sp>
            <p:nvSpPr>
              <p:cNvPr id="131152" name="Rectangle 127"/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n</a:t>
                </a:r>
              </a:p>
            </p:txBody>
          </p:sp>
          <p:sp>
            <p:nvSpPr>
              <p:cNvPr id="131153" name="Rectangle 128"/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M</a:t>
                </a:r>
              </a:p>
            </p:txBody>
          </p:sp>
          <p:sp>
            <p:nvSpPr>
              <p:cNvPr id="131154" name="Line 129"/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1155" name="Line 130"/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5" name="Group 140"/>
          <p:cNvGrpSpPr>
            <a:grpSpLocks/>
          </p:cNvGrpSpPr>
          <p:nvPr/>
        </p:nvGrpSpPr>
        <p:grpSpPr bwMode="auto">
          <a:xfrm>
            <a:off x="10338367" y="6552073"/>
            <a:ext cx="1718168" cy="431236"/>
            <a:chOff x="501" y="1990"/>
            <a:chExt cx="761" cy="191"/>
          </a:xfrm>
        </p:grpSpPr>
        <p:sp>
          <p:nvSpPr>
            <p:cNvPr id="131142" name="Rectangle 141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43" name="Rectangle 142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t</a:t>
              </a:r>
            </a:p>
          </p:txBody>
        </p:sp>
        <p:sp>
          <p:nvSpPr>
            <p:cNvPr id="131144" name="Rectangle 143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n</a:t>
              </a:r>
            </a:p>
          </p:txBody>
        </p:sp>
        <p:sp>
          <p:nvSpPr>
            <p:cNvPr id="131145" name="Rectangle 144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M</a:t>
              </a:r>
            </a:p>
          </p:txBody>
        </p:sp>
        <p:sp>
          <p:nvSpPr>
            <p:cNvPr id="131146" name="Line 145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147" name="Line 146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6" name="Group 156"/>
          <p:cNvGrpSpPr>
            <a:grpSpLocks/>
          </p:cNvGrpSpPr>
          <p:nvPr/>
        </p:nvGrpSpPr>
        <p:grpSpPr bwMode="auto">
          <a:xfrm>
            <a:off x="1334347" y="2368411"/>
            <a:ext cx="2104249" cy="431235"/>
            <a:chOff x="332" y="2224"/>
            <a:chExt cx="932" cy="191"/>
          </a:xfrm>
        </p:grpSpPr>
        <p:sp>
          <p:nvSpPr>
            <p:cNvPr id="131134" name="Rectangle 157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35" name="Rectangle 158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t</a:t>
              </a:r>
            </a:p>
          </p:txBody>
        </p:sp>
        <p:sp>
          <p:nvSpPr>
            <p:cNvPr id="131136" name="Rectangle 159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n</a:t>
              </a:r>
            </a:p>
          </p:txBody>
        </p:sp>
        <p:sp>
          <p:nvSpPr>
            <p:cNvPr id="131137" name="Rectangle 160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l</a:t>
              </a:r>
            </a:p>
          </p:txBody>
        </p:sp>
        <p:sp>
          <p:nvSpPr>
            <p:cNvPr id="131138" name="Rectangle 161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M</a:t>
              </a:r>
            </a:p>
          </p:txBody>
        </p:sp>
        <p:sp>
          <p:nvSpPr>
            <p:cNvPr id="131139" name="Line 162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140" name="Line 163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141" name="Line 164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31109" name="Text Box 166"/>
          <p:cNvSpPr txBox="1">
            <a:spLocks noChangeArrowheads="1"/>
          </p:cNvSpPr>
          <p:nvPr/>
        </p:nvSpPr>
        <p:spPr bwMode="auto">
          <a:xfrm>
            <a:off x="11266312" y="7696767"/>
            <a:ext cx="1225948" cy="5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600" b="1" kern="1200">
                <a:solidFill>
                  <a:srgbClr val="000000"/>
                </a:solidFill>
                <a:cs typeface="Arial" charset="0"/>
              </a:rPr>
              <a:t>router</a:t>
            </a:r>
          </a:p>
        </p:txBody>
      </p:sp>
      <p:sp>
        <p:nvSpPr>
          <p:cNvPr id="131110" name="Text Box 167"/>
          <p:cNvSpPr txBox="1">
            <a:spLocks noChangeArrowheads="1"/>
          </p:cNvSpPr>
          <p:nvPr/>
        </p:nvSpPr>
        <p:spPr bwMode="auto">
          <a:xfrm>
            <a:off x="11286634" y="4407184"/>
            <a:ext cx="1300188" cy="5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600" b="1" kern="1200">
                <a:solidFill>
                  <a:srgbClr val="000000"/>
                </a:solidFill>
                <a:cs typeface="Arial" charset="0"/>
              </a:rPr>
              <a:t>switch</a:t>
            </a:r>
          </a:p>
        </p:txBody>
      </p:sp>
      <p:sp>
        <p:nvSpPr>
          <p:cNvPr id="112814" name="Text Box 174"/>
          <p:cNvSpPr txBox="1">
            <a:spLocks noChangeArrowheads="1"/>
          </p:cNvSpPr>
          <p:nvPr/>
        </p:nvSpPr>
        <p:spPr bwMode="auto">
          <a:xfrm>
            <a:off x="1000196" y="984391"/>
            <a:ext cx="1459436" cy="485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300" kern="1200">
                <a:solidFill>
                  <a:srgbClr val="CC0000"/>
                </a:solidFill>
                <a:cs typeface="Arial" charset="0"/>
              </a:rPr>
              <a:t>message</a:t>
            </a:r>
          </a:p>
        </p:txBody>
      </p:sp>
      <p:grpSp>
        <p:nvGrpSpPr>
          <p:cNvPr id="17" name="Group 175"/>
          <p:cNvGrpSpPr>
            <a:grpSpLocks/>
          </p:cNvGrpSpPr>
          <p:nvPr/>
        </p:nvGrpSpPr>
        <p:grpSpPr bwMode="auto">
          <a:xfrm>
            <a:off x="2508393" y="1022776"/>
            <a:ext cx="966329" cy="428978"/>
            <a:chOff x="780" y="1553"/>
            <a:chExt cx="428" cy="190"/>
          </a:xfrm>
        </p:grpSpPr>
        <p:sp>
          <p:nvSpPr>
            <p:cNvPr id="131132" name="Rectangle 17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33" name="Rectangle 17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M</a:t>
              </a:r>
            </a:p>
          </p:txBody>
        </p:sp>
      </p:grpSp>
      <p:grpSp>
        <p:nvGrpSpPr>
          <p:cNvPr id="18" name="Group 185"/>
          <p:cNvGrpSpPr>
            <a:grpSpLocks/>
          </p:cNvGrpSpPr>
          <p:nvPr/>
        </p:nvGrpSpPr>
        <p:grpSpPr bwMode="auto">
          <a:xfrm>
            <a:off x="2174247" y="1478847"/>
            <a:ext cx="1284675" cy="428978"/>
            <a:chOff x="1851" y="2046"/>
            <a:chExt cx="569" cy="190"/>
          </a:xfrm>
        </p:grpSpPr>
        <p:grpSp>
          <p:nvGrpSpPr>
            <p:cNvPr id="131126" name="Group 179"/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131130" name="Rectangle 180"/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31" name="Rectangle 181"/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H</a:t>
                </a:r>
                <a:r>
                  <a:rPr lang="en-US" sz="2600" kern="1200" baseline="-25000">
                    <a:latin typeface="Arial" charset="0"/>
                    <a:ea typeface="ＭＳ Ｐゴシック" charset="0"/>
                    <a:cs typeface="Arial" charset="0"/>
                  </a:rPr>
                  <a:t>t</a:t>
                </a:r>
              </a:p>
            </p:txBody>
          </p:sp>
        </p:grpSp>
        <p:grpSp>
          <p:nvGrpSpPr>
            <p:cNvPr id="131127" name="Group 182"/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31128" name="Rectangle 183"/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3400" kern="1200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129" name="Rectangle 184"/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1300259" eaLnBrk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kern="1200">
                    <a:latin typeface="Arial" charset="0"/>
                    <a:ea typeface="ＭＳ Ｐゴシック" charset="0"/>
                    <a:cs typeface="Arial" charset="0"/>
                  </a:rPr>
                  <a:t>M</a:t>
                </a:r>
              </a:p>
            </p:txBody>
          </p:sp>
        </p:grpSp>
      </p:grpSp>
      <p:grpSp>
        <p:nvGrpSpPr>
          <p:cNvPr id="21" name="Group 187"/>
          <p:cNvGrpSpPr>
            <a:grpSpLocks/>
          </p:cNvGrpSpPr>
          <p:nvPr/>
        </p:nvGrpSpPr>
        <p:grpSpPr bwMode="auto">
          <a:xfrm>
            <a:off x="1756553" y="1939432"/>
            <a:ext cx="428978" cy="415431"/>
            <a:chOff x="1962" y="2058"/>
            <a:chExt cx="190" cy="184"/>
          </a:xfrm>
        </p:grpSpPr>
        <p:sp>
          <p:nvSpPr>
            <p:cNvPr id="131124" name="Rectangle 188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1125" name="Rectangle 189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1300259" eaLnBrk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kern="1200"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600" kern="1200" baseline="-25000">
                  <a:latin typeface="Arial" charset="0"/>
                  <a:ea typeface="ＭＳ Ｐゴシック" charset="0"/>
                  <a:cs typeface="Arial" charset="0"/>
                </a:rPr>
                <a:t>n</a:t>
              </a:r>
            </a:p>
          </p:txBody>
        </p:sp>
      </p:grp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23521" y="2336801"/>
            <a:ext cx="1016576" cy="485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19" tIns="65010" rIns="130019" bIns="6501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259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300" kern="1200">
                <a:solidFill>
                  <a:srgbClr val="CC0000"/>
                </a:solidFill>
                <a:cs typeface="Arial" charset="0"/>
              </a:rPr>
              <a:t>frame</a:t>
            </a:r>
          </a:p>
        </p:txBody>
      </p:sp>
      <p:grpSp>
        <p:nvGrpSpPr>
          <p:cNvPr id="131117" name="Group 187"/>
          <p:cNvGrpSpPr>
            <a:grpSpLocks/>
          </p:cNvGrpSpPr>
          <p:nvPr/>
        </p:nvGrpSpPr>
        <p:grpSpPr bwMode="auto">
          <a:xfrm flipH="1">
            <a:off x="4520073" y="7069105"/>
            <a:ext cx="1142436" cy="1097280"/>
            <a:chOff x="-44" y="1473"/>
            <a:chExt cx="981" cy="1105"/>
          </a:xfrm>
        </p:grpSpPr>
        <p:pic>
          <p:nvPicPr>
            <p:cNvPr id="131122" name="Picture 18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123" name="Freeform 18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31118" name="Group 190"/>
          <p:cNvGrpSpPr>
            <a:grpSpLocks/>
          </p:cNvGrpSpPr>
          <p:nvPr/>
        </p:nvGrpSpPr>
        <p:grpSpPr bwMode="auto">
          <a:xfrm flipH="1">
            <a:off x="5888286" y="1546579"/>
            <a:ext cx="1142436" cy="1097280"/>
            <a:chOff x="-44" y="1473"/>
            <a:chExt cx="981" cy="1105"/>
          </a:xfrm>
        </p:grpSpPr>
        <p:pic>
          <p:nvPicPr>
            <p:cNvPr id="131120" name="Picture 191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121" name="Freeform 1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algn="l" defTabSz="1300259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3400" kern="12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9C016-6D79-4987-B9D1-207F1F1CEC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011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37 L -4.72222E-6 0.04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2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926 L -3.05556E-6 0.047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3.05556E-6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3.05556E-6 0.13889 L 0.40295 0.13889 L 0.40295 0.09885 L 0.57152 0.10093 L 0.57152 0.57709 L 0.66371 0.50857 L 0.66371 0.42848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46 L 0.00156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5" grpId="1"/>
      <p:bldP spid="112644" grpId="0"/>
      <p:bldP spid="112644" grpId="1"/>
      <p:bldP spid="112814" grpId="0"/>
      <p:bldP spid="112647" grpId="0"/>
      <p:bldP spid="11264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IP (Internet Protocol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IP (Internet Protocol)</a:t>
            </a:r>
          </a:p>
        </p:txBody>
      </p:sp>
      <p:sp>
        <p:nvSpPr>
          <p:cNvPr id="267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68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69" name="A Datagram servic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 </a:t>
            </a:r>
            <a:r>
              <a:rPr lang="en-US" dirty="0"/>
              <a:t>d</a:t>
            </a:r>
            <a:r>
              <a:rPr dirty="0"/>
              <a:t>atagram service</a:t>
            </a:r>
            <a:r>
              <a:rPr lang="en-US" dirty="0"/>
              <a:t> at the network layer</a:t>
            </a:r>
            <a:endParaRPr dirty="0"/>
          </a:p>
          <a:p>
            <a:pPr lvl="1"/>
            <a:r>
              <a:rPr lang="en-US" dirty="0"/>
              <a:t>Data are divided into packets</a:t>
            </a:r>
          </a:p>
          <a:p>
            <a:pPr lvl="1"/>
            <a:r>
              <a:rPr lang="en-US" dirty="0"/>
              <a:t>Every packet has a destination “label” : </a:t>
            </a:r>
            <a:r>
              <a:rPr lang="en-US" dirty="0">
                <a:solidFill>
                  <a:schemeClr val="accent1"/>
                </a:solidFill>
              </a:rPr>
              <a:t>the IP address!</a:t>
            </a:r>
          </a:p>
          <a:p>
            <a:pPr lvl="1"/>
            <a:r>
              <a:rPr dirty="0"/>
              <a:t>Packets are handled independently</a:t>
            </a:r>
            <a:endParaRPr lang="en-US" dirty="0"/>
          </a:p>
          <a:p>
            <a:pPr lvl="1"/>
            <a:r>
              <a:rPr lang="en-US" dirty="0"/>
              <a:t>And delivered with b</a:t>
            </a:r>
            <a:r>
              <a:rPr dirty="0"/>
              <a:t>est-effort </a:t>
            </a:r>
            <a:endParaRPr lang="en-US" dirty="0"/>
          </a:p>
          <a:p>
            <a:pPr lvl="2"/>
            <a:r>
              <a:rPr lang="en-US" dirty="0"/>
              <a:t>However, you can see l</a:t>
            </a:r>
            <a:r>
              <a:rPr dirty="0"/>
              <a:t>os</a:t>
            </a:r>
            <a:r>
              <a:rPr lang="en-US" dirty="0"/>
              <a:t>s</a:t>
            </a:r>
            <a:r>
              <a:rPr dirty="0"/>
              <a:t>, </a:t>
            </a:r>
            <a:r>
              <a:rPr lang="en-US" dirty="0"/>
              <a:t>out of </a:t>
            </a:r>
            <a:r>
              <a:rPr dirty="0"/>
              <a:t>order, duplication,…</a:t>
            </a:r>
          </a:p>
        </p:txBody>
      </p:sp>
      <p:sp>
        <p:nvSpPr>
          <p:cNvPr id="2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9951" y="9131302"/>
            <a:ext cx="178345" cy="295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271" name="Image" descr="Image"/>
          <p:cNvPicPr>
            <a:picLocks noChangeAspect="1"/>
          </p:cNvPicPr>
          <p:nvPr/>
        </p:nvPicPr>
        <p:blipFill>
          <a:blip r:embed="rId3"/>
          <a:srcRect l="2568" t="4618" r="1101" b="3399"/>
          <a:stretch>
            <a:fillRect/>
          </a:stretch>
        </p:blipFill>
        <p:spPr>
          <a:xfrm>
            <a:off x="6776992" y="7024468"/>
            <a:ext cx="3003154" cy="17281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3" extrusionOk="0">
                <a:moveTo>
                  <a:pt x="248" y="0"/>
                </a:moveTo>
                <a:lnTo>
                  <a:pt x="237" y="2343"/>
                </a:lnTo>
                <a:cubicBezTo>
                  <a:pt x="224" y="4608"/>
                  <a:pt x="183" y="8028"/>
                  <a:pt x="146" y="10320"/>
                </a:cubicBezTo>
                <a:cubicBezTo>
                  <a:pt x="136" y="10929"/>
                  <a:pt x="112" y="12882"/>
                  <a:pt x="94" y="14660"/>
                </a:cubicBezTo>
                <a:cubicBezTo>
                  <a:pt x="76" y="16437"/>
                  <a:pt x="49" y="18582"/>
                  <a:pt x="31" y="19426"/>
                </a:cubicBezTo>
                <a:lnTo>
                  <a:pt x="0" y="20962"/>
                </a:lnTo>
                <a:lnTo>
                  <a:pt x="925" y="21016"/>
                </a:lnTo>
                <a:cubicBezTo>
                  <a:pt x="1433" y="21048"/>
                  <a:pt x="2711" y="21097"/>
                  <a:pt x="3765" y="21125"/>
                </a:cubicBezTo>
                <a:cubicBezTo>
                  <a:pt x="4820" y="21154"/>
                  <a:pt x="7001" y="21217"/>
                  <a:pt x="8612" y="21264"/>
                </a:cubicBezTo>
                <a:cubicBezTo>
                  <a:pt x="10223" y="21311"/>
                  <a:pt x="13265" y="21393"/>
                  <a:pt x="15374" y="21447"/>
                </a:cubicBezTo>
                <a:cubicBezTo>
                  <a:pt x="17483" y="21501"/>
                  <a:pt x="19319" y="21555"/>
                  <a:pt x="19451" y="21566"/>
                </a:cubicBezTo>
                <a:cubicBezTo>
                  <a:pt x="19859" y="21600"/>
                  <a:pt x="20589" y="21495"/>
                  <a:pt x="20701" y="21388"/>
                </a:cubicBezTo>
                <a:cubicBezTo>
                  <a:pt x="20759" y="21332"/>
                  <a:pt x="20938" y="21260"/>
                  <a:pt x="21098" y="21224"/>
                </a:cubicBezTo>
                <a:cubicBezTo>
                  <a:pt x="21257" y="21189"/>
                  <a:pt x="21408" y="21136"/>
                  <a:pt x="21432" y="21111"/>
                </a:cubicBezTo>
                <a:cubicBezTo>
                  <a:pt x="21524" y="21012"/>
                  <a:pt x="21246" y="20333"/>
                  <a:pt x="20864" y="19713"/>
                </a:cubicBezTo>
                <a:cubicBezTo>
                  <a:pt x="20391" y="18949"/>
                  <a:pt x="20376" y="18826"/>
                  <a:pt x="20641" y="18044"/>
                </a:cubicBezTo>
                <a:cubicBezTo>
                  <a:pt x="20848" y="17430"/>
                  <a:pt x="20885" y="17205"/>
                  <a:pt x="20932" y="16305"/>
                </a:cubicBezTo>
                <a:cubicBezTo>
                  <a:pt x="20951" y="15939"/>
                  <a:pt x="20998" y="15585"/>
                  <a:pt x="21035" y="15522"/>
                </a:cubicBezTo>
                <a:cubicBezTo>
                  <a:pt x="21071" y="15459"/>
                  <a:pt x="21100" y="15346"/>
                  <a:pt x="21100" y="15269"/>
                </a:cubicBezTo>
                <a:cubicBezTo>
                  <a:pt x="21100" y="15192"/>
                  <a:pt x="21214" y="14932"/>
                  <a:pt x="21352" y="14690"/>
                </a:cubicBezTo>
                <a:lnTo>
                  <a:pt x="21600" y="14249"/>
                </a:lnTo>
                <a:lnTo>
                  <a:pt x="21480" y="14026"/>
                </a:lnTo>
                <a:cubicBezTo>
                  <a:pt x="21407" y="13892"/>
                  <a:pt x="21350" y="13644"/>
                  <a:pt x="21335" y="13402"/>
                </a:cubicBezTo>
                <a:cubicBezTo>
                  <a:pt x="21320" y="13180"/>
                  <a:pt x="21274" y="12885"/>
                  <a:pt x="21235" y="12748"/>
                </a:cubicBezTo>
                <a:cubicBezTo>
                  <a:pt x="21195" y="12610"/>
                  <a:pt x="21147" y="12316"/>
                  <a:pt x="21126" y="12099"/>
                </a:cubicBezTo>
                <a:cubicBezTo>
                  <a:pt x="21105" y="11881"/>
                  <a:pt x="21082" y="11645"/>
                  <a:pt x="21075" y="11568"/>
                </a:cubicBezTo>
                <a:cubicBezTo>
                  <a:pt x="21050" y="11311"/>
                  <a:pt x="21156" y="10045"/>
                  <a:pt x="21240" y="9597"/>
                </a:cubicBezTo>
                <a:cubicBezTo>
                  <a:pt x="21287" y="9352"/>
                  <a:pt x="21359" y="9128"/>
                  <a:pt x="21400" y="9101"/>
                </a:cubicBezTo>
                <a:cubicBezTo>
                  <a:pt x="21497" y="9037"/>
                  <a:pt x="21497" y="8482"/>
                  <a:pt x="21400" y="8343"/>
                </a:cubicBezTo>
                <a:cubicBezTo>
                  <a:pt x="21359" y="8285"/>
                  <a:pt x="21309" y="8043"/>
                  <a:pt x="21289" y="7803"/>
                </a:cubicBezTo>
                <a:cubicBezTo>
                  <a:pt x="21268" y="7564"/>
                  <a:pt x="21228" y="7316"/>
                  <a:pt x="21200" y="7258"/>
                </a:cubicBezTo>
                <a:cubicBezTo>
                  <a:pt x="21173" y="7200"/>
                  <a:pt x="21131" y="6845"/>
                  <a:pt x="21106" y="6465"/>
                </a:cubicBezTo>
                <a:cubicBezTo>
                  <a:pt x="21082" y="6086"/>
                  <a:pt x="21038" y="5702"/>
                  <a:pt x="21009" y="5613"/>
                </a:cubicBezTo>
                <a:cubicBezTo>
                  <a:pt x="20975" y="5508"/>
                  <a:pt x="20976" y="5304"/>
                  <a:pt x="21012" y="5024"/>
                </a:cubicBezTo>
                <a:cubicBezTo>
                  <a:pt x="21042" y="4788"/>
                  <a:pt x="21071" y="4054"/>
                  <a:pt x="21078" y="3394"/>
                </a:cubicBezTo>
                <a:cubicBezTo>
                  <a:pt x="21084" y="2734"/>
                  <a:pt x="21121" y="1945"/>
                  <a:pt x="21158" y="1640"/>
                </a:cubicBezTo>
                <a:cubicBezTo>
                  <a:pt x="21194" y="1335"/>
                  <a:pt x="21226" y="960"/>
                  <a:pt x="21229" y="808"/>
                </a:cubicBezTo>
                <a:lnTo>
                  <a:pt x="21235" y="535"/>
                </a:lnTo>
                <a:lnTo>
                  <a:pt x="19850" y="476"/>
                </a:lnTo>
                <a:cubicBezTo>
                  <a:pt x="17074" y="362"/>
                  <a:pt x="9197" y="162"/>
                  <a:pt x="3739" y="64"/>
                </a:cubicBezTo>
                <a:lnTo>
                  <a:pt x="248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3133-48D1-455B-AE5B-6C4E32E0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474F1-3124-4B8D-A90D-97119B3B6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IPv4: 4 bytes</a:t>
            </a:r>
          </a:p>
          <a:p>
            <a:pPr lvl="1"/>
            <a:r>
              <a:rPr lang="en-GB" altLang="en-US" dirty="0"/>
              <a:t>Each device normally gets one (but can have more)</a:t>
            </a:r>
          </a:p>
          <a:p>
            <a:pPr lvl="2"/>
            <a:r>
              <a:rPr lang="en-GB" altLang="en-US" dirty="0"/>
              <a:t>Each interface(boundary between host and physical link) has one IP address</a:t>
            </a:r>
          </a:p>
          <a:p>
            <a:r>
              <a:rPr lang="en-GB" altLang="en-US" dirty="0"/>
              <a:t>IPv6: 16 bytes</a:t>
            </a:r>
          </a:p>
          <a:p>
            <a:pPr lvl="1"/>
            <a:r>
              <a:rPr lang="en-GB" altLang="en-US" dirty="0"/>
              <a:t>128 bit addresses</a:t>
            </a:r>
          </a:p>
          <a:p>
            <a:pPr lvl="2"/>
            <a:r>
              <a:rPr lang="en-GB" altLang="en-US" dirty="0"/>
              <a:t>Make it feasible to be very wasteful with address allocations</a:t>
            </a:r>
          </a:p>
          <a:p>
            <a:pPr lvl="1"/>
            <a:r>
              <a:rPr lang="en-GB" altLang="en-US" dirty="0"/>
              <a:t>Lots of other new features</a:t>
            </a:r>
          </a:p>
          <a:p>
            <a:pPr lvl="2"/>
            <a:r>
              <a:rPr lang="en-GB" altLang="en-US" dirty="0"/>
              <a:t>Built-in auto configuration, security options, …</a:t>
            </a:r>
          </a:p>
          <a:p>
            <a:pPr lvl="1"/>
            <a:r>
              <a:rPr lang="en-GB" altLang="en-US" dirty="0"/>
              <a:t>Not compatible with IPv4</a:t>
            </a:r>
          </a:p>
          <a:p>
            <a:endParaRPr lang="en-GB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D8996-8A51-4C62-9636-D41407C55E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679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7">
            <a:extLst>
              <a:ext uri="{FF2B5EF4-FFF2-40B4-BE49-F238E27FC236}">
                <a16:creationId xmlns:a16="http://schemas.microsoft.com/office/drawing/2014/main" id="{DB5355DC-CBEF-416C-AB93-C8F58005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IPv4 examples</a:t>
            </a:r>
          </a:p>
        </p:txBody>
      </p:sp>
      <p:sp>
        <p:nvSpPr>
          <p:cNvPr id="22531" name="Content Placeholder 8">
            <a:extLst>
              <a:ext uri="{FF2B5EF4-FFF2-40B4-BE49-F238E27FC236}">
                <a16:creationId xmlns:a16="http://schemas.microsoft.com/office/drawing/2014/main" id="{DFB0C351-B341-419E-AA40-EB6C924EB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A Google server: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accent1"/>
                </a:solidFill>
              </a:rPr>
              <a:t>67.218.93.15</a:t>
            </a:r>
            <a:r>
              <a:rPr lang="en-US" altLang="en-US" dirty="0"/>
              <a:t>		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 gateway at UConn: 	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accent1"/>
                </a:solidFill>
              </a:rPr>
              <a:t>137.99.10.1</a:t>
            </a:r>
            <a:r>
              <a:rPr lang="en-US" altLang="en-US" dirty="0"/>
              <a:t>		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Private addresses:</a:t>
            </a:r>
          </a:p>
          <a:p>
            <a:pPr marL="0" indent="0">
              <a:buNone/>
            </a:pPr>
            <a:r>
              <a:rPr lang="en-US" sz="3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10.0.0.0 - 10.255.255.255</a:t>
            </a:r>
            <a:r>
              <a:rPr lang="en-US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3100" dirty="0"/>
              <a:t> </a:t>
            </a:r>
            <a:endParaRPr lang="en-US" sz="3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172.16.0.0 - 172.31.255.255</a:t>
            </a:r>
            <a:r>
              <a:rPr lang="en-US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192.168.0.0 - 192.168.255.255</a:t>
            </a:r>
            <a:r>
              <a:rPr lang="en-US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4B6071-C30F-4624-9E22-F0A6B541CE2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9614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27EB-4F74-4166-88B0-7AFB47754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for dummies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5F542-707D-4A65-A741-7591BB374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domain name is an identification string</a:t>
            </a:r>
          </a:p>
          <a:p>
            <a:pPr lvl="1"/>
            <a:r>
              <a:rPr lang="en-US" dirty="0"/>
              <a:t>Formed by rules and procedures in DNS (Domain name system)</a:t>
            </a:r>
          </a:p>
          <a:p>
            <a:pPr lvl="1"/>
            <a:r>
              <a:rPr lang="en-US" dirty="0"/>
              <a:t>Hierarchical</a:t>
            </a:r>
          </a:p>
          <a:p>
            <a:r>
              <a:rPr lang="en-US" dirty="0"/>
              <a:t>Fully qualified domain names (FQDNs) is a complete domain name for a specific computer on the Internet</a:t>
            </a:r>
          </a:p>
          <a:p>
            <a:r>
              <a:rPr lang="en-US" dirty="0"/>
              <a:t>Doman name servers (also a DNS) translate domain names to IP address</a:t>
            </a:r>
          </a:p>
          <a:p>
            <a:pPr lvl="1"/>
            <a:r>
              <a:rPr lang="en-US" dirty="0"/>
              <a:t>Phonebook for the Internet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www.uconn.edu</a:t>
            </a:r>
            <a:r>
              <a:rPr lang="en-US" dirty="0"/>
              <a:t> is a FQDN.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www.google.com</a:t>
            </a:r>
            <a:r>
              <a:rPr lang="en-US" dirty="0"/>
              <a:t> is a FQDN. Its IP address is 172.217.7.228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ABAAE-BEE4-4259-AA45-4DEC5D6DF97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2062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onnection Moda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The Internet </a:t>
            </a:r>
            <a:r>
              <a:rPr lang="en-US" dirty="0">
                <a:solidFill>
                  <a:schemeClr val="accent5"/>
                </a:solidFill>
              </a:rPr>
              <a:t>Transport</a:t>
            </a:r>
            <a:r>
              <a:rPr lang="en-US" dirty="0"/>
              <a:t> Layer</a:t>
            </a:r>
            <a:endParaRPr dirty="0"/>
          </a:p>
        </p:txBody>
      </p:sp>
      <p:sp>
        <p:nvSpPr>
          <p:cNvPr id="299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00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1" name="TCP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Two protocols above IP</a:t>
            </a:r>
          </a:p>
          <a:p>
            <a:r>
              <a:rPr dirty="0"/>
              <a:t>TCP</a:t>
            </a:r>
            <a:r>
              <a:rPr lang="en-US" dirty="0"/>
              <a:t> (Transmission Control Protocol) </a:t>
            </a:r>
            <a:r>
              <a:rPr lang="en-US" dirty="0">
                <a:sym typeface="Wingdings" panose="05000000000000000000" pitchFamily="2" charset="2"/>
              </a:rPr>
              <a:t> TCP/IP</a:t>
            </a:r>
            <a:endParaRPr dirty="0"/>
          </a:p>
          <a:p>
            <a:pPr lvl="1"/>
            <a:r>
              <a:rPr lang="en-US" b="1" dirty="0">
                <a:solidFill>
                  <a:schemeClr val="accent5"/>
                </a:solidFill>
              </a:rPr>
              <a:t>C</a:t>
            </a:r>
            <a:r>
              <a:rPr b="1" dirty="0">
                <a:solidFill>
                  <a:schemeClr val="accent5"/>
                </a:solidFill>
              </a:rPr>
              <a:t>onnection-oriented</a:t>
            </a:r>
            <a:r>
              <a:rPr dirty="0"/>
              <a:t>	like POTS</a:t>
            </a:r>
            <a:r>
              <a:rPr lang="en-US" dirty="0"/>
              <a:t> (plain old telephone service)</a:t>
            </a:r>
            <a:endParaRPr dirty="0"/>
          </a:p>
          <a:p>
            <a:pPr lvl="1"/>
            <a:r>
              <a:rPr lang="en-US"/>
              <a:t>Congestion control, flow control </a:t>
            </a:r>
            <a:r>
              <a:rPr lang="en-US" dirty="0"/>
              <a:t>and bi-directional</a:t>
            </a:r>
          </a:p>
          <a:p>
            <a:pPr lvl="2"/>
            <a:r>
              <a:rPr lang="en-US" dirty="0"/>
              <a:t>R</a:t>
            </a:r>
            <a:r>
              <a:rPr dirty="0"/>
              <a:t>eliable</a:t>
            </a:r>
          </a:p>
          <a:p>
            <a:r>
              <a:rPr dirty="0"/>
              <a:t>UDP</a:t>
            </a:r>
            <a:r>
              <a:rPr lang="en-US" dirty="0"/>
              <a:t> (User Datagram Protocol) </a:t>
            </a:r>
            <a:r>
              <a:rPr lang="en-US" dirty="0">
                <a:sym typeface="Wingdings" panose="05000000000000000000" pitchFamily="2" charset="2"/>
              </a:rPr>
              <a:t> UDP/IP</a:t>
            </a:r>
            <a:endParaRPr dirty="0"/>
          </a:p>
          <a:p>
            <a:pPr lvl="1"/>
            <a:r>
              <a:rPr lang="en-US" b="1" dirty="0">
                <a:solidFill>
                  <a:schemeClr val="accent5"/>
                </a:solidFill>
              </a:rPr>
              <a:t>C</a:t>
            </a:r>
            <a:r>
              <a:rPr b="1" dirty="0">
                <a:solidFill>
                  <a:schemeClr val="accent5"/>
                </a:solidFill>
              </a:rPr>
              <a:t>onnection-less</a:t>
            </a:r>
            <a:r>
              <a:rPr dirty="0"/>
              <a:t>				like </a:t>
            </a:r>
            <a:r>
              <a:rPr lang="en-US" dirty="0"/>
              <a:t>(unregistered) </a:t>
            </a:r>
            <a:r>
              <a:rPr dirty="0"/>
              <a:t>snail</a:t>
            </a:r>
            <a:r>
              <a:rPr lang="en-US" dirty="0"/>
              <a:t> </a:t>
            </a:r>
            <a:r>
              <a:rPr dirty="0"/>
              <a:t>mail</a:t>
            </a:r>
          </a:p>
          <a:p>
            <a:pPr lvl="1"/>
            <a:r>
              <a:rPr lang="en-US" dirty="0"/>
              <a:t>N</a:t>
            </a:r>
            <a:r>
              <a:rPr dirty="0"/>
              <a:t>o acknowledgments or retransmissions</a:t>
            </a:r>
          </a:p>
          <a:p>
            <a:pPr lvl="1"/>
            <a:r>
              <a:rPr lang="en-US" dirty="0"/>
              <a:t>Packets may be delivered out of order and have </a:t>
            </a:r>
            <a:r>
              <a:rPr dirty="0"/>
              <a:t>duplicates</a:t>
            </a:r>
            <a:endParaRPr lang="en-US" dirty="0"/>
          </a:p>
          <a:p>
            <a:pPr lvl="2"/>
            <a:r>
              <a:rPr lang="en-US" dirty="0"/>
              <a:t>Retransmission can be handled in applications</a:t>
            </a:r>
          </a:p>
        </p:txBody>
      </p:sp>
      <p:sp>
        <p:nvSpPr>
          <p:cNvPr id="3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8540" y="9131300"/>
            <a:ext cx="279754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or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Ports</a:t>
            </a:r>
          </a:p>
        </p:txBody>
      </p:sp>
      <p:sp>
        <p:nvSpPr>
          <p:cNvPr id="305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0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7" name="Identify services and applications for both TCP and UDP"/>
          <p:cNvSpPr txBox="1">
            <a:spLocks noGrp="1"/>
          </p:cNvSpPr>
          <p:nvPr>
            <p:ph type="body" sz="quarter" idx="1"/>
          </p:nvPr>
        </p:nvSpPr>
        <p:spPr>
          <a:xfrm>
            <a:off x="571500" y="2324100"/>
            <a:ext cx="11861800" cy="125241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server can provide many services</a:t>
            </a:r>
          </a:p>
          <a:p>
            <a:r>
              <a:rPr lang="en-US" dirty="0"/>
              <a:t>Ports </a:t>
            </a:r>
            <a:r>
              <a:rPr dirty="0"/>
              <a:t>Identify services and applications for both TCP and UDP</a:t>
            </a:r>
          </a:p>
        </p:txBody>
      </p:sp>
      <p:sp>
        <p:nvSpPr>
          <p:cNvPr id="3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8540" y="9131300"/>
            <a:ext cx="279754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pic>
        <p:nvPicPr>
          <p:cNvPr id="30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1" y="3732477"/>
            <a:ext cx="12534901" cy="5359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ock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Sockets</a:t>
            </a:r>
          </a:p>
        </p:txBody>
      </p:sp>
      <p:sp>
        <p:nvSpPr>
          <p:cNvPr id="312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4" name="The programmatic abstraction sitting “above” ports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</a:t>
            </a:r>
            <a:r>
              <a:rPr dirty="0">
                <a:solidFill>
                  <a:schemeClr val="accent1"/>
                </a:solidFill>
              </a:rPr>
              <a:t>programmatic abstraction</a:t>
            </a:r>
            <a:r>
              <a:rPr dirty="0"/>
              <a:t> </a:t>
            </a:r>
            <a:r>
              <a:rPr lang="en-US" dirty="0"/>
              <a:t>to access</a:t>
            </a:r>
            <a:r>
              <a:rPr dirty="0"/>
              <a:t> ports</a:t>
            </a:r>
          </a:p>
        </p:txBody>
      </p:sp>
      <p:sp>
        <p:nvSpPr>
          <p:cNvPr id="3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8540" y="9131300"/>
            <a:ext cx="279754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pic>
        <p:nvPicPr>
          <p:cNvPr id="3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1" y="3530600"/>
            <a:ext cx="12534901" cy="5359400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Rectangle"/>
          <p:cNvSpPr/>
          <p:nvPr/>
        </p:nvSpPr>
        <p:spPr>
          <a:xfrm>
            <a:off x="7430122" y="4121590"/>
            <a:ext cx="5157724" cy="1615369"/>
          </a:xfrm>
          <a:prstGeom prst="rect">
            <a:avLst/>
          </a:prstGeom>
          <a:solidFill>
            <a:srgbClr val="ECE9D9"/>
          </a:solidFill>
          <a:ln w="12700">
            <a:miter lim="400000"/>
          </a:ln>
        </p:spPr>
        <p:txBody>
          <a:bodyPr lIns="38094" tIns="38094" rIns="38094" bIns="38094" anchor="ctr"/>
          <a:lstStyle/>
          <a:p>
            <a:pPr>
              <a:defRPr sz="3400"/>
            </a:pPr>
            <a:endParaRPr/>
          </a:p>
        </p:txBody>
      </p:sp>
      <p:sp>
        <p:nvSpPr>
          <p:cNvPr id="318" name="Rectangle"/>
          <p:cNvSpPr/>
          <p:nvPr/>
        </p:nvSpPr>
        <p:spPr>
          <a:xfrm>
            <a:off x="419698" y="4428904"/>
            <a:ext cx="2254214" cy="1247755"/>
          </a:xfrm>
          <a:prstGeom prst="rect">
            <a:avLst/>
          </a:prstGeom>
          <a:solidFill>
            <a:srgbClr val="ECE9D9"/>
          </a:solidFill>
          <a:ln w="12700">
            <a:miter lim="400000"/>
          </a:ln>
        </p:spPr>
        <p:txBody>
          <a:bodyPr lIns="38094" tIns="38094" rIns="38094" bIns="38094" anchor="ctr"/>
          <a:lstStyle/>
          <a:p>
            <a:pPr>
              <a:defRPr sz="3400"/>
            </a:pPr>
            <a:endParaRPr/>
          </a:p>
        </p:txBody>
      </p:sp>
      <p:sp>
        <p:nvSpPr>
          <p:cNvPr id="319" name="Socket"/>
          <p:cNvSpPr/>
          <p:nvPr/>
        </p:nvSpPr>
        <p:spPr>
          <a:xfrm>
            <a:off x="10705824" y="4403879"/>
            <a:ext cx="1270000" cy="405332"/>
          </a:xfrm>
          <a:prstGeom prst="roundRect">
            <a:avLst>
              <a:gd name="adj" fmla="val 46999"/>
            </a:avLst>
          </a:prstGeom>
          <a:blipFill>
            <a:blip r:embed="rId4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094" tIns="38094" rIns="38094" bIns="38094" anchor="ctr"/>
          <a:lstStyle>
            <a:lvl1pPr>
              <a:defRPr sz="19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Socket</a:t>
            </a:r>
          </a:p>
        </p:txBody>
      </p:sp>
      <p:sp>
        <p:nvSpPr>
          <p:cNvPr id="320" name="Line"/>
          <p:cNvSpPr/>
          <p:nvPr/>
        </p:nvSpPr>
        <p:spPr>
          <a:xfrm flipH="1" flipV="1">
            <a:off x="11258604" y="4832750"/>
            <a:ext cx="520139" cy="986992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791" tIns="50791" rIns="50791" bIns="50791" anchor="ctr"/>
          <a:lstStyle/>
          <a:p>
            <a:pPr>
              <a:defRPr sz="3400"/>
            </a:pPr>
            <a:endParaRPr/>
          </a:p>
        </p:txBody>
      </p:sp>
      <p:sp>
        <p:nvSpPr>
          <p:cNvPr id="321" name="Socket"/>
          <p:cNvSpPr/>
          <p:nvPr/>
        </p:nvSpPr>
        <p:spPr>
          <a:xfrm>
            <a:off x="795353" y="4403879"/>
            <a:ext cx="1270000" cy="405332"/>
          </a:xfrm>
          <a:prstGeom prst="roundRect">
            <a:avLst>
              <a:gd name="adj" fmla="val 46999"/>
            </a:avLst>
          </a:prstGeom>
          <a:blipFill>
            <a:blip r:embed="rId4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094" tIns="38094" rIns="38094" bIns="38094" anchor="ctr"/>
          <a:lstStyle>
            <a:lvl1pPr>
              <a:defRPr sz="19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Socket</a:t>
            </a:r>
          </a:p>
        </p:txBody>
      </p:sp>
      <p:sp>
        <p:nvSpPr>
          <p:cNvPr id="322" name="Line"/>
          <p:cNvSpPr/>
          <p:nvPr/>
        </p:nvSpPr>
        <p:spPr>
          <a:xfrm flipV="1">
            <a:off x="1275837" y="4832751"/>
            <a:ext cx="207531" cy="757669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791" tIns="50791" rIns="50791" bIns="50791" anchor="ctr"/>
          <a:lstStyle/>
          <a:p>
            <a:pPr>
              <a:defRPr sz="3400"/>
            </a:pPr>
            <a:endParaRPr/>
          </a:p>
        </p:txBody>
      </p:sp>
      <p:sp>
        <p:nvSpPr>
          <p:cNvPr id="323" name="Line"/>
          <p:cNvSpPr/>
          <p:nvPr/>
        </p:nvSpPr>
        <p:spPr>
          <a:xfrm>
            <a:off x="2555090" y="8664189"/>
            <a:ext cx="9856757" cy="831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617" extrusionOk="0">
                <a:moveTo>
                  <a:pt x="0" y="829"/>
                </a:moveTo>
                <a:cubicBezTo>
                  <a:pt x="153" y="5857"/>
                  <a:pt x="476" y="10165"/>
                  <a:pt x="912" y="12985"/>
                </a:cubicBezTo>
                <a:cubicBezTo>
                  <a:pt x="1726" y="18260"/>
                  <a:pt x="2738" y="17547"/>
                  <a:pt x="3689" y="15827"/>
                </a:cubicBezTo>
                <a:cubicBezTo>
                  <a:pt x="4440" y="14470"/>
                  <a:pt x="5180" y="12584"/>
                  <a:pt x="5905" y="10182"/>
                </a:cubicBezTo>
                <a:cubicBezTo>
                  <a:pt x="7273" y="6404"/>
                  <a:pt x="8721" y="6953"/>
                  <a:pt x="10058" y="11757"/>
                </a:cubicBezTo>
                <a:cubicBezTo>
                  <a:pt x="10585" y="13653"/>
                  <a:pt x="11091" y="16204"/>
                  <a:pt x="11636" y="17505"/>
                </a:cubicBezTo>
                <a:cubicBezTo>
                  <a:pt x="13352" y="21600"/>
                  <a:pt x="15092" y="12936"/>
                  <a:pt x="16836" y="14761"/>
                </a:cubicBezTo>
                <a:cubicBezTo>
                  <a:pt x="17641" y="15602"/>
                  <a:pt x="18423" y="18678"/>
                  <a:pt x="19231" y="18003"/>
                </a:cubicBezTo>
                <a:cubicBezTo>
                  <a:pt x="20292" y="17116"/>
                  <a:pt x="21212" y="10130"/>
                  <a:pt x="21600" y="0"/>
                </a:cubicBezTo>
              </a:path>
            </a:pathLst>
          </a:custGeom>
          <a:ln w="101600">
            <a:solidFill>
              <a:srgbClr val="0433FF"/>
            </a:solidFill>
            <a:miter lim="400000"/>
          </a:ln>
        </p:spPr>
        <p:txBody>
          <a:bodyPr lIns="50791" tIns="50791" rIns="50791" bIns="50791" anchor="ctr"/>
          <a:lstStyle/>
          <a:p>
            <a:pPr>
              <a:defRPr sz="3400"/>
            </a:pPr>
            <a:endParaRPr/>
          </a:p>
        </p:txBody>
      </p:sp>
      <p:pic>
        <p:nvPicPr>
          <p:cNvPr id="324" name="Image" descr="Image"/>
          <p:cNvPicPr>
            <a:picLocks noChangeAspect="1"/>
          </p:cNvPicPr>
          <p:nvPr/>
        </p:nvPicPr>
        <p:blipFill>
          <a:blip r:embed="rId5"/>
          <a:srcRect l="1701" t="3973" r="3024" b="37"/>
          <a:stretch>
            <a:fillRect/>
          </a:stretch>
        </p:blipFill>
        <p:spPr>
          <a:xfrm>
            <a:off x="4808897" y="8279518"/>
            <a:ext cx="1875618" cy="1044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2" h="21599" extrusionOk="0">
                <a:moveTo>
                  <a:pt x="21062" y="0"/>
                </a:moveTo>
                <a:lnTo>
                  <a:pt x="20622" y="90"/>
                </a:lnTo>
                <a:cubicBezTo>
                  <a:pt x="20184" y="182"/>
                  <a:pt x="20179" y="201"/>
                  <a:pt x="20009" y="4298"/>
                </a:cubicBezTo>
                <a:cubicBezTo>
                  <a:pt x="19884" y="7303"/>
                  <a:pt x="19891" y="8840"/>
                  <a:pt x="20036" y="10000"/>
                </a:cubicBezTo>
                <a:cubicBezTo>
                  <a:pt x="20145" y="10872"/>
                  <a:pt x="20198" y="11692"/>
                  <a:pt x="20154" y="11821"/>
                </a:cubicBezTo>
                <a:cubicBezTo>
                  <a:pt x="19980" y="12328"/>
                  <a:pt x="19469" y="12003"/>
                  <a:pt x="19041" y="11123"/>
                </a:cubicBezTo>
                <a:cubicBezTo>
                  <a:pt x="18764" y="10553"/>
                  <a:pt x="18427" y="10205"/>
                  <a:pt x="18160" y="10205"/>
                </a:cubicBezTo>
                <a:cubicBezTo>
                  <a:pt x="17923" y="10205"/>
                  <a:pt x="17687" y="10084"/>
                  <a:pt x="17638" y="9942"/>
                </a:cubicBezTo>
                <a:cubicBezTo>
                  <a:pt x="17589" y="9800"/>
                  <a:pt x="17968" y="7898"/>
                  <a:pt x="18478" y="5709"/>
                </a:cubicBezTo>
                <a:cubicBezTo>
                  <a:pt x="18988" y="3521"/>
                  <a:pt x="19407" y="1549"/>
                  <a:pt x="19409" y="1337"/>
                </a:cubicBezTo>
                <a:cubicBezTo>
                  <a:pt x="19423" y="187"/>
                  <a:pt x="18949" y="1418"/>
                  <a:pt x="17870" y="5307"/>
                </a:cubicBezTo>
                <a:lnTo>
                  <a:pt x="16662" y="9655"/>
                </a:lnTo>
                <a:lnTo>
                  <a:pt x="15690" y="9384"/>
                </a:lnTo>
                <a:cubicBezTo>
                  <a:pt x="14668" y="9106"/>
                  <a:pt x="7351" y="9035"/>
                  <a:pt x="5776" y="9286"/>
                </a:cubicBezTo>
                <a:lnTo>
                  <a:pt x="4859" y="9434"/>
                </a:lnTo>
                <a:lnTo>
                  <a:pt x="3646" y="5201"/>
                </a:lnTo>
                <a:cubicBezTo>
                  <a:pt x="2979" y="2873"/>
                  <a:pt x="2338" y="963"/>
                  <a:pt x="2220" y="960"/>
                </a:cubicBezTo>
                <a:cubicBezTo>
                  <a:pt x="2103" y="956"/>
                  <a:pt x="2007" y="1062"/>
                  <a:pt x="2007" y="1189"/>
                </a:cubicBezTo>
                <a:cubicBezTo>
                  <a:pt x="2006" y="1317"/>
                  <a:pt x="2433" y="3182"/>
                  <a:pt x="2960" y="5340"/>
                </a:cubicBezTo>
                <a:cubicBezTo>
                  <a:pt x="3488" y="7499"/>
                  <a:pt x="3883" y="9460"/>
                  <a:pt x="3832" y="9696"/>
                </a:cubicBezTo>
                <a:cubicBezTo>
                  <a:pt x="3782" y="9932"/>
                  <a:pt x="3465" y="10214"/>
                  <a:pt x="3129" y="10328"/>
                </a:cubicBezTo>
                <a:cubicBezTo>
                  <a:pt x="2755" y="10454"/>
                  <a:pt x="2515" y="10714"/>
                  <a:pt x="2515" y="10992"/>
                </a:cubicBezTo>
                <a:cubicBezTo>
                  <a:pt x="2515" y="11242"/>
                  <a:pt x="2321" y="11609"/>
                  <a:pt x="2084" y="11804"/>
                </a:cubicBezTo>
                <a:cubicBezTo>
                  <a:pt x="1429" y="12343"/>
                  <a:pt x="1278" y="11846"/>
                  <a:pt x="1507" y="9918"/>
                </a:cubicBezTo>
                <a:cubicBezTo>
                  <a:pt x="1650" y="8714"/>
                  <a:pt x="1651" y="7292"/>
                  <a:pt x="1512" y="4462"/>
                </a:cubicBezTo>
                <a:cubicBezTo>
                  <a:pt x="1408" y="2358"/>
                  <a:pt x="1321" y="503"/>
                  <a:pt x="1321" y="336"/>
                </a:cubicBezTo>
                <a:cubicBezTo>
                  <a:pt x="1321" y="170"/>
                  <a:pt x="1119" y="33"/>
                  <a:pt x="871" y="33"/>
                </a:cubicBezTo>
                <a:lnTo>
                  <a:pt x="422" y="33"/>
                </a:lnTo>
                <a:lnTo>
                  <a:pt x="508" y="6480"/>
                </a:lnTo>
                <a:cubicBezTo>
                  <a:pt x="581" y="11937"/>
                  <a:pt x="551" y="12998"/>
                  <a:pt x="336" y="13387"/>
                </a:cubicBezTo>
                <a:cubicBezTo>
                  <a:pt x="24" y="13951"/>
                  <a:pt x="-138" y="19924"/>
                  <a:pt x="149" y="20245"/>
                </a:cubicBezTo>
                <a:cubicBezTo>
                  <a:pt x="247" y="20355"/>
                  <a:pt x="1033" y="20478"/>
                  <a:pt x="1893" y="20524"/>
                </a:cubicBezTo>
                <a:cubicBezTo>
                  <a:pt x="4483" y="20663"/>
                  <a:pt x="6955" y="21051"/>
                  <a:pt x="7052" y="21336"/>
                </a:cubicBezTo>
                <a:cubicBezTo>
                  <a:pt x="7112" y="21510"/>
                  <a:pt x="9151" y="21597"/>
                  <a:pt x="11199" y="21599"/>
                </a:cubicBezTo>
                <a:cubicBezTo>
                  <a:pt x="13246" y="21600"/>
                  <a:pt x="15306" y="21518"/>
                  <a:pt x="15413" y="21344"/>
                </a:cubicBezTo>
                <a:cubicBezTo>
                  <a:pt x="15646" y="20966"/>
                  <a:pt x="18250" y="20424"/>
                  <a:pt x="19782" y="20434"/>
                </a:cubicBezTo>
                <a:cubicBezTo>
                  <a:pt x="20501" y="20439"/>
                  <a:pt x="21174" y="20350"/>
                  <a:pt x="21276" y="20237"/>
                </a:cubicBezTo>
                <a:cubicBezTo>
                  <a:pt x="21389" y="20111"/>
                  <a:pt x="21462" y="18794"/>
                  <a:pt x="21462" y="16841"/>
                </a:cubicBezTo>
                <a:cubicBezTo>
                  <a:pt x="21462" y="14180"/>
                  <a:pt x="21413" y="13631"/>
                  <a:pt x="21180" y="13469"/>
                </a:cubicBezTo>
                <a:cubicBezTo>
                  <a:pt x="20931" y="13297"/>
                  <a:pt x="20911" y="12571"/>
                  <a:pt x="20981" y="6636"/>
                </a:cubicBezTo>
                <a:lnTo>
                  <a:pt x="21062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25" name="router"/>
          <p:cNvSpPr txBox="1"/>
          <p:nvPr/>
        </p:nvSpPr>
        <p:spPr>
          <a:xfrm>
            <a:off x="5201700" y="8246040"/>
            <a:ext cx="1090024" cy="564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1" tIns="50791" rIns="50791" bIns="50791" anchor="ctr">
            <a:spAutoFit/>
          </a:bodyPr>
          <a:lstStyle>
            <a:lvl1pPr>
              <a:defRPr sz="3000"/>
            </a:lvl1pPr>
          </a:lstStyle>
          <a:p>
            <a:r>
              <a:t>router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3248-FB80-4887-A15E-8C46D5BF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TCP port numbers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21A1C-60E6-4784-80B1-5714C446F9B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700A631-3257-48F7-BA78-5487ADA15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86889"/>
              </p:ext>
            </p:extLst>
          </p:nvPr>
        </p:nvGraphicFramePr>
        <p:xfrm>
          <a:off x="1999024" y="2717731"/>
          <a:ext cx="8669868" cy="5711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4934">
                  <a:extLst>
                    <a:ext uri="{9D8B030D-6E8A-4147-A177-3AD203B41FA5}">
                      <a16:colId xmlns:a16="http://schemas.microsoft.com/office/drawing/2014/main" val="3524762884"/>
                    </a:ext>
                  </a:extLst>
                </a:gridCol>
                <a:gridCol w="4334934">
                  <a:extLst>
                    <a:ext uri="{9D8B030D-6E8A-4147-A177-3AD203B41FA5}">
                      <a16:colId xmlns:a16="http://schemas.microsoft.com/office/drawing/2014/main" val="2542426780"/>
                    </a:ext>
                  </a:extLst>
                </a:gridCol>
              </a:tblGrid>
              <a:tr h="815942">
                <a:tc>
                  <a:txBody>
                    <a:bodyPr/>
                    <a:lstStyle/>
                    <a:p>
                      <a:pPr algn="ctr"/>
                      <a:r>
                        <a:rPr lang="en-US" sz="3000" b="0" i="0" u="none" strike="noStrike" cap="none" spc="0" baseline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Port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0" i="0" u="none" strike="noStrike" cap="none" spc="0" baseline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Service/ 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307439"/>
                  </a:ext>
                </a:extLst>
              </a:tr>
              <a:tr h="81594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FTP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952964"/>
                  </a:ext>
                </a:extLst>
              </a:tr>
              <a:tr h="81594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SSH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374579"/>
                  </a:ext>
                </a:extLst>
              </a:tr>
              <a:tr h="81594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SMTP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220439"/>
                  </a:ext>
                </a:extLst>
              </a:tr>
              <a:tr h="81594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HTTP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258776"/>
                  </a:ext>
                </a:extLst>
              </a:tr>
              <a:tr h="81594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137-139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/>
                        <a:t>NetBios</a:t>
                      </a:r>
                      <a:endParaRPr lang="en-US" sz="3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24181"/>
                  </a:ext>
                </a:extLst>
              </a:tr>
              <a:tr h="81594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HTTPS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116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68736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ock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Sockets</a:t>
            </a:r>
            <a:r>
              <a:rPr lang="en-US" dirty="0"/>
              <a:t> API</a:t>
            </a:r>
            <a:endParaRPr dirty="0"/>
          </a:p>
        </p:txBody>
      </p:sp>
      <p:sp>
        <p:nvSpPr>
          <p:cNvPr id="328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2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30" name="Identification…"/>
          <p:cNvSpPr txBox="1">
            <a:spLocks noGrp="1"/>
          </p:cNvSpPr>
          <p:nvPr>
            <p:ph type="body" idx="1"/>
          </p:nvPr>
        </p:nvSpPr>
        <p:spPr>
          <a:xfrm>
            <a:off x="571500" y="2335976"/>
            <a:ext cx="11861800" cy="656589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API to create, close, read, and write</a:t>
            </a:r>
          </a:p>
          <a:p>
            <a:pPr lvl="1"/>
            <a:r>
              <a:rPr lang="en-US" dirty="0"/>
              <a:t>Sockets are like </a:t>
            </a:r>
            <a:r>
              <a:rPr lang="en-US" b="1" dirty="0">
                <a:solidFill>
                  <a:schemeClr val="accent1"/>
                </a:solidFill>
              </a:rPr>
              <a:t>files</a:t>
            </a:r>
            <a:r>
              <a:rPr lang="en-US" dirty="0">
                <a:solidFill>
                  <a:schemeClr val="accent1"/>
                </a:solidFill>
              </a:rPr>
              <a:t>!</a:t>
            </a:r>
          </a:p>
          <a:p>
            <a:pPr lvl="1"/>
            <a:r>
              <a:rPr lang="en-US" dirty="0"/>
              <a:t>Can use the normal I/O functions</a:t>
            </a:r>
          </a:p>
          <a:p>
            <a:r>
              <a:rPr lang="en-US" dirty="0"/>
              <a:t>Two types of sockets</a:t>
            </a:r>
          </a:p>
          <a:p>
            <a:pPr lvl="1"/>
            <a:r>
              <a:rPr lang="en-US" dirty="0"/>
              <a:t>Stream sockets for TCP</a:t>
            </a:r>
          </a:p>
          <a:p>
            <a:pPr lvl="1"/>
            <a:r>
              <a:rPr lang="en-US" dirty="0"/>
              <a:t>Datagram sockets for UDP</a:t>
            </a:r>
          </a:p>
          <a:p>
            <a:pPr lvl="2"/>
            <a:r>
              <a:rPr lang="en-US" dirty="0"/>
              <a:t>Single payload oriented</a:t>
            </a:r>
          </a:p>
          <a:p>
            <a:r>
              <a:rPr lang="en-US" dirty="0"/>
              <a:t>Need to associate a socket with a port (</a:t>
            </a:r>
            <a:r>
              <a:rPr lang="en-US" dirty="0">
                <a:solidFill>
                  <a:schemeClr val="accent1"/>
                </a:solidFill>
              </a:rPr>
              <a:t>coming up next time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 Internet address (IPV4 or IPV6)</a:t>
            </a:r>
          </a:p>
          <a:p>
            <a:pPr lvl="1"/>
            <a:r>
              <a:rPr lang="en-US" dirty="0"/>
              <a:t>A port number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8540" y="9131300"/>
            <a:ext cx="279754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Bottom 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Create a socket</a:t>
            </a:r>
            <a:endParaRPr dirty="0"/>
          </a:p>
        </p:txBody>
      </p:sp>
      <p:sp>
        <p:nvSpPr>
          <p:cNvPr id="429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30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31" name="Purpose of dup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#include &lt;sys/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types.h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#include &lt;sys/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socket.h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socket(int domain, int type, int protocol);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Use close() to close a socket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Returns </a:t>
            </a:r>
            <a:r>
              <a:rPr lang="en-US" sz="2800" dirty="0">
                <a:solidFill>
                  <a:schemeClr val="accent2"/>
                </a:solidFill>
              </a:rPr>
              <a:t>a file descriptor</a:t>
            </a:r>
            <a:r>
              <a:rPr lang="en-US" sz="2800" dirty="0">
                <a:solidFill>
                  <a:schemeClr val="tx1"/>
                </a:solidFill>
              </a:rPr>
              <a:t> for the given domain, type, and protocol.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Returns -1 on error.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domain: </a:t>
            </a:r>
            <a:r>
              <a:rPr lang="en-US" sz="2800" dirty="0">
                <a:solidFill>
                  <a:schemeClr val="accent1"/>
                </a:solidFill>
              </a:rPr>
              <a:t>AF_INET</a:t>
            </a:r>
            <a:r>
              <a:rPr lang="en-US" sz="2800" dirty="0">
                <a:solidFill>
                  <a:schemeClr val="tx1"/>
                </a:solidFill>
              </a:rPr>
              <a:t>, AF_INET6, etc.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type: </a:t>
            </a:r>
            <a:r>
              <a:rPr lang="en-US" sz="2800" dirty="0">
                <a:solidFill>
                  <a:schemeClr val="accent1"/>
                </a:solidFill>
              </a:rPr>
              <a:t>SOCK_STREAM</a:t>
            </a:r>
            <a:r>
              <a:rPr lang="en-US" sz="2800" dirty="0">
                <a:solidFill>
                  <a:schemeClr val="tx1"/>
                </a:solidFill>
              </a:rPr>
              <a:t>, SOCK_DGRAM, etc.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protocol: </a:t>
            </a:r>
            <a:r>
              <a:rPr lang="en-US" sz="2800" dirty="0">
                <a:solidFill>
                  <a:schemeClr val="accent1"/>
                </a:solidFill>
              </a:rPr>
              <a:t>0. 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8543" y="9131302"/>
            <a:ext cx="279751" cy="295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4441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rotoco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Send and </a:t>
            </a:r>
            <a:r>
              <a:rPr lang="en-US" dirty="0" err="1"/>
              <a:t>recv</a:t>
            </a:r>
            <a:r>
              <a:rPr lang="en-US" dirty="0"/>
              <a:t> for </a:t>
            </a:r>
            <a:r>
              <a:rPr lang="en-US" dirty="0">
                <a:solidFill>
                  <a:schemeClr val="accent5"/>
                </a:solidFill>
              </a:rPr>
              <a:t>TCP</a:t>
            </a:r>
            <a:endParaRPr dirty="0"/>
          </a:p>
        </p:txBody>
      </p:sp>
      <p:sp>
        <p:nvSpPr>
          <p:cNvPr id="411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12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13" name="Assumption: working with TCP (not UDP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#include &lt;sys/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types.h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#include &lt;sys/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socket.h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 err="1">
                <a:latin typeface="Consolas" panose="020B0609020204030204" pitchFamily="49" charset="0"/>
              </a:rPr>
              <a:t>ssize_t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send</a:t>
            </a:r>
            <a:r>
              <a:rPr lang="en-US" sz="2800" dirty="0">
                <a:latin typeface="Consolas" panose="020B0609020204030204" pitchFamily="49" charset="0"/>
              </a:rPr>
              <a:t>(int </a:t>
            </a:r>
            <a:r>
              <a:rPr lang="en-US" sz="2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sfd</a:t>
            </a:r>
            <a:r>
              <a:rPr lang="en-US" sz="2800" dirty="0" err="1">
                <a:latin typeface="Consolas" panose="020B0609020204030204" pitchFamily="49" charset="0"/>
              </a:rPr>
              <a:t>,const</a:t>
            </a:r>
            <a:r>
              <a:rPr lang="en-US" sz="2800" dirty="0">
                <a:latin typeface="Consolas" panose="020B0609020204030204" pitchFamily="49" charset="0"/>
              </a:rPr>
              <a:t> void *</a:t>
            </a:r>
            <a:r>
              <a:rPr lang="en-US" sz="2800" dirty="0" err="1">
                <a:latin typeface="Consolas" panose="020B0609020204030204" pitchFamily="49" charset="0"/>
              </a:rPr>
              <a:t>buf,size_t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len,int</a:t>
            </a:r>
            <a:r>
              <a:rPr lang="en-US" sz="2800" dirty="0">
                <a:latin typeface="Consolas" panose="020B0609020204030204" pitchFamily="49" charset="0"/>
              </a:rPr>
              <a:t> flags);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 err="1">
                <a:latin typeface="Consolas" panose="020B0609020204030204" pitchFamily="49" charset="0"/>
              </a:rPr>
              <a:t>ssize_t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chemeClr val="accent2"/>
                </a:solidFill>
                <a:latin typeface="Consolas" panose="020B0609020204030204" pitchFamily="49" charset="0"/>
              </a:rPr>
              <a:t>recv</a:t>
            </a:r>
            <a:r>
              <a:rPr lang="en-US" sz="2800" dirty="0">
                <a:latin typeface="Consolas" panose="020B0609020204030204" pitchFamily="49" charset="0"/>
              </a:rPr>
              <a:t>(int </a:t>
            </a:r>
            <a:r>
              <a:rPr lang="en-US" sz="2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sfd</a:t>
            </a:r>
            <a:r>
              <a:rPr lang="en-US" sz="2800" dirty="0">
                <a:latin typeface="Consolas" panose="020B0609020204030204" pitchFamily="49" charset="0"/>
              </a:rPr>
              <a:t>, void *</a:t>
            </a:r>
            <a:r>
              <a:rPr lang="en-US" sz="2800" dirty="0" err="1">
                <a:latin typeface="Consolas" panose="020B0609020204030204" pitchFamily="49" charset="0"/>
              </a:rPr>
              <a:t>buf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</a:rPr>
              <a:t>size_t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len</a:t>
            </a:r>
            <a:r>
              <a:rPr lang="en-US" sz="2800" dirty="0">
                <a:latin typeface="Consolas" panose="020B0609020204030204" pitchFamily="49" charset="0"/>
              </a:rPr>
              <a:t>, int flags);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Return the number of bytes that have been sent/received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accent5"/>
                </a:solidFill>
              </a:rPr>
              <a:t>It can be less than the number of bytes requested!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	sent does not mean delivered!	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Both returns -1 on errors</a:t>
            </a:r>
          </a:p>
          <a:p>
            <a:r>
              <a:rPr lang="en-US" dirty="0"/>
              <a:t>Similar to read() and write()</a:t>
            </a:r>
          </a:p>
          <a:p>
            <a:pPr lvl="1"/>
            <a:r>
              <a:rPr lang="en-US" dirty="0"/>
              <a:t>You can use read and write if you do not need flags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W</a:t>
            </a:r>
            <a:r>
              <a:rPr dirty="0"/>
              <a:t>orking with TCP (not UDP)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dirty="0"/>
          </a:p>
        </p:txBody>
      </p:sp>
      <p:sp>
        <p:nvSpPr>
          <p:cNvPr id="4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8540" y="9131300"/>
            <a:ext cx="279754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430506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2FE1-B87C-4E7F-A4CB-D142D557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081B0-2B0D-4606-80FB-E335F6DCB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</a:rPr>
              <a:t>After a connection is established !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endParaRPr lang="en-US" sz="2800" dirty="0">
              <a:solidFill>
                <a:srgbClr val="0365C0"/>
              </a:solidFill>
              <a:latin typeface="Consolas" panose="020B0609020204030204" pitchFamily="49" charset="0"/>
              <a:sym typeface="Menlo"/>
            </a:endParaRP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  <a:sym typeface="Menlo"/>
              </a:rPr>
              <a:t>// To send n bytes stored in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  <a:sym typeface="Menlo"/>
              </a:rPr>
              <a:t>buf</a:t>
            </a:r>
            <a:endParaRPr lang="en-US" sz="2800" dirty="0">
              <a:solidFill>
                <a:srgbClr val="0365C0"/>
              </a:solidFill>
              <a:latin typeface="Consolas" panose="020B0609020204030204" pitchFamily="49" charset="0"/>
              <a:sym typeface="Menlo"/>
            </a:endParaRP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sent = 0;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while (sent &lt; n) {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	int r = send(</a:t>
            </a:r>
            <a:r>
              <a:rPr lang="en-US" sz="2800" dirty="0" err="1">
                <a:latin typeface="Consolas" panose="020B0609020204030204" pitchFamily="49" charset="0"/>
                <a:sym typeface="Menlo"/>
              </a:rPr>
              <a:t>sid</a:t>
            </a:r>
            <a:r>
              <a:rPr lang="en-US" sz="2800" dirty="0">
                <a:latin typeface="Consolas" panose="020B0609020204030204" pitchFamily="49" charset="0"/>
                <a:sym typeface="Menlo"/>
              </a:rPr>
              <a:t>, </a:t>
            </a:r>
            <a:r>
              <a:rPr lang="en-US" sz="2800" dirty="0" err="1">
                <a:latin typeface="Consolas" panose="020B0609020204030204" pitchFamily="49" charset="0"/>
                <a:sym typeface="Menlo"/>
              </a:rPr>
              <a:t>buf</a:t>
            </a:r>
            <a:r>
              <a:rPr lang="en-US" sz="2800" dirty="0">
                <a:latin typeface="Consolas" panose="020B0609020204030204" pitchFamily="49" charset="0"/>
                <a:sym typeface="Menlo"/>
              </a:rPr>
              <a:t> + sent, n - sent, 0);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	if (r &lt; 0) </a:t>
            </a:r>
            <a:r>
              <a:rPr lang="en-US" sz="2800" dirty="0" err="1">
                <a:latin typeface="Consolas" panose="020B0609020204030204" pitchFamily="49" charset="0"/>
                <a:sym typeface="Menlo"/>
              </a:rPr>
              <a:t>report_error</a:t>
            </a:r>
            <a:r>
              <a:rPr lang="en-US" sz="2800" dirty="0">
                <a:latin typeface="Consolas" panose="020B0609020204030204" pitchFamily="49" charset="0"/>
                <a:sym typeface="Menlo"/>
              </a:rPr>
              <a:t>();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	sent += r;	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BBF38-114C-434D-A9EA-6D35799F276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226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2FE1-B87C-4E7F-A4CB-D142D557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recv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081B0-2B0D-4606-80FB-E335F6DCB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</a:rPr>
              <a:t>After a connection is established !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endParaRPr lang="en-US" sz="2800" dirty="0">
              <a:solidFill>
                <a:srgbClr val="0365C0"/>
              </a:solidFill>
              <a:latin typeface="Consolas" panose="020B0609020204030204" pitchFamily="49" charset="0"/>
              <a:sym typeface="Menlo"/>
            </a:endParaRP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  <a:sym typeface="Menlo"/>
              </a:rPr>
              <a:t>// To receive n bytes into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  <a:sym typeface="Menlo"/>
              </a:rPr>
              <a:t>buf</a:t>
            </a:r>
            <a:endParaRPr lang="en-US" sz="2800" dirty="0">
              <a:solidFill>
                <a:srgbClr val="0365C0"/>
              </a:solidFill>
              <a:latin typeface="Consolas" panose="020B0609020204030204" pitchFamily="49" charset="0"/>
              <a:sym typeface="Menlo"/>
            </a:endParaRP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received = 0;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while (received &lt; n) {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	int r = </a:t>
            </a:r>
            <a:r>
              <a:rPr lang="en-US" sz="2800" dirty="0" err="1">
                <a:latin typeface="Consolas" panose="020B0609020204030204" pitchFamily="49" charset="0"/>
                <a:sym typeface="Menlo"/>
              </a:rPr>
              <a:t>recv</a:t>
            </a:r>
            <a:r>
              <a:rPr lang="en-US" sz="2800" dirty="0">
                <a:latin typeface="Consolas" panose="020B0609020204030204" pitchFamily="49" charset="0"/>
                <a:sym typeface="Menlo"/>
              </a:rPr>
              <a:t>(</a:t>
            </a:r>
            <a:r>
              <a:rPr lang="en-US" sz="2800" dirty="0" err="1">
                <a:latin typeface="Consolas" panose="020B0609020204030204" pitchFamily="49" charset="0"/>
                <a:sym typeface="Menlo"/>
              </a:rPr>
              <a:t>sid</a:t>
            </a:r>
            <a:r>
              <a:rPr lang="en-US" sz="2800" dirty="0">
                <a:latin typeface="Consolas" panose="020B0609020204030204" pitchFamily="49" charset="0"/>
                <a:sym typeface="Menlo"/>
              </a:rPr>
              <a:t>, </a:t>
            </a:r>
            <a:r>
              <a:rPr lang="en-US" sz="2800" dirty="0" err="1">
                <a:latin typeface="Consolas" panose="020B0609020204030204" pitchFamily="49" charset="0"/>
                <a:sym typeface="Menlo"/>
              </a:rPr>
              <a:t>buf</a:t>
            </a:r>
            <a:r>
              <a:rPr lang="en-US" sz="2800" dirty="0">
                <a:latin typeface="Consolas" panose="020B0609020204030204" pitchFamily="49" charset="0"/>
                <a:sym typeface="Menlo"/>
              </a:rPr>
              <a:t> + received, n - received, 0);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	if (r &lt; 0) </a:t>
            </a:r>
            <a:r>
              <a:rPr lang="en-US" sz="2800" dirty="0" err="1">
                <a:latin typeface="Consolas" panose="020B0609020204030204" pitchFamily="49" charset="0"/>
                <a:sym typeface="Menlo"/>
              </a:rPr>
              <a:t>report_error</a:t>
            </a:r>
            <a:r>
              <a:rPr lang="en-US" sz="2800" dirty="0">
                <a:latin typeface="Consolas" panose="020B0609020204030204" pitchFamily="49" charset="0"/>
                <a:sym typeface="Menlo"/>
              </a:rPr>
              <a:t>();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	received += r;	</a:t>
            </a:r>
          </a:p>
          <a:p>
            <a:pPr marL="0" indent="0">
              <a:buNone/>
              <a:defRPr>
                <a:latin typeface="Menlo"/>
                <a:ea typeface="Menlo"/>
                <a:cs typeface="Menlo"/>
                <a:sym typeface="Menlo"/>
              </a:defRPr>
            </a:pPr>
            <a:r>
              <a:rPr lang="en-US" sz="2800" dirty="0">
                <a:latin typeface="Consolas" panose="020B0609020204030204" pitchFamily="49" charset="0"/>
                <a:sym typeface="Menlo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2E30F-FB55-4E1B-AB44-F67D1E5A6E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9070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DC4C-8B2F-49EC-AADA-89A661AC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this slide yourself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886DE-AF36-4AAC-934D-B9A535A88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Useful commands. Read the manual for details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#scan ports</a:t>
            </a:r>
          </a:p>
          <a:p>
            <a:pPr marL="0" indent="0">
              <a:buNone/>
            </a:pPr>
            <a:r>
              <a:rPr lang="en-US" sz="2800" dirty="0" err="1">
                <a:latin typeface="Consolas" panose="020B0609020204030204" pitchFamily="49" charset="0"/>
              </a:rPr>
              <a:t>nmap</a:t>
            </a:r>
            <a:r>
              <a:rPr lang="en-US" sz="2800" dirty="0">
                <a:latin typeface="Consolas" panose="020B0609020204030204" pitchFamily="49" charset="0"/>
              </a:rPr>
              <a:t> localhost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#list FDs for the Internet. Need </a:t>
            </a:r>
            <a:r>
              <a:rPr 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sudo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 for system files</a:t>
            </a:r>
          </a:p>
          <a:p>
            <a:pPr marL="0" indent="0">
              <a:buNone/>
            </a:pPr>
            <a:r>
              <a:rPr lang="en-US" sz="2800" dirty="0" err="1">
                <a:latin typeface="Consolas" panose="020B0609020204030204" pitchFamily="49" charset="0"/>
              </a:rPr>
              <a:t>lsof</a:t>
            </a:r>
            <a:r>
              <a:rPr lang="en-US" sz="2800" dirty="0">
                <a:latin typeface="Consolas" panose="020B0609020204030204" pitchFamily="49" charset="0"/>
              </a:rPr>
              <a:t> –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# show information about networking </a:t>
            </a:r>
            <a:r>
              <a:rPr 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subystem</a:t>
            </a:r>
            <a:endParaRPr 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netstat –l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netstat –l -4</a:t>
            </a:r>
          </a:p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6BB19-3E98-4C7C-91B5-A52DA8BE473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2111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4725-5A57-44CB-9404-8ECB163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addressing: CIDR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0C1B1-ECA9-4E28-8B07-4A9D07666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4000" dirty="0">
                <a:solidFill>
                  <a:srgbClr val="CC0000"/>
                </a:solidFill>
              </a:rPr>
              <a:t>CIDR: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CC0000"/>
                </a:solidFill>
              </a:rPr>
              <a:t>C</a:t>
            </a:r>
            <a:r>
              <a:rPr lang="en-US" sz="4000" dirty="0"/>
              <a:t>lassless </a:t>
            </a:r>
            <a:r>
              <a:rPr lang="en-US" sz="4000" dirty="0" err="1">
                <a:solidFill>
                  <a:srgbClr val="CC0000"/>
                </a:solidFill>
              </a:rPr>
              <a:t>I</a:t>
            </a:r>
            <a:r>
              <a:rPr lang="en-US" sz="4000" dirty="0" err="1"/>
              <a:t>nter</a:t>
            </a:r>
            <a:r>
              <a:rPr lang="en-US" sz="4000" dirty="0" err="1">
                <a:solidFill>
                  <a:srgbClr val="CC0000"/>
                </a:solidFill>
              </a:rPr>
              <a:t>D</a:t>
            </a:r>
            <a:r>
              <a:rPr lang="en-US" sz="4000" dirty="0" err="1"/>
              <a:t>omain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CC0000"/>
                </a:solidFill>
              </a:rPr>
              <a:t>R</a:t>
            </a:r>
            <a:r>
              <a:rPr lang="en-US" sz="4000" dirty="0"/>
              <a:t>outing</a:t>
            </a:r>
          </a:p>
          <a:p>
            <a:pPr lvl="1">
              <a:buFont typeface="Arial"/>
              <a:buChar char="•"/>
              <a:defRPr/>
            </a:pPr>
            <a:r>
              <a:rPr lang="en-US" sz="3600" dirty="0"/>
              <a:t>subnet portion of address of arbitrary length</a:t>
            </a:r>
          </a:p>
          <a:p>
            <a:pPr lvl="1">
              <a:buFont typeface="Arial"/>
              <a:buChar char="•"/>
              <a:defRPr/>
            </a:pPr>
            <a:r>
              <a:rPr lang="en-US" sz="3600" dirty="0"/>
              <a:t>address format: </a:t>
            </a:r>
            <a:r>
              <a:rPr lang="en-US" sz="3600" dirty="0" err="1">
                <a:solidFill>
                  <a:srgbClr val="CC0000"/>
                </a:solidFill>
              </a:rPr>
              <a:t>a.b.c.d</a:t>
            </a:r>
            <a:r>
              <a:rPr lang="en-US" sz="3600" dirty="0">
                <a:solidFill>
                  <a:srgbClr val="CC0000"/>
                </a:solidFill>
              </a:rPr>
              <a:t>/x</a:t>
            </a:r>
            <a:r>
              <a:rPr lang="en-US" sz="3600" dirty="0"/>
              <a:t>, where x is # bits in subnet portion of address</a:t>
            </a:r>
          </a:p>
          <a:p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E89446F-A643-4881-81C2-452AD3A9F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986" y="6342099"/>
            <a:ext cx="9269799" cy="623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039" tIns="65020" rIns="130039" bIns="6502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3200" kern="1200" dirty="0">
                <a:solidFill>
                  <a:srgbClr val="000099"/>
                </a:solidFill>
              </a:rPr>
              <a:t>11001000  00010111  0001000</a:t>
            </a:r>
            <a:r>
              <a:rPr lang="en-US" sz="3200" kern="1200" dirty="0">
                <a:solidFill>
                  <a:srgbClr val="000000"/>
                </a:solidFill>
              </a:rPr>
              <a:t>0  00000000</a:t>
            </a:r>
            <a:endParaRPr lang="en-US" sz="3200" kern="1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BE106515-4BC0-4DE2-9ECE-EC52E9940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653" y="5567680"/>
            <a:ext cx="1263720" cy="93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39" tIns="65020" rIns="130039" bIns="6502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99"/>
                </a:solidFill>
              </a:rPr>
              <a:t>subnet</a:t>
            </a:r>
          </a:p>
          <a:p>
            <a:pPr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99"/>
                </a:solidFill>
              </a:rPr>
              <a:t>part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ADC0B819-52D3-437D-A2C6-49E9649AE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3033" y="5515752"/>
            <a:ext cx="892850" cy="93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39" tIns="65020" rIns="130039" bIns="6502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</a:rPr>
              <a:t>host</a:t>
            </a:r>
          </a:p>
          <a:p>
            <a:pPr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600" kern="1200">
                <a:solidFill>
                  <a:srgbClr val="000000"/>
                </a:solidFill>
              </a:rPr>
              <a:t>part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01EA2E49-4D57-4924-A9B0-892049DD2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8314" y="6007946"/>
            <a:ext cx="1843711" cy="33098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39" tIns="65020" rIns="130039" bIns="65020" anchor="ctr"/>
          <a:lstStyle/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endParaRPr lang="en-US" sz="26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794AC3F3-872C-4078-B33E-7F2D885C3C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47485" y="5992142"/>
            <a:ext cx="8466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39" tIns="65020" rIns="130039" bIns="65020" anchor="ctr"/>
          <a:lstStyle/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endParaRPr lang="en-US" sz="26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DA62D250-2999-41B0-902B-E9078ADEE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478" y="7175218"/>
            <a:ext cx="2316365" cy="50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39" tIns="65020" rIns="130039" bIns="6502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en-US" kern="1200">
                <a:solidFill>
                  <a:srgbClr val="000000"/>
                </a:solidFill>
              </a:rPr>
              <a:t>200.23.16.0/23</a:t>
            </a:r>
            <a:endParaRPr lang="en-US" sz="2600" kern="1200">
              <a:solidFill>
                <a:srgbClr val="000000"/>
              </a:solidFill>
            </a:endParaRP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B0D012A3-6BBF-41C3-80AF-E68677CA0F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2331" y="5994401"/>
            <a:ext cx="2045547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39" tIns="65020" rIns="130039" bIns="65020"/>
          <a:lstStyle/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endParaRPr lang="en-US" sz="26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Line 15">
            <a:extLst>
              <a:ext uri="{FF2B5EF4-FFF2-40B4-BE49-F238E27FC236}">
                <a16:creationId xmlns:a16="http://schemas.microsoft.com/office/drawing/2014/main" id="{31A270F4-28FE-45F5-9BD4-5DB8C2799F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9714" y="6010203"/>
            <a:ext cx="1341408" cy="145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30039" tIns="65020" rIns="130039" bIns="65020"/>
          <a:lstStyle/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endParaRPr lang="en-US" sz="2600" kern="12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F14E9D6-9CDA-4DF7-B127-F66E9501E79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189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31726</TotalTime>
  <Words>1316</Words>
  <Application>Microsoft Macintosh PowerPoint</Application>
  <PresentationFormat>Custom</PresentationFormat>
  <Paragraphs>314</Paragraphs>
  <Slides>22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Consolas</vt:lpstr>
      <vt:lpstr>Courier New</vt:lpstr>
      <vt:lpstr>Gill Sans MT</vt:lpstr>
      <vt:lpstr>Helvetica</vt:lpstr>
      <vt:lpstr>Helvetica Neue</vt:lpstr>
      <vt:lpstr>Helvetica Neue Light</vt:lpstr>
      <vt:lpstr>Lucida Grande</vt:lpstr>
      <vt:lpstr>Times New Roman</vt:lpstr>
      <vt:lpstr>Wingdings</vt:lpstr>
      <vt:lpstr>White</vt:lpstr>
      <vt:lpstr>(S1) Introduction to Internet Sockets</vt:lpstr>
      <vt:lpstr>Sockets</vt:lpstr>
      <vt:lpstr>Network sockets</vt:lpstr>
      <vt:lpstr>Network Protocol Layers</vt:lpstr>
      <vt:lpstr>Why layering?</vt:lpstr>
      <vt:lpstr>Internet protocol stack</vt:lpstr>
      <vt:lpstr>Encapsulation</vt:lpstr>
      <vt:lpstr>IP (Internet Protocol)</vt:lpstr>
      <vt:lpstr>IP Address</vt:lpstr>
      <vt:lpstr>IPv4 examples</vt:lpstr>
      <vt:lpstr>Domain name for dummies</vt:lpstr>
      <vt:lpstr>The Internet Transport Layer</vt:lpstr>
      <vt:lpstr>Ports</vt:lpstr>
      <vt:lpstr>Sockets</vt:lpstr>
      <vt:lpstr>Commonly used TCP port numbers</vt:lpstr>
      <vt:lpstr>Sockets API</vt:lpstr>
      <vt:lpstr>Create a socket</vt:lpstr>
      <vt:lpstr>Send and recv for TCP</vt:lpstr>
      <vt:lpstr>Example: send</vt:lpstr>
      <vt:lpstr>Example: recv</vt:lpstr>
      <vt:lpstr>Study this slide yourself</vt:lpstr>
      <vt:lpstr>IP addressing: CIDR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Sockets Programming</dc:title>
  <dc:creator>zshi</dc:creator>
  <cp:lastModifiedBy>Pattipati, Swamy Narayan Jignaas</cp:lastModifiedBy>
  <cp:revision>488</cp:revision>
  <dcterms:modified xsi:type="dcterms:W3CDTF">2025-11-12T15:34:04Z</dcterms:modified>
</cp:coreProperties>
</file>