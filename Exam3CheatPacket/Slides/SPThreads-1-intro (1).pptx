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333" r:id="rId5"/>
    <p:sldId id="334" r:id="rId6"/>
    <p:sldId id="260" r:id="rId7"/>
    <p:sldId id="335" r:id="rId8"/>
    <p:sldId id="262" r:id="rId9"/>
    <p:sldId id="261" r:id="rId10"/>
    <p:sldId id="336" r:id="rId11"/>
    <p:sldId id="266" r:id="rId12"/>
    <p:sldId id="338" r:id="rId13"/>
    <p:sldId id="347" r:id="rId14"/>
    <p:sldId id="348" r:id="rId15"/>
    <p:sldId id="349" r:id="rId16"/>
    <p:sldId id="355" r:id="rId17"/>
    <p:sldId id="350" r:id="rId18"/>
    <p:sldId id="351" r:id="rId19"/>
    <p:sldId id="343" r:id="rId20"/>
    <p:sldId id="344" r:id="rId21"/>
    <p:sldId id="354" r:id="rId22"/>
    <p:sldId id="367" r:id="rId23"/>
    <p:sldId id="368" r:id="rId24"/>
    <p:sldId id="372" r:id="rId25"/>
    <p:sldId id="303" r:id="rId26"/>
    <p:sldId id="346" r:id="rId27"/>
    <p:sldId id="369" r:id="rId28"/>
    <p:sldId id="370" r:id="rId29"/>
    <p:sldId id="371" r:id="rId30"/>
    <p:sldId id="352" r:id="rId31"/>
    <p:sldId id="366" r:id="rId32"/>
    <p:sldId id="323" r:id="rId33"/>
    <p:sldId id="304" r:id="rId34"/>
    <p:sldId id="322" r:id="rId35"/>
    <p:sldId id="310" r:id="rId36"/>
    <p:sldId id="311" r:id="rId37"/>
    <p:sldId id="312" r:id="rId38"/>
    <p:sldId id="313" r:id="rId39"/>
    <p:sldId id="288" r:id="rId40"/>
    <p:sldId id="289" r:id="rId41"/>
    <p:sldId id="291" r:id="rId42"/>
    <p:sldId id="290" r:id="rId43"/>
    <p:sldId id="298" r:id="rId44"/>
    <p:sldId id="299" r:id="rId45"/>
    <p:sldId id="300" r:id="rId46"/>
    <p:sldId id="301" r:id="rId47"/>
    <p:sldId id="302" r:id="rId48"/>
    <p:sldId id="324" r:id="rId49"/>
    <p:sldId id="327" r:id="rId50"/>
    <p:sldId id="314" r:id="rId51"/>
    <p:sldId id="315" r:id="rId52"/>
    <p:sldId id="316" r:id="rId53"/>
    <p:sldId id="317" r:id="rId54"/>
    <p:sldId id="326" r:id="rId55"/>
    <p:sldId id="318" r:id="rId56"/>
    <p:sldId id="319" r:id="rId57"/>
    <p:sldId id="320" r:id="rId5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7"/>
    <p:restoredTop sz="77507" autoAdjust="0"/>
  </p:normalViewPr>
  <p:slideViewPr>
    <p:cSldViewPr snapToGrid="0">
      <p:cViewPr varScale="1">
        <p:scale>
          <a:sx n="98" d="100"/>
          <a:sy n="98" d="100"/>
        </p:scale>
        <p:origin x="2744" y="20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8334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5428B8DE-D7EF-4181-A85E-509C415FECA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270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30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also expensive.</a:t>
            </a:r>
          </a:p>
        </p:txBody>
      </p:sp>
    </p:spTree>
    <p:extLst>
      <p:ext uri="{BB962C8B-B14F-4D97-AF65-F5344CB8AC3E}">
        <p14:creationId xmlns:p14="http://schemas.microsoft.com/office/powerpoint/2010/main" val="405030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Life-cycle distinct from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284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131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9pPr>
          </a:lstStyle>
          <a:p>
            <a:pPr eaLnBrk="1" hangingPunct="1"/>
            <a:fld id="{094F0EC8-9A5E-43B9-9958-C16964E85213}" type="slidenum">
              <a:rPr lang="en-US" altLang="en-US" sz="1200" smtClean="0"/>
              <a:pPr eaLnBrk="1" hangingPunct="1"/>
              <a:t>13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8514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cs typeface="Times New Roman" pitchFamily="18" charset="0"/>
              </a:defRPr>
            </a:lvl9pPr>
          </a:lstStyle>
          <a:p>
            <a:pPr eaLnBrk="1" hangingPunct="1"/>
            <a:fld id="{EDF095BC-8BC1-4A8B-B170-0CD77F6E75F8}" type="slidenum">
              <a:rPr lang="en-US" altLang="en-US" sz="1200" smtClean="0"/>
              <a:pPr eaLnBrk="1" hangingPunct="1"/>
              <a:t>14</a:t>
            </a:fld>
            <a:endParaRPr lang="en-US" alt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0054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BEF15AB-BDA1-4E87-A10C-3D4FC2256AC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919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140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2022B0F-EA92-4B06-8639-6F4725B1B6E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30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145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045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the target specifies in </a:t>
            </a:r>
            <a:r>
              <a:rPr lang="en-US" altLang="en-US" sz="2000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altLang="en-US" sz="2000" dirty="0">
                <a:latin typeface="Courier New" pitchFamily="49" charset="0"/>
                <a:cs typeface="Courier New" pitchFamily="49" charset="0"/>
              </a:rPr>
              <a:t>()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212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B9633C8-DC71-4879-B1BB-4C6CE98CB47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417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r>
              <a:rPr lang="en-US" dirty="0"/>
              <a:t>Process 1, 2, 3,.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77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79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lIns="86493" tIns="43247" rIns="86493" bIns="4324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6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FABE632-065E-42ED-B9E2-835A566CEA5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57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1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9" r:id="rId19"/>
  </p:sldLayoutIdLst>
  <p:transition spd="med"/>
  <p:hf hdr="0" ftr="0" dt="0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if"/><Relationship Id="rId5" Type="http://schemas.openxmlformats.org/officeDocument/2006/relationships/image" Target="../media/image16.tif"/><Relationship Id="rId4" Type="http://schemas.openxmlformats.org/officeDocument/2006/relationships/image" Target="../media/image15.t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tif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ti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puter_science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Operating_system" TargetMode="External"/><Relationship Id="rId4" Type="http://schemas.openxmlformats.org/officeDocument/2006/relationships/hyperlink" Target="http://en.wikipedia.org/wiki/Scheduling_(computing)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Threads Introducti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Threads</a:t>
            </a:r>
            <a:r>
              <a:rPr lang="en-US" dirty="0"/>
              <a:t> 1:</a:t>
            </a:r>
            <a:r>
              <a:rPr dirty="0"/>
              <a:t> Introduction</a:t>
            </a:r>
            <a:r>
              <a:rPr lang="en-US" dirty="0"/>
              <a:t> and Basic Management</a:t>
            </a:r>
            <a:endParaRPr dirty="0"/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908" y="6005655"/>
            <a:ext cx="5080001" cy="358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15" name="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Overview</a:t>
            </a:r>
          </a:p>
        </p:txBody>
      </p:sp>
      <p:pic>
        <p:nvPicPr>
          <p:cNvPr id="2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7" name="Motivation &amp; Concurrenc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Motivation &amp; Concurrency</a:t>
            </a:r>
          </a:p>
          <a:p>
            <a:pPr lvl="1"/>
            <a:r>
              <a:rPr dirty="0"/>
              <a:t>Thread abstraction</a:t>
            </a:r>
          </a:p>
          <a:p>
            <a:r>
              <a:rPr lang="en-US" dirty="0"/>
              <a:t>Thread creation and termination</a:t>
            </a:r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22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222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3" name="Processes for concurrenc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Processes for concurrency</a:t>
            </a:r>
          </a:p>
          <a:p>
            <a:pPr lvl="1"/>
            <a:r>
              <a:rPr dirty="0"/>
              <a:t>Processes do run concurrently on an O.S</a:t>
            </a:r>
            <a:r>
              <a:rPr lang="en-US" dirty="0"/>
              <a:t>.</a:t>
            </a:r>
            <a:endParaRPr dirty="0"/>
          </a:p>
          <a:p>
            <a:pPr lvl="2"/>
            <a:r>
              <a:rPr lang="en-US" dirty="0"/>
              <a:t>On multi-core or single-core processors, through </a:t>
            </a:r>
            <a:r>
              <a:rPr dirty="0"/>
              <a:t>time-sharing</a:t>
            </a:r>
          </a:p>
          <a:p>
            <a:r>
              <a:rPr dirty="0"/>
              <a:t>Processes also provide </a:t>
            </a:r>
            <a:r>
              <a:rPr b="1" i="1" dirty="0"/>
              <a:t>protection</a:t>
            </a:r>
          </a:p>
        </p:txBody>
      </p:sp>
      <p:sp>
        <p:nvSpPr>
          <p:cNvPr id="2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pic>
        <p:nvPicPr>
          <p:cNvPr id="22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144" y="5220274"/>
            <a:ext cx="5866539" cy="3911026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Each processes has </a:t>
            </a:r>
            <a:r>
              <a:rPr lang="en-US" i="1" dirty="0"/>
              <a:t>its own virtual address space</a:t>
            </a:r>
          </a:p>
        </p:txBody>
      </p:sp>
      <p:sp>
        <p:nvSpPr>
          <p:cNvPr id="53270" name="Rectangle 22"/>
          <p:cNvSpPr>
            <a:spLocks noChangeArrowheads="1"/>
          </p:cNvSpPr>
          <p:nvPr/>
        </p:nvSpPr>
        <p:spPr bwMode="auto">
          <a:xfrm>
            <a:off x="9153000" y="7374581"/>
            <a:ext cx="1396782" cy="428919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30048" tIns="65024" rIns="130048" bIns="65024" numCol="1" anchor="ctr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69" name="Rectangle 21"/>
          <p:cNvSpPr>
            <a:spLocks noChangeArrowheads="1"/>
          </p:cNvSpPr>
          <p:nvPr/>
        </p:nvSpPr>
        <p:spPr bwMode="auto">
          <a:xfrm>
            <a:off x="9151211" y="6303588"/>
            <a:ext cx="1395887" cy="428049"/>
          </a:xfrm>
          <a:prstGeom prst="rect">
            <a:avLst/>
          </a:prstGeom>
          <a:solidFill>
            <a:srgbClr val="C0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30048" tIns="65024" rIns="130048" bIns="65024" numCol="1" anchor="ctr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66" name="Rectangle 18"/>
          <p:cNvSpPr>
            <a:spLocks noChangeArrowheads="1"/>
          </p:cNvSpPr>
          <p:nvPr/>
        </p:nvSpPr>
        <p:spPr bwMode="auto">
          <a:xfrm>
            <a:off x="9154790" y="2008307"/>
            <a:ext cx="1394992" cy="6550369"/>
          </a:xfrm>
          <a:prstGeom prst="rect">
            <a:avLst/>
          </a:prstGeom>
          <a:noFill/>
          <a:ln w="762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130048" tIns="65024" rIns="130048" bIns="65024" numCol="1" anchor="ctr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 flipV="1">
            <a:off x="3052539" y="4968328"/>
            <a:ext cx="3874683" cy="57032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130048" tIns="65024" rIns="130048" bIns="65024" numCol="1" anchor="t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099791" y="3484820"/>
            <a:ext cx="3829730" cy="1745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130048" tIns="65024" rIns="130048" bIns="65024" numCol="1" anchor="t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6428273" y="2455855"/>
            <a:ext cx="1884250" cy="431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34" tIns="46167" rIns="92334" bIns="46167" numCol="1" anchor="t" anchorCtr="0" compatLnSpc="1">
            <a:prstTxWarp prst="textNoShape">
              <a:avLst/>
            </a:prstTxWarp>
          </a:bodyPr>
          <a:lstStyle/>
          <a:p>
            <a:pPr algn="l" defTabSz="1300460" rtl="0" fontAlgn="base">
              <a:spcBef>
                <a:spcPct val="0"/>
              </a:spcBef>
              <a:spcAft>
                <a:spcPct val="0"/>
              </a:spcAft>
            </a:pPr>
            <a:r>
              <a:rPr lang="en-US" sz="2276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Page Tables</a:t>
            </a:r>
            <a:endParaRPr lang="en-US" sz="3413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10785114" y="4500082"/>
            <a:ext cx="1820916" cy="75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34" tIns="46167" rIns="92334" bIns="46167" numCol="1" anchor="t" anchorCtr="0" compatLnSpc="1">
            <a:prstTxWarp prst="textNoShape">
              <a:avLst/>
            </a:prstTxWarp>
          </a:bodyPr>
          <a:lstStyle/>
          <a:p>
            <a:pPr algn="l" defTabSz="1300460" rtl="0" fontAlgn="base">
              <a:spcBef>
                <a:spcPct val="0"/>
              </a:spcBef>
              <a:spcAft>
                <a:spcPct val="0"/>
              </a:spcAft>
            </a:pPr>
            <a:r>
              <a:rPr lang="en-US" sz="2276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Physical</a:t>
            </a:r>
            <a:endParaRPr lang="en-US" sz="1138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l" defTabSz="130046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76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Memory</a:t>
            </a:r>
            <a:endParaRPr lang="en-US" sz="3413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>
            <a:off x="7782834" y="3630124"/>
            <a:ext cx="1324704" cy="3988940"/>
          </a:xfrm>
          <a:prstGeom prst="line">
            <a:avLst/>
          </a:prstGeom>
          <a:noFill/>
          <a:ln w="50800">
            <a:solidFill>
              <a:schemeClr val="accent3"/>
            </a:solidFill>
            <a:round/>
            <a:headEnd/>
            <a:tailEnd type="triangle" w="med" len="med"/>
          </a:ln>
        </p:spPr>
        <p:txBody>
          <a:bodyPr vert="horz" wrap="square" lIns="130048" tIns="65024" rIns="130048" bIns="65024" numCol="1" anchor="t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52" name="Line 4"/>
          <p:cNvSpPr>
            <a:spLocks noChangeShapeType="1"/>
          </p:cNvSpPr>
          <p:nvPr/>
        </p:nvSpPr>
        <p:spPr bwMode="auto">
          <a:xfrm>
            <a:off x="7792761" y="4948640"/>
            <a:ext cx="1296262" cy="166815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130048" tIns="65024" rIns="130048" bIns="65024" numCol="1" anchor="t" anchorCtr="0" compatLnSpc="1">
            <a:prstTxWarp prst="textNoShape">
              <a:avLst/>
            </a:prstTxWarp>
          </a:bodyPr>
          <a:lstStyle/>
          <a:p>
            <a:endParaRPr lang="en-US" sz="3413" dirty="0"/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10541074" y="1903064"/>
            <a:ext cx="1177556" cy="537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34" tIns="46167" rIns="92334" bIns="46167" numCol="1" anchor="t" anchorCtr="0" compatLnSpc="1">
            <a:prstTxWarp prst="textNoShape">
              <a:avLst/>
            </a:prstTxWarp>
          </a:bodyPr>
          <a:lstStyle/>
          <a:p>
            <a:pPr algn="l" defTabSz="1300460" rtl="0" fontAlgn="base">
              <a:spcBef>
                <a:spcPct val="0"/>
              </a:spcBef>
              <a:spcAft>
                <a:spcPct val="0"/>
              </a:spcAft>
            </a:pPr>
            <a:r>
              <a:rPr lang="en-US" sz="2844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HIGH</a:t>
            </a:r>
            <a:endParaRPr lang="en-US" sz="3413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785114" y="8023615"/>
            <a:ext cx="1141764" cy="53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34" tIns="46167" rIns="92334" bIns="46167" numCol="1" anchor="t" anchorCtr="0" compatLnSpc="1">
            <a:prstTxWarp prst="textNoShape">
              <a:avLst/>
            </a:prstTxWarp>
          </a:bodyPr>
          <a:lstStyle/>
          <a:p>
            <a:pPr algn="l" defTabSz="1300460" rtl="0" fontAlgn="base">
              <a:spcBef>
                <a:spcPct val="0"/>
              </a:spcBef>
              <a:spcAft>
                <a:spcPct val="0"/>
              </a:spcAft>
            </a:pPr>
            <a:r>
              <a:rPr lang="en-US" sz="2844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LOW</a:t>
            </a:r>
            <a:endParaRPr lang="en-US" sz="3413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lowchart: Magnetic Disk 2"/>
          <p:cNvSpPr/>
          <p:nvPr/>
        </p:nvSpPr>
        <p:spPr>
          <a:xfrm>
            <a:off x="8289877" y="8745599"/>
            <a:ext cx="2941892" cy="964023"/>
          </a:xfrm>
          <a:prstGeom prst="flowChartMagneticDisk">
            <a:avLst/>
          </a:prstGeom>
          <a:solidFill>
            <a:schemeClr val="accent6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62" name="Text Box 8"/>
          <p:cNvSpPr txBox="1">
            <a:spLocks noChangeArrowheads="1"/>
          </p:cNvSpPr>
          <p:nvPr/>
        </p:nvSpPr>
        <p:spPr bwMode="auto">
          <a:xfrm>
            <a:off x="9938325" y="8988268"/>
            <a:ext cx="1820916" cy="753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34" tIns="46167" rIns="92334" bIns="46167" numCol="1" anchor="t" anchorCtr="0" compatLnSpc="1">
            <a:prstTxWarp prst="textNoShape">
              <a:avLst/>
            </a:prstTxWarp>
          </a:bodyPr>
          <a:lstStyle/>
          <a:p>
            <a:pPr algn="l" defTabSz="1300460" rtl="0" fontAlgn="base">
              <a:spcBef>
                <a:spcPct val="0"/>
              </a:spcBef>
              <a:spcAft>
                <a:spcPct val="0"/>
              </a:spcAft>
            </a:pPr>
            <a:r>
              <a:rPr lang="en-US" sz="2276" b="1" dirty="0">
                <a:solidFill>
                  <a:srgbClr val="0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Disk</a:t>
            </a:r>
            <a:endParaRPr lang="en-US" sz="3413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43410" y="2655261"/>
            <a:ext cx="3661137" cy="3168020"/>
            <a:chOff x="2992287" y="2717233"/>
            <a:chExt cx="3661137" cy="3168020"/>
          </a:xfrm>
        </p:grpSpPr>
        <p:sp>
          <p:nvSpPr>
            <p:cNvPr id="53283" name="Rectangle 35"/>
            <p:cNvSpPr>
              <a:spLocks noChangeArrowheads="1"/>
            </p:cNvSpPr>
            <p:nvPr/>
          </p:nvSpPr>
          <p:spPr bwMode="auto">
            <a:xfrm>
              <a:off x="4107619" y="5424091"/>
              <a:ext cx="1395887" cy="428919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53281" name="Rectangle 33"/>
            <p:cNvSpPr>
              <a:spLocks noChangeArrowheads="1"/>
            </p:cNvSpPr>
            <p:nvPr/>
          </p:nvSpPr>
          <p:spPr bwMode="auto">
            <a:xfrm>
              <a:off x="4108514" y="4995171"/>
              <a:ext cx="1396782" cy="4289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53280" name="Text Box 32"/>
            <p:cNvSpPr txBox="1">
              <a:spLocks noChangeArrowheads="1"/>
            </p:cNvSpPr>
            <p:nvPr/>
          </p:nvSpPr>
          <p:spPr bwMode="auto">
            <a:xfrm>
              <a:off x="3216630" y="3293518"/>
              <a:ext cx="1230349" cy="430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2334" tIns="46167" rIns="92334" bIns="46167" numCol="1" anchor="t" anchorCtr="0" compatLnSpc="1">
              <a:prstTxWarp prst="textNoShape">
                <a:avLst/>
              </a:prstTxWarp>
            </a:bodyPr>
            <a:lstStyle/>
            <a:p>
              <a:pPr algn="l" defTabSz="1300460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276" b="1" dirty="0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High  </a:t>
              </a:r>
              <a:endParaRPr lang="en-US" sz="3413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3279" name="Text Box 31"/>
            <p:cNvSpPr txBox="1">
              <a:spLocks noChangeArrowheads="1"/>
            </p:cNvSpPr>
            <p:nvPr/>
          </p:nvSpPr>
          <p:spPr bwMode="auto">
            <a:xfrm>
              <a:off x="2992287" y="2717233"/>
              <a:ext cx="3661137" cy="430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2334" tIns="46167" rIns="92334" bIns="46167" numCol="1" anchor="t" anchorCtr="0" compatLnSpc="1">
              <a:prstTxWarp prst="textNoShape">
                <a:avLst/>
              </a:prstTxWarp>
            </a:bodyPr>
            <a:lstStyle/>
            <a:p>
              <a:pPr algn="l" defTabSz="1300460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276" b="1" dirty="0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Virtual address space 1</a:t>
              </a:r>
              <a:endParaRPr lang="en-US" sz="3413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Rectangle 39"/>
            <p:cNvSpPr>
              <a:spLocks noChangeArrowheads="1"/>
            </p:cNvSpPr>
            <p:nvPr/>
          </p:nvSpPr>
          <p:spPr bwMode="auto">
            <a:xfrm>
              <a:off x="4109529" y="4565446"/>
              <a:ext cx="1396782" cy="4289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4112213" y="4136527"/>
              <a:ext cx="1395887" cy="4289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4112213" y="3707608"/>
              <a:ext cx="1395887" cy="4289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47" name="Rectangle 33"/>
            <p:cNvSpPr>
              <a:spLocks noChangeArrowheads="1"/>
            </p:cNvSpPr>
            <p:nvPr/>
          </p:nvSpPr>
          <p:spPr bwMode="auto">
            <a:xfrm>
              <a:off x="4113108" y="3278688"/>
              <a:ext cx="1396782" cy="428919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60" name="Text Box 36"/>
            <p:cNvSpPr txBox="1">
              <a:spLocks noChangeArrowheads="1"/>
            </p:cNvSpPr>
            <p:nvPr/>
          </p:nvSpPr>
          <p:spPr bwMode="auto">
            <a:xfrm>
              <a:off x="3195507" y="5454594"/>
              <a:ext cx="1230349" cy="430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2334" tIns="46167" rIns="92334" bIns="46167" numCol="1" anchor="t" anchorCtr="0" compatLnSpc="1">
              <a:prstTxWarp prst="textNoShape">
                <a:avLst/>
              </a:prstTxWarp>
            </a:bodyPr>
            <a:lstStyle/>
            <a:p>
              <a:pPr algn="l" defTabSz="1300460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276" b="1" dirty="0">
                  <a:solidFill>
                    <a:srgbClr val="C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Low  </a:t>
              </a:r>
              <a:endParaRPr lang="en-US" sz="3413" dirty="0">
                <a:solidFill>
                  <a:srgbClr val="C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4124613" y="3268644"/>
              <a:ext cx="1376803" cy="2591735"/>
            </a:xfrm>
            <a:prstGeom prst="rect">
              <a:avLst/>
            </a:prstGeom>
            <a:noFill/>
            <a:ln w="5715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25D8E77-79DE-49DB-9766-AD3FB836A07E}"/>
              </a:ext>
            </a:extLst>
          </p:cNvPr>
          <p:cNvGrpSpPr/>
          <p:nvPr/>
        </p:nvGrpSpPr>
        <p:grpSpPr>
          <a:xfrm>
            <a:off x="6963338" y="3496198"/>
            <a:ext cx="815019" cy="1571138"/>
            <a:chOff x="5494604" y="3248492"/>
            <a:chExt cx="815019" cy="1571138"/>
          </a:xfrm>
        </p:grpSpPr>
        <p:sp>
          <p:nvSpPr>
            <p:cNvPr id="53275" name="Rectangle 27"/>
            <p:cNvSpPr>
              <a:spLocks noChangeArrowheads="1"/>
            </p:cNvSpPr>
            <p:nvPr/>
          </p:nvSpPr>
          <p:spPr bwMode="auto">
            <a:xfrm>
              <a:off x="5494604" y="3248492"/>
              <a:ext cx="814121" cy="259677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57" name="Rectangle 27">
              <a:extLst>
                <a:ext uri="{FF2B5EF4-FFF2-40B4-BE49-F238E27FC236}">
                  <a16:creationId xmlns:a16="http://schemas.microsoft.com/office/drawing/2014/main" id="{24BED112-C505-4CFC-9C29-86AC729E9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4604" y="3510867"/>
              <a:ext cx="814121" cy="2596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64" name="Rectangle 27">
              <a:extLst>
                <a:ext uri="{FF2B5EF4-FFF2-40B4-BE49-F238E27FC236}">
                  <a16:creationId xmlns:a16="http://schemas.microsoft.com/office/drawing/2014/main" id="{BA48467F-7804-43FB-899A-84678B1A9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4604" y="3774275"/>
              <a:ext cx="814121" cy="2596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65" name="Rectangle 27">
              <a:extLst>
                <a:ext uri="{FF2B5EF4-FFF2-40B4-BE49-F238E27FC236}">
                  <a16:creationId xmlns:a16="http://schemas.microsoft.com/office/drawing/2014/main" id="{0ABDF859-ECF9-4752-AD9F-D0DA64562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4604" y="4036650"/>
              <a:ext cx="814121" cy="2596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66" name="Rectangle 27">
              <a:extLst>
                <a:ext uri="{FF2B5EF4-FFF2-40B4-BE49-F238E27FC236}">
                  <a16:creationId xmlns:a16="http://schemas.microsoft.com/office/drawing/2014/main" id="{6A263BF7-FFCE-4A2A-AE7A-09FDC9B43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502" y="4297578"/>
              <a:ext cx="814121" cy="2596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67" name="Rectangle 27">
              <a:extLst>
                <a:ext uri="{FF2B5EF4-FFF2-40B4-BE49-F238E27FC236}">
                  <a16:creationId xmlns:a16="http://schemas.microsoft.com/office/drawing/2014/main" id="{85E97032-562D-4E70-A90D-157955935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5502" y="4559953"/>
              <a:ext cx="814121" cy="259677"/>
            </a:xfrm>
            <a:prstGeom prst="rect">
              <a:avLst/>
            </a:prstGeom>
            <a:solidFill>
              <a:srgbClr val="C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2874585" y="2867015"/>
            <a:ext cx="7675197" cy="6489904"/>
            <a:chOff x="2874585" y="2867015"/>
            <a:chExt cx="7675197" cy="6489904"/>
          </a:xfrm>
        </p:grpSpPr>
        <p:sp>
          <p:nvSpPr>
            <p:cNvPr id="75" name="Rectangle 39"/>
            <p:cNvSpPr>
              <a:spLocks noChangeArrowheads="1"/>
            </p:cNvSpPr>
            <p:nvPr/>
          </p:nvSpPr>
          <p:spPr bwMode="auto">
            <a:xfrm>
              <a:off x="4104935" y="7228572"/>
              <a:ext cx="1396782" cy="4289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76" name="Text Box 38"/>
            <p:cNvSpPr txBox="1">
              <a:spLocks noChangeArrowheads="1"/>
            </p:cNvSpPr>
            <p:nvPr/>
          </p:nvSpPr>
          <p:spPr bwMode="auto">
            <a:xfrm>
              <a:off x="2874585" y="6789533"/>
              <a:ext cx="1230349" cy="430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2334" tIns="46167" rIns="92334" bIns="46167" numCol="1" anchor="t" anchorCtr="0" compatLnSpc="1">
              <a:prstTxWarp prst="textNoShape">
                <a:avLst/>
              </a:prstTxWarp>
            </a:bodyPr>
            <a:lstStyle/>
            <a:p>
              <a:pPr algn="l" defTabSz="1300460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276" b="1" dirty="0">
                  <a:solidFill>
                    <a:schemeClr val="accent2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  High</a:t>
              </a:r>
              <a:endParaRPr lang="en-US" sz="3413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Rectangle 37"/>
            <p:cNvSpPr>
              <a:spLocks noChangeArrowheads="1"/>
            </p:cNvSpPr>
            <p:nvPr/>
          </p:nvSpPr>
          <p:spPr bwMode="auto">
            <a:xfrm>
              <a:off x="4112213" y="6825690"/>
              <a:ext cx="1391293" cy="40288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78" name="Text Box 36"/>
            <p:cNvSpPr txBox="1">
              <a:spLocks noChangeArrowheads="1"/>
            </p:cNvSpPr>
            <p:nvPr/>
          </p:nvSpPr>
          <p:spPr bwMode="auto">
            <a:xfrm>
              <a:off x="2974198" y="8926260"/>
              <a:ext cx="1230349" cy="430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2334" tIns="46167" rIns="92334" bIns="46167" numCol="1" anchor="t" anchorCtr="0" compatLnSpc="1">
              <a:prstTxWarp prst="textNoShape">
                <a:avLst/>
              </a:prstTxWarp>
            </a:bodyPr>
            <a:lstStyle/>
            <a:p>
              <a:pPr algn="l" defTabSz="1300460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276" b="1" dirty="0">
                  <a:solidFill>
                    <a:schemeClr val="accent2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Low</a:t>
              </a:r>
              <a:r>
                <a:rPr lang="en-US" sz="2276" b="1" dirty="0">
                  <a:solidFill>
                    <a:srgbClr val="000000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  </a:t>
              </a:r>
              <a:endParaRPr lang="en-US" sz="3413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Rectangle 20"/>
            <p:cNvSpPr>
              <a:spLocks noChangeArrowheads="1"/>
            </p:cNvSpPr>
            <p:nvPr/>
          </p:nvSpPr>
          <p:spPr bwMode="auto">
            <a:xfrm>
              <a:off x="9151211" y="4800196"/>
              <a:ext cx="1395887" cy="4289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0" name="Rectangle 19"/>
            <p:cNvSpPr>
              <a:spLocks noChangeArrowheads="1"/>
            </p:cNvSpPr>
            <p:nvPr/>
          </p:nvSpPr>
          <p:spPr bwMode="auto">
            <a:xfrm>
              <a:off x="9153000" y="2867015"/>
              <a:ext cx="1396782" cy="4289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1" name="Line 13"/>
            <p:cNvSpPr>
              <a:spLocks noChangeShapeType="1"/>
            </p:cNvSpPr>
            <p:nvPr/>
          </p:nvSpPr>
          <p:spPr bwMode="auto">
            <a:xfrm flipV="1">
              <a:off x="5540910" y="7867533"/>
              <a:ext cx="1395887" cy="11419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2" name="Line 12"/>
            <p:cNvSpPr>
              <a:spLocks noChangeShapeType="1"/>
            </p:cNvSpPr>
            <p:nvPr/>
          </p:nvSpPr>
          <p:spPr bwMode="auto">
            <a:xfrm flipV="1">
              <a:off x="5491821" y="6564280"/>
              <a:ext cx="1467937" cy="44765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3" name="Line 7"/>
            <p:cNvSpPr>
              <a:spLocks noChangeShapeType="1"/>
            </p:cNvSpPr>
            <p:nvPr/>
          </p:nvSpPr>
          <p:spPr bwMode="auto">
            <a:xfrm flipV="1">
              <a:off x="7798582" y="5113402"/>
              <a:ext cx="1275139" cy="17055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4" name="Line 6"/>
            <p:cNvSpPr>
              <a:spLocks noChangeShapeType="1"/>
            </p:cNvSpPr>
            <p:nvPr/>
          </p:nvSpPr>
          <p:spPr bwMode="auto">
            <a:xfrm flipV="1">
              <a:off x="7798582" y="3295933"/>
              <a:ext cx="1275139" cy="319630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5" name="Rectangle 39"/>
            <p:cNvSpPr>
              <a:spLocks noChangeArrowheads="1"/>
            </p:cNvSpPr>
            <p:nvPr/>
          </p:nvSpPr>
          <p:spPr bwMode="auto">
            <a:xfrm>
              <a:off x="4097723" y="8941089"/>
              <a:ext cx="1419135" cy="40320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6" name="Rectangle 37"/>
            <p:cNvSpPr>
              <a:spLocks noChangeArrowheads="1"/>
            </p:cNvSpPr>
            <p:nvPr/>
          </p:nvSpPr>
          <p:spPr bwMode="auto">
            <a:xfrm>
              <a:off x="4099513" y="8512170"/>
              <a:ext cx="1421287" cy="42891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7" name="Rectangle 35"/>
            <p:cNvSpPr>
              <a:spLocks noChangeArrowheads="1"/>
            </p:cNvSpPr>
            <p:nvPr/>
          </p:nvSpPr>
          <p:spPr bwMode="auto">
            <a:xfrm>
              <a:off x="4124913" y="8083251"/>
              <a:ext cx="1395887" cy="4289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8" name="Rectangle 33"/>
            <p:cNvSpPr>
              <a:spLocks noChangeArrowheads="1"/>
            </p:cNvSpPr>
            <p:nvPr/>
          </p:nvSpPr>
          <p:spPr bwMode="auto">
            <a:xfrm>
              <a:off x="4125808" y="7654331"/>
              <a:ext cx="1396782" cy="42891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130048" tIns="65024" rIns="130048" bIns="65024" numCol="1" anchor="ctr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89" name="Line 11"/>
            <p:cNvSpPr>
              <a:spLocks noChangeShapeType="1"/>
            </p:cNvSpPr>
            <p:nvPr/>
          </p:nvSpPr>
          <p:spPr bwMode="auto">
            <a:xfrm flipV="1">
              <a:off x="5513163" y="6848068"/>
              <a:ext cx="1403821" cy="62056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90" name="Line 11"/>
            <p:cNvSpPr>
              <a:spLocks noChangeShapeType="1"/>
            </p:cNvSpPr>
            <p:nvPr/>
          </p:nvSpPr>
          <p:spPr bwMode="auto">
            <a:xfrm flipV="1">
              <a:off x="5495401" y="7627472"/>
              <a:ext cx="1431822" cy="10562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91" name="Line 5"/>
            <p:cNvSpPr>
              <a:spLocks noChangeShapeType="1"/>
            </p:cNvSpPr>
            <p:nvPr/>
          </p:nvSpPr>
          <p:spPr bwMode="auto">
            <a:xfrm>
              <a:off x="7777460" y="7566712"/>
              <a:ext cx="1324704" cy="51859"/>
            </a:xfrm>
            <a:prstGeom prst="line">
              <a:avLst/>
            </a:prstGeom>
            <a:noFill/>
            <a:ln w="50800">
              <a:solidFill>
                <a:schemeClr val="accent3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92" name="Line 5"/>
            <p:cNvSpPr>
              <a:spLocks noChangeShapeType="1"/>
            </p:cNvSpPr>
            <p:nvPr/>
          </p:nvSpPr>
          <p:spPr bwMode="auto">
            <a:xfrm>
              <a:off x="7777460" y="7810456"/>
              <a:ext cx="1330078" cy="1041065"/>
            </a:xfrm>
            <a:prstGeom prst="line">
              <a:avLst/>
            </a:prstGeom>
            <a:noFill/>
            <a:ln w="50800">
              <a:solidFill>
                <a:schemeClr val="accent6"/>
              </a:solidFill>
              <a:round/>
              <a:headEnd/>
              <a:tailEnd type="triangle" w="med" len="med"/>
            </a:ln>
          </p:spPr>
          <p:txBody>
            <a:bodyPr vert="horz" wrap="square" lIns="130048" tIns="65024" rIns="130048" bIns="65024" numCol="1" anchor="t" anchorCtr="0" compatLnSpc="1">
              <a:prstTxWarp prst="textNoShape">
                <a:avLst/>
              </a:prstTxWarp>
            </a:bodyPr>
            <a:lstStyle/>
            <a:p>
              <a:endParaRPr lang="en-US" sz="3413" dirty="0"/>
            </a:p>
          </p:txBody>
        </p:sp>
        <p:sp>
          <p:nvSpPr>
            <p:cNvPr id="93" name="Text Box 31"/>
            <p:cNvSpPr txBox="1">
              <a:spLocks noChangeArrowheads="1"/>
            </p:cNvSpPr>
            <p:nvPr/>
          </p:nvSpPr>
          <p:spPr bwMode="auto">
            <a:xfrm>
              <a:off x="2874585" y="6310597"/>
              <a:ext cx="3661137" cy="4306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2334" tIns="46167" rIns="92334" bIns="46167" numCol="1" anchor="t" anchorCtr="0" compatLnSpc="1">
              <a:prstTxWarp prst="textNoShape">
                <a:avLst/>
              </a:prstTxWarp>
            </a:bodyPr>
            <a:lstStyle/>
            <a:p>
              <a:pPr algn="l" defTabSz="1300460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276" b="1" dirty="0">
                  <a:solidFill>
                    <a:schemeClr val="accent2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Virtual address space 2 </a:t>
              </a:r>
              <a:endParaRPr lang="en-US" sz="3413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118306" y="6809108"/>
              <a:ext cx="1387172" cy="2535183"/>
            </a:xfrm>
            <a:prstGeom prst="rect">
              <a:avLst/>
            </a:prstGeom>
            <a:noFill/>
            <a:ln w="57150" cap="flat">
              <a:solidFill>
                <a:srgbClr val="00B05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8100" tIns="38100" rIns="38100" bIns="381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318250D-294B-4C59-AA69-7C27EC0D35ED}"/>
                </a:ext>
              </a:extLst>
            </p:cNvPr>
            <p:cNvGrpSpPr/>
            <p:nvPr/>
          </p:nvGrpSpPr>
          <p:grpSpPr>
            <a:xfrm>
              <a:off x="6964236" y="6385553"/>
              <a:ext cx="815019" cy="1571138"/>
              <a:chOff x="5542930" y="6455378"/>
              <a:chExt cx="815019" cy="1571138"/>
            </a:xfrm>
          </p:grpSpPr>
          <p:sp>
            <p:nvSpPr>
              <p:cNvPr id="96" name="Rectangle 27">
                <a:extLst>
                  <a:ext uri="{FF2B5EF4-FFF2-40B4-BE49-F238E27FC236}">
                    <a16:creationId xmlns:a16="http://schemas.microsoft.com/office/drawing/2014/main" id="{F2E6880D-8810-4F2B-A9CC-AE61949A3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930" y="6455378"/>
                <a:ext cx="814121" cy="25967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30048" tIns="65024" rIns="130048" bIns="65024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3413" dirty="0"/>
              </a:p>
            </p:txBody>
          </p:sp>
          <p:sp>
            <p:nvSpPr>
              <p:cNvPr id="97" name="Rectangle 27">
                <a:extLst>
                  <a:ext uri="{FF2B5EF4-FFF2-40B4-BE49-F238E27FC236}">
                    <a16:creationId xmlns:a16="http://schemas.microsoft.com/office/drawing/2014/main" id="{DEB5469B-A83C-416B-90DE-B2CEC78A2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930" y="6717753"/>
                <a:ext cx="814121" cy="25967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30048" tIns="65024" rIns="130048" bIns="65024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3413" dirty="0"/>
              </a:p>
            </p:txBody>
          </p:sp>
          <p:sp>
            <p:nvSpPr>
              <p:cNvPr id="98" name="Rectangle 27">
                <a:extLst>
                  <a:ext uri="{FF2B5EF4-FFF2-40B4-BE49-F238E27FC236}">
                    <a16:creationId xmlns:a16="http://schemas.microsoft.com/office/drawing/2014/main" id="{910A7C46-BD33-4195-AA60-B91A2A7D7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930" y="6981161"/>
                <a:ext cx="814121" cy="25967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30048" tIns="65024" rIns="130048" bIns="65024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3413" dirty="0"/>
              </a:p>
            </p:txBody>
          </p:sp>
          <p:sp>
            <p:nvSpPr>
              <p:cNvPr id="99" name="Rectangle 27">
                <a:extLst>
                  <a:ext uri="{FF2B5EF4-FFF2-40B4-BE49-F238E27FC236}">
                    <a16:creationId xmlns:a16="http://schemas.microsoft.com/office/drawing/2014/main" id="{D4F27264-F379-49A8-A9C9-B95F9A471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2930" y="7243536"/>
                <a:ext cx="814121" cy="25967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30048" tIns="65024" rIns="130048" bIns="65024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3413" dirty="0"/>
              </a:p>
            </p:txBody>
          </p:sp>
          <p:sp>
            <p:nvSpPr>
              <p:cNvPr id="100" name="Rectangle 27">
                <a:extLst>
                  <a:ext uri="{FF2B5EF4-FFF2-40B4-BE49-F238E27FC236}">
                    <a16:creationId xmlns:a16="http://schemas.microsoft.com/office/drawing/2014/main" id="{B68C2551-C19F-4BC9-823C-15DD07CC3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3828" y="7504464"/>
                <a:ext cx="814121" cy="25967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30048" tIns="65024" rIns="130048" bIns="65024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3413" dirty="0"/>
              </a:p>
            </p:txBody>
          </p:sp>
          <p:sp>
            <p:nvSpPr>
              <p:cNvPr id="101" name="Rectangle 27">
                <a:extLst>
                  <a:ext uri="{FF2B5EF4-FFF2-40B4-BE49-F238E27FC236}">
                    <a16:creationId xmlns:a16="http://schemas.microsoft.com/office/drawing/2014/main" id="{B0CD26B3-8AFD-4911-BC6F-A7018619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3828" y="7766839"/>
                <a:ext cx="814121" cy="25967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130048" tIns="65024" rIns="130048" bIns="65024" numCol="1" anchor="ctr" anchorCtr="0" compatLnSpc="1">
                <a:prstTxWarp prst="textNoShape">
                  <a:avLst/>
                </a:prstTxWarp>
              </a:bodyPr>
              <a:lstStyle/>
              <a:p>
                <a:endParaRPr lang="en-US" sz="3413" dirty="0"/>
              </a:p>
            </p:txBody>
          </p:sp>
        </p:grp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58CDC8-634A-43E7-95BC-1071974636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574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4000" dirty="0"/>
              <a:t>Each process lives alone </a:t>
            </a:r>
            <a:r>
              <a:rPr lang="en-US" sz="4000" i="1" dirty="0"/>
              <a:t>in its own castle</a:t>
            </a:r>
            <a:r>
              <a:rPr lang="en-US" sz="4000" dirty="0"/>
              <a:t> </a:t>
            </a:r>
            <a:endParaRPr sz="4000" dirty="0"/>
          </a:p>
        </p:txBody>
      </p:sp>
      <p:pic>
        <p:nvPicPr>
          <p:cNvPr id="103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2909940"/>
            <a:ext cx="13004801" cy="54483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DFD519-2DB0-4FB7-8BE1-E44FC9973AB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9008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Why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Why?</a:t>
            </a:r>
          </a:p>
        </p:txBody>
      </p:sp>
      <p:sp>
        <p:nvSpPr>
          <p:cNvPr id="23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238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39" name="Well…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Well…</a:t>
            </a:r>
          </a:p>
          <a:p>
            <a:pPr lvl="1"/>
            <a:r>
              <a:rPr dirty="0"/>
              <a:t>Nobody can interfere</a:t>
            </a:r>
          </a:p>
          <a:p>
            <a:pPr lvl="1"/>
            <a:r>
              <a:rPr dirty="0"/>
              <a:t>Nobody can move </a:t>
            </a:r>
            <a:r>
              <a:rPr lang="en-US" dirty="0"/>
              <a:t>her</a:t>
            </a:r>
            <a:r>
              <a:rPr dirty="0"/>
              <a:t> “stuff”</a:t>
            </a:r>
          </a:p>
          <a:p>
            <a:pPr lvl="1"/>
            <a:r>
              <a:rPr dirty="0"/>
              <a:t>Nobody can play with </a:t>
            </a:r>
            <a:r>
              <a:rPr lang="en-US" dirty="0"/>
              <a:t>her</a:t>
            </a:r>
            <a:r>
              <a:rPr dirty="0"/>
              <a:t> “stuff”</a:t>
            </a:r>
          </a:p>
          <a:p>
            <a:pPr lvl="1"/>
            <a:r>
              <a:rPr dirty="0"/>
              <a:t>Nobody can break </a:t>
            </a:r>
            <a:r>
              <a:rPr lang="en-US" dirty="0"/>
              <a:t>her</a:t>
            </a:r>
            <a:r>
              <a:rPr dirty="0"/>
              <a:t> toys</a:t>
            </a:r>
          </a:p>
          <a:p>
            <a:r>
              <a:rPr dirty="0"/>
              <a:t>It is very </a:t>
            </a:r>
            <a:r>
              <a:rPr dirty="0" err="1"/>
              <a:t>very</a:t>
            </a:r>
            <a:r>
              <a:rPr dirty="0"/>
              <a:t> safe!</a:t>
            </a:r>
          </a:p>
        </p:txBody>
      </p:sp>
      <p:sp>
        <p:nvSpPr>
          <p:cNvPr id="2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Downsides ?</a:t>
            </a:r>
          </a:p>
        </p:txBody>
      </p:sp>
      <p:sp>
        <p:nvSpPr>
          <p:cNvPr id="110" name="Shape 1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Nobody to play with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747474"/>
                </a:solidFill>
              </a:rPr>
              <a:t>Y</a:t>
            </a:r>
            <a:r>
              <a:rPr sz="3000" dirty="0">
                <a:solidFill>
                  <a:srgbClr val="747474"/>
                </a:solidFill>
              </a:rPr>
              <a:t>ou can get bored quite quickly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Nobody to do your chores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Do </a:t>
            </a:r>
            <a:r>
              <a:rPr sz="3000" i="1" dirty="0">
                <a:solidFill>
                  <a:srgbClr val="747474"/>
                </a:solidFill>
              </a:rPr>
              <a:t>everything</a:t>
            </a:r>
            <a:r>
              <a:rPr sz="3000" dirty="0">
                <a:solidFill>
                  <a:srgbClr val="747474"/>
                </a:solidFill>
              </a:rPr>
              <a:t> yourself!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You can’t </a:t>
            </a:r>
            <a:r>
              <a:rPr sz="3000">
                <a:solidFill>
                  <a:srgbClr val="941100"/>
                </a:solidFill>
              </a:rPr>
              <a:t>leave </a:t>
            </a:r>
            <a:r>
              <a:rPr lang="en-US" sz="3000">
                <a:solidFill>
                  <a:srgbClr val="941100"/>
                </a:solidFill>
              </a:rPr>
              <a:t>the</a:t>
            </a:r>
            <a:r>
              <a:rPr sz="3000">
                <a:solidFill>
                  <a:srgbClr val="941100"/>
                </a:solidFill>
              </a:rPr>
              <a:t> castle…</a:t>
            </a:r>
            <a:endParaRPr sz="3000" dirty="0">
              <a:solidFill>
                <a:srgbClr val="941100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It is also your prison</a:t>
            </a:r>
          </a:p>
          <a:p>
            <a:pPr lvl="0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Communication with the outside is tricky and very limited (but safe)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Banging on a pipe…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Smoke signals…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Sockets…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EF60A-A17E-4F6B-A7EB-99E8315ADD4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324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Where are your buddie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Where are </a:t>
            </a:r>
            <a:r>
              <a:rPr lang="en-US" dirty="0"/>
              <a:t>her</a:t>
            </a:r>
            <a:r>
              <a:rPr dirty="0"/>
              <a:t> buddies</a:t>
            </a:r>
            <a:r>
              <a:rPr lang="en-US" dirty="0"/>
              <a:t> (e.g., processes)</a:t>
            </a:r>
            <a:r>
              <a:rPr dirty="0"/>
              <a:t>?</a:t>
            </a:r>
          </a:p>
        </p:txBody>
      </p:sp>
      <p:sp>
        <p:nvSpPr>
          <p:cNvPr id="24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5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51" name="In other castles!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11861800" cy="2709171"/>
          </a:xfrm>
          <a:prstGeom prst="rect">
            <a:avLst/>
          </a:prstGeom>
        </p:spPr>
        <p:txBody>
          <a:bodyPr/>
          <a:lstStyle/>
          <a:p>
            <a:r>
              <a:rPr dirty="0"/>
              <a:t>In other castles!</a:t>
            </a:r>
          </a:p>
          <a:p>
            <a:pPr lvl="1"/>
            <a:r>
              <a:rPr dirty="0"/>
              <a:t>Equally alone / isolated</a:t>
            </a:r>
          </a:p>
          <a:p>
            <a:pPr lvl="1"/>
            <a:r>
              <a:rPr dirty="0"/>
              <a:t>You cannot get together easily</a:t>
            </a:r>
          </a:p>
          <a:p>
            <a:pPr lvl="1"/>
            <a:r>
              <a:rPr dirty="0"/>
              <a:t>Sharing is limited</a:t>
            </a:r>
          </a:p>
        </p:txBody>
      </p:sp>
      <p:sp>
        <p:nvSpPr>
          <p:cNvPr id="2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3" y="7075050"/>
            <a:ext cx="3492501" cy="2336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940" y="2407898"/>
            <a:ext cx="3492501" cy="2324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216" y="6836637"/>
            <a:ext cx="3124201" cy="2603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091" y="5009876"/>
            <a:ext cx="3758617" cy="28189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Downsides 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Downsides ?</a:t>
            </a:r>
          </a:p>
        </p:txBody>
      </p:sp>
      <p:sp>
        <p:nvSpPr>
          <p:cNvPr id="24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44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45" name="Nobody to play with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What if the princess has a lot to do?</a:t>
            </a:r>
          </a:p>
          <a:p>
            <a:pPr lvl="1"/>
            <a:r>
              <a:rPr dirty="0"/>
              <a:t>Nobody to do </a:t>
            </a:r>
            <a:r>
              <a:rPr lang="en-US" dirty="0"/>
              <a:t>her</a:t>
            </a:r>
            <a:r>
              <a:rPr dirty="0"/>
              <a:t> chores</a:t>
            </a:r>
          </a:p>
          <a:p>
            <a:pPr lvl="1"/>
            <a:r>
              <a:rPr dirty="0"/>
              <a:t>Do </a:t>
            </a:r>
            <a:r>
              <a:rPr i="1" dirty="0"/>
              <a:t>everything</a:t>
            </a:r>
            <a:r>
              <a:rPr dirty="0"/>
              <a:t> </a:t>
            </a:r>
            <a:r>
              <a:rPr lang="en-US" dirty="0"/>
              <a:t>herself!</a:t>
            </a:r>
          </a:p>
          <a:p>
            <a:r>
              <a:rPr dirty="0"/>
              <a:t>Communication with the </a:t>
            </a:r>
            <a:r>
              <a:rPr lang="en-US" dirty="0"/>
              <a:t>other princess </a:t>
            </a:r>
            <a:r>
              <a:rPr dirty="0"/>
              <a:t>is tricky and very limited (but safe)</a:t>
            </a:r>
          </a:p>
          <a:p>
            <a:pPr lvl="1"/>
            <a:r>
              <a:rPr dirty="0"/>
              <a:t>Banging on a pipe…</a:t>
            </a:r>
            <a:endParaRPr lang="en-US" dirty="0"/>
          </a:p>
          <a:p>
            <a:pPr lvl="1"/>
            <a:r>
              <a:rPr lang="en-US" dirty="0"/>
              <a:t>Smoking signals…</a:t>
            </a:r>
            <a:endParaRPr dirty="0"/>
          </a:p>
          <a:p>
            <a:pPr lvl="1"/>
            <a:r>
              <a:rPr dirty="0"/>
              <a:t>Sockets…</a:t>
            </a:r>
          </a:p>
        </p:txBody>
      </p:sp>
      <p:sp>
        <p:nvSpPr>
          <p:cNvPr id="2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 dirty="0"/>
              <a:t>Threads </a:t>
            </a:r>
            <a:r>
              <a:rPr lang="en-US" sz="4000" dirty="0"/>
              <a:t>?</a:t>
            </a:r>
            <a:endParaRPr sz="4000" dirty="0"/>
          </a:p>
        </p:txBody>
      </p:sp>
      <p:sp>
        <p:nvSpPr>
          <p:cNvPr id="127" name="Shape 12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Inviting other “living creatures” inside your castle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These “creatures” can:</a:t>
            </a:r>
          </a:p>
          <a:p>
            <a:pPr lvl="2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Move around independently of you</a:t>
            </a:r>
          </a:p>
          <a:p>
            <a:pPr lvl="2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Do work / chores on your behalf</a:t>
            </a:r>
          </a:p>
          <a:p>
            <a:pPr lvl="2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Communicate on your behalf</a:t>
            </a:r>
          </a:p>
          <a:p>
            <a:pPr lvl="2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Play with you </a:t>
            </a:r>
          </a:p>
          <a:p>
            <a:pPr lvl="2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Use/</a:t>
            </a:r>
            <a:r>
              <a:rPr lang="en-US" sz="3000" dirty="0">
                <a:solidFill>
                  <a:srgbClr val="747474"/>
                </a:solidFill>
              </a:rPr>
              <a:t>s</a:t>
            </a:r>
            <a:r>
              <a:rPr sz="3000" dirty="0">
                <a:solidFill>
                  <a:srgbClr val="747474"/>
                </a:solidFill>
              </a:rPr>
              <a:t>hare your toys</a:t>
            </a:r>
          </a:p>
          <a:p>
            <a:pPr lvl="2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…</a:t>
            </a:r>
          </a:p>
          <a:p>
            <a:pPr lvl="0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941100"/>
                </a:solidFill>
              </a:rPr>
              <a:t>Essentially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No limits on their abilities in the address space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As powerful as the “Lord of the Castle”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9AA24B-B9F3-4096-B3F6-3FE66DB3519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959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fining our defini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Refining our definitions</a:t>
            </a:r>
          </a:p>
        </p:txBody>
      </p:sp>
      <p:sp>
        <p:nvSpPr>
          <p:cNvPr id="27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9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0" name="Proces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Process</a:t>
            </a:r>
            <a:r>
              <a:rPr lang="en-US" dirty="0"/>
              <a:t> i</a:t>
            </a:r>
            <a:r>
              <a:rPr dirty="0"/>
              <a:t>s a bundle grouping</a:t>
            </a:r>
          </a:p>
          <a:p>
            <a:pPr lvl="2"/>
            <a:r>
              <a:rPr dirty="0"/>
              <a:t>A virtual address space				[memory]</a:t>
            </a:r>
          </a:p>
          <a:p>
            <a:pPr lvl="2"/>
            <a:r>
              <a:rPr dirty="0"/>
              <a:t>A collection of files / sockets			[IO]</a:t>
            </a:r>
          </a:p>
          <a:p>
            <a:pPr lvl="2"/>
            <a:r>
              <a:rPr dirty="0"/>
              <a:t>A collection of </a:t>
            </a:r>
            <a:r>
              <a:rPr dirty="0">
                <a:solidFill>
                  <a:schemeClr val="accent1"/>
                </a:solidFill>
              </a:rPr>
              <a:t>concurrent threads</a:t>
            </a:r>
            <a:r>
              <a:rPr i="1" dirty="0"/>
              <a:t>	</a:t>
            </a:r>
            <a:r>
              <a:rPr dirty="0"/>
              <a:t>[execution units]</a:t>
            </a:r>
          </a:p>
          <a:p>
            <a:r>
              <a:rPr dirty="0"/>
              <a:t>Thread</a:t>
            </a:r>
            <a:r>
              <a:rPr lang="en-US" dirty="0"/>
              <a:t> is a</a:t>
            </a:r>
            <a:r>
              <a:rPr dirty="0"/>
              <a:t> light-weight entity	</a:t>
            </a:r>
          </a:p>
          <a:p>
            <a:pPr lvl="1"/>
            <a:r>
              <a:rPr lang="en-US" dirty="0"/>
              <a:t>Can run concurrently with other threads</a:t>
            </a:r>
          </a:p>
          <a:p>
            <a:pPr lvl="1"/>
            <a:r>
              <a:rPr lang="en-US" dirty="0"/>
              <a:t>Share resources in the process 	[having same rights]</a:t>
            </a:r>
          </a:p>
          <a:p>
            <a:pPr lvl="1"/>
            <a:r>
              <a:rPr dirty="0"/>
              <a:t>Confined to a single process		[cannot “move” to another]</a:t>
            </a:r>
          </a:p>
          <a:p>
            <a:pPr lvl="1"/>
            <a:r>
              <a:rPr lang="en-US" dirty="0"/>
              <a:t>Can be created and destroyed	      [different life cycles]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Light-weight 'processes' that share the address space (and other resources) in a process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283" name="Image" descr="Image"/>
          <p:cNvPicPr>
            <a:picLocks noChangeAspect="1"/>
          </p:cNvPicPr>
          <p:nvPr/>
        </p:nvPicPr>
        <p:blipFill>
          <a:blip r:embed="rId4"/>
          <a:srcRect l="3781" t="3781" r="8666" b="7411"/>
          <a:stretch>
            <a:fillRect/>
          </a:stretch>
        </p:blipFill>
        <p:spPr>
          <a:xfrm>
            <a:off x="11354235" y="2216277"/>
            <a:ext cx="1219201" cy="1394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4" extrusionOk="0">
                <a:moveTo>
                  <a:pt x="0" y="0"/>
                </a:moveTo>
                <a:lnTo>
                  <a:pt x="0" y="19283"/>
                </a:lnTo>
                <a:cubicBezTo>
                  <a:pt x="55" y="19248"/>
                  <a:pt x="101" y="19208"/>
                  <a:pt x="127" y="19130"/>
                </a:cubicBezTo>
                <a:cubicBezTo>
                  <a:pt x="202" y="18896"/>
                  <a:pt x="201" y="18899"/>
                  <a:pt x="394" y="19118"/>
                </a:cubicBezTo>
                <a:cubicBezTo>
                  <a:pt x="576" y="19323"/>
                  <a:pt x="600" y="19322"/>
                  <a:pt x="717" y="19142"/>
                </a:cubicBezTo>
                <a:cubicBezTo>
                  <a:pt x="905" y="18854"/>
                  <a:pt x="1437" y="18898"/>
                  <a:pt x="1603" y="19216"/>
                </a:cubicBezTo>
                <a:cubicBezTo>
                  <a:pt x="1766" y="19527"/>
                  <a:pt x="1977" y="19590"/>
                  <a:pt x="2630" y="19522"/>
                </a:cubicBezTo>
                <a:cubicBezTo>
                  <a:pt x="2988" y="19485"/>
                  <a:pt x="3091" y="19434"/>
                  <a:pt x="3038" y="19314"/>
                </a:cubicBezTo>
                <a:cubicBezTo>
                  <a:pt x="2931" y="19072"/>
                  <a:pt x="3072" y="18942"/>
                  <a:pt x="3319" y="19056"/>
                </a:cubicBezTo>
                <a:cubicBezTo>
                  <a:pt x="3437" y="19111"/>
                  <a:pt x="3652" y="19183"/>
                  <a:pt x="3790" y="19222"/>
                </a:cubicBezTo>
                <a:cubicBezTo>
                  <a:pt x="4030" y="19288"/>
                  <a:pt x="4026" y="19301"/>
                  <a:pt x="3727" y="19498"/>
                </a:cubicBezTo>
                <a:cubicBezTo>
                  <a:pt x="3395" y="19716"/>
                  <a:pt x="3380" y="19703"/>
                  <a:pt x="4029" y="19878"/>
                </a:cubicBezTo>
                <a:cubicBezTo>
                  <a:pt x="4138" y="19907"/>
                  <a:pt x="4192" y="20036"/>
                  <a:pt x="4170" y="20215"/>
                </a:cubicBezTo>
                <a:cubicBezTo>
                  <a:pt x="4136" y="20479"/>
                  <a:pt x="4170" y="20502"/>
                  <a:pt x="4500" y="20460"/>
                </a:cubicBezTo>
                <a:cubicBezTo>
                  <a:pt x="4710" y="20433"/>
                  <a:pt x="4919" y="20474"/>
                  <a:pt x="4999" y="20558"/>
                </a:cubicBezTo>
                <a:cubicBezTo>
                  <a:pt x="5002" y="20561"/>
                  <a:pt x="5011" y="20562"/>
                  <a:pt x="5013" y="20564"/>
                </a:cubicBezTo>
                <a:cubicBezTo>
                  <a:pt x="5200" y="20586"/>
                  <a:pt x="5302" y="20622"/>
                  <a:pt x="5323" y="20668"/>
                </a:cubicBezTo>
                <a:cubicBezTo>
                  <a:pt x="5333" y="20692"/>
                  <a:pt x="5359" y="20698"/>
                  <a:pt x="5379" y="20711"/>
                </a:cubicBezTo>
                <a:cubicBezTo>
                  <a:pt x="5427" y="20712"/>
                  <a:pt x="5475" y="20723"/>
                  <a:pt x="5520" y="20736"/>
                </a:cubicBezTo>
                <a:cubicBezTo>
                  <a:pt x="5562" y="20732"/>
                  <a:pt x="5597" y="20729"/>
                  <a:pt x="5653" y="20711"/>
                </a:cubicBezTo>
                <a:cubicBezTo>
                  <a:pt x="5803" y="20662"/>
                  <a:pt x="6052" y="20662"/>
                  <a:pt x="6202" y="20711"/>
                </a:cubicBezTo>
                <a:cubicBezTo>
                  <a:pt x="6405" y="20778"/>
                  <a:pt x="6491" y="20758"/>
                  <a:pt x="6553" y="20619"/>
                </a:cubicBezTo>
                <a:cubicBezTo>
                  <a:pt x="6626" y="20454"/>
                  <a:pt x="6653" y="20452"/>
                  <a:pt x="6785" y="20601"/>
                </a:cubicBezTo>
                <a:cubicBezTo>
                  <a:pt x="6883" y="20711"/>
                  <a:pt x="7141" y="20768"/>
                  <a:pt x="7545" y="20766"/>
                </a:cubicBezTo>
                <a:cubicBezTo>
                  <a:pt x="7768" y="20765"/>
                  <a:pt x="7886" y="20780"/>
                  <a:pt x="7988" y="20803"/>
                </a:cubicBezTo>
                <a:cubicBezTo>
                  <a:pt x="8020" y="20776"/>
                  <a:pt x="8051" y="20750"/>
                  <a:pt x="8079" y="20717"/>
                </a:cubicBezTo>
                <a:cubicBezTo>
                  <a:pt x="8198" y="20578"/>
                  <a:pt x="8261" y="20610"/>
                  <a:pt x="8438" y="20907"/>
                </a:cubicBezTo>
                <a:cubicBezTo>
                  <a:pt x="8599" y="21180"/>
                  <a:pt x="8689" y="21241"/>
                  <a:pt x="8845" y="21165"/>
                </a:cubicBezTo>
                <a:cubicBezTo>
                  <a:pt x="9113" y="21034"/>
                  <a:pt x="9520" y="21131"/>
                  <a:pt x="9809" y="21392"/>
                </a:cubicBezTo>
                <a:cubicBezTo>
                  <a:pt x="10039" y="21600"/>
                  <a:pt x="10051" y="21600"/>
                  <a:pt x="10350" y="21355"/>
                </a:cubicBezTo>
                <a:cubicBezTo>
                  <a:pt x="10709" y="21061"/>
                  <a:pt x="11686" y="20970"/>
                  <a:pt x="11918" y="21214"/>
                </a:cubicBezTo>
                <a:cubicBezTo>
                  <a:pt x="12026" y="21327"/>
                  <a:pt x="12106" y="21337"/>
                  <a:pt x="12234" y="21244"/>
                </a:cubicBezTo>
                <a:cubicBezTo>
                  <a:pt x="12328" y="21177"/>
                  <a:pt x="12490" y="21149"/>
                  <a:pt x="12593" y="21183"/>
                </a:cubicBezTo>
                <a:cubicBezTo>
                  <a:pt x="12695" y="21217"/>
                  <a:pt x="12812" y="21199"/>
                  <a:pt x="12853" y="21140"/>
                </a:cubicBezTo>
                <a:cubicBezTo>
                  <a:pt x="12895" y="21082"/>
                  <a:pt x="12990" y="21061"/>
                  <a:pt x="13057" y="21097"/>
                </a:cubicBezTo>
                <a:cubicBezTo>
                  <a:pt x="13125" y="21134"/>
                  <a:pt x="13255" y="21107"/>
                  <a:pt x="13352" y="21036"/>
                </a:cubicBezTo>
                <a:cubicBezTo>
                  <a:pt x="13450" y="20965"/>
                  <a:pt x="13587" y="20938"/>
                  <a:pt x="13655" y="20975"/>
                </a:cubicBezTo>
                <a:cubicBezTo>
                  <a:pt x="13722" y="21011"/>
                  <a:pt x="13812" y="20986"/>
                  <a:pt x="13859" y="20920"/>
                </a:cubicBezTo>
                <a:cubicBezTo>
                  <a:pt x="13914" y="20842"/>
                  <a:pt x="14031" y="20882"/>
                  <a:pt x="14189" y="21030"/>
                </a:cubicBezTo>
                <a:cubicBezTo>
                  <a:pt x="14323" y="21155"/>
                  <a:pt x="14528" y="21262"/>
                  <a:pt x="14646" y="21269"/>
                </a:cubicBezTo>
                <a:cubicBezTo>
                  <a:pt x="15084" y="21294"/>
                  <a:pt x="15482" y="21229"/>
                  <a:pt x="15736" y="21097"/>
                </a:cubicBezTo>
                <a:cubicBezTo>
                  <a:pt x="15879" y="21023"/>
                  <a:pt x="16139" y="20974"/>
                  <a:pt x="16312" y="20987"/>
                </a:cubicBezTo>
                <a:cubicBezTo>
                  <a:pt x="16486" y="21000"/>
                  <a:pt x="16693" y="20966"/>
                  <a:pt x="16777" y="20907"/>
                </a:cubicBezTo>
                <a:cubicBezTo>
                  <a:pt x="16959" y="20779"/>
                  <a:pt x="17191" y="20881"/>
                  <a:pt x="17191" y="21091"/>
                </a:cubicBezTo>
                <a:cubicBezTo>
                  <a:pt x="17191" y="21175"/>
                  <a:pt x="17259" y="21281"/>
                  <a:pt x="17339" y="21324"/>
                </a:cubicBezTo>
                <a:cubicBezTo>
                  <a:pt x="17366" y="21327"/>
                  <a:pt x="17390" y="21327"/>
                  <a:pt x="17416" y="21330"/>
                </a:cubicBezTo>
                <a:cubicBezTo>
                  <a:pt x="17420" y="21320"/>
                  <a:pt x="17416" y="21310"/>
                  <a:pt x="17395" y="21281"/>
                </a:cubicBezTo>
                <a:cubicBezTo>
                  <a:pt x="17349" y="21216"/>
                  <a:pt x="17377" y="21131"/>
                  <a:pt x="17452" y="21091"/>
                </a:cubicBezTo>
                <a:cubicBezTo>
                  <a:pt x="17539" y="21044"/>
                  <a:pt x="17507" y="20965"/>
                  <a:pt x="17360" y="20871"/>
                </a:cubicBezTo>
                <a:cubicBezTo>
                  <a:pt x="17151" y="20736"/>
                  <a:pt x="17146" y="20715"/>
                  <a:pt x="17339" y="20650"/>
                </a:cubicBezTo>
                <a:cubicBezTo>
                  <a:pt x="17455" y="20611"/>
                  <a:pt x="17627" y="20570"/>
                  <a:pt x="17719" y="20558"/>
                </a:cubicBezTo>
                <a:cubicBezTo>
                  <a:pt x="17811" y="20546"/>
                  <a:pt x="17951" y="20500"/>
                  <a:pt x="18035" y="20454"/>
                </a:cubicBezTo>
                <a:cubicBezTo>
                  <a:pt x="18120" y="20408"/>
                  <a:pt x="18367" y="20445"/>
                  <a:pt x="18577" y="20540"/>
                </a:cubicBezTo>
                <a:cubicBezTo>
                  <a:pt x="19005" y="20733"/>
                  <a:pt x="19094" y="20619"/>
                  <a:pt x="18689" y="20399"/>
                </a:cubicBezTo>
                <a:cubicBezTo>
                  <a:pt x="18480" y="20285"/>
                  <a:pt x="18464" y="20224"/>
                  <a:pt x="18584" y="20098"/>
                </a:cubicBezTo>
                <a:cubicBezTo>
                  <a:pt x="18711" y="19964"/>
                  <a:pt x="18773" y="19972"/>
                  <a:pt x="19048" y="20160"/>
                </a:cubicBezTo>
                <a:cubicBezTo>
                  <a:pt x="19314" y="20343"/>
                  <a:pt x="19408" y="20357"/>
                  <a:pt x="19575" y="20239"/>
                </a:cubicBezTo>
                <a:cubicBezTo>
                  <a:pt x="19685" y="20161"/>
                  <a:pt x="19924" y="20103"/>
                  <a:pt x="20109" y="20111"/>
                </a:cubicBezTo>
                <a:cubicBezTo>
                  <a:pt x="20345" y="20120"/>
                  <a:pt x="20465" y="20058"/>
                  <a:pt x="20510" y="19908"/>
                </a:cubicBezTo>
                <a:cubicBezTo>
                  <a:pt x="20545" y="19791"/>
                  <a:pt x="20622" y="19716"/>
                  <a:pt x="20679" y="19743"/>
                </a:cubicBezTo>
                <a:cubicBezTo>
                  <a:pt x="20735" y="19769"/>
                  <a:pt x="20881" y="19701"/>
                  <a:pt x="21002" y="19590"/>
                </a:cubicBezTo>
                <a:cubicBezTo>
                  <a:pt x="21123" y="19478"/>
                  <a:pt x="21181" y="19389"/>
                  <a:pt x="21129" y="19387"/>
                </a:cubicBezTo>
                <a:cubicBezTo>
                  <a:pt x="21077" y="19385"/>
                  <a:pt x="21139" y="19314"/>
                  <a:pt x="21270" y="19228"/>
                </a:cubicBezTo>
                <a:cubicBezTo>
                  <a:pt x="21387" y="19150"/>
                  <a:pt x="21492" y="19133"/>
                  <a:pt x="21600" y="19148"/>
                </a:cubicBezTo>
                <a:lnTo>
                  <a:pt x="21600" y="0"/>
                </a:lnTo>
                <a:lnTo>
                  <a:pt x="0" y="0"/>
                </a:lnTo>
                <a:close/>
                <a:moveTo>
                  <a:pt x="21059" y="20521"/>
                </a:moveTo>
                <a:cubicBezTo>
                  <a:pt x="21031" y="20515"/>
                  <a:pt x="20981" y="20539"/>
                  <a:pt x="20904" y="20595"/>
                </a:cubicBezTo>
                <a:cubicBezTo>
                  <a:pt x="20800" y="20670"/>
                  <a:pt x="20714" y="20750"/>
                  <a:pt x="20714" y="20773"/>
                </a:cubicBezTo>
                <a:cubicBezTo>
                  <a:pt x="20714" y="20795"/>
                  <a:pt x="20800" y="20815"/>
                  <a:pt x="20904" y="20815"/>
                </a:cubicBezTo>
                <a:cubicBezTo>
                  <a:pt x="21008" y="20815"/>
                  <a:pt x="21094" y="20736"/>
                  <a:pt x="21094" y="20638"/>
                </a:cubicBezTo>
                <a:cubicBezTo>
                  <a:pt x="21094" y="20565"/>
                  <a:pt x="21086" y="20527"/>
                  <a:pt x="21059" y="20521"/>
                </a:cubicBezTo>
                <a:close/>
                <a:moveTo>
                  <a:pt x="19793" y="20595"/>
                </a:moveTo>
                <a:cubicBezTo>
                  <a:pt x="19608" y="20595"/>
                  <a:pt x="19463" y="20645"/>
                  <a:pt x="19462" y="20705"/>
                </a:cubicBezTo>
                <a:cubicBezTo>
                  <a:pt x="19462" y="20765"/>
                  <a:pt x="19572" y="20803"/>
                  <a:pt x="19709" y="20785"/>
                </a:cubicBezTo>
                <a:cubicBezTo>
                  <a:pt x="20103" y="20732"/>
                  <a:pt x="20162" y="20595"/>
                  <a:pt x="19793" y="20595"/>
                </a:cubicBez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486759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rocesses and the Circle of Lif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</a:t>
            </a:r>
            <a:r>
              <a:rPr dirty="0"/>
              <a:t>he Circle of Life</a:t>
            </a:r>
          </a:p>
        </p:txBody>
      </p:sp>
      <p:sp>
        <p:nvSpPr>
          <p:cNvPr id="28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87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8" name="When a process is created 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100"/>
              </a:spcBef>
            </a:pPr>
            <a:r>
              <a:rPr lang="en-US" dirty="0"/>
              <a:t>How is a thread created?</a:t>
            </a:r>
          </a:p>
          <a:p>
            <a:pPr lvl="1">
              <a:spcBef>
                <a:spcPts val="1100"/>
              </a:spcBef>
            </a:pPr>
            <a:r>
              <a:rPr lang="en-US" dirty="0"/>
              <a:t>By another thread!									</a:t>
            </a:r>
            <a:r>
              <a:rPr lang="en-US" dirty="0" err="1">
                <a:solidFill>
                  <a:schemeClr val="accent1"/>
                </a:solidFill>
              </a:rPr>
              <a:t>pthread_create</a:t>
            </a:r>
            <a:r>
              <a:rPr lang="en-US" dirty="0">
                <a:solidFill>
                  <a:schemeClr val="accent1"/>
                </a:solidFill>
              </a:rPr>
              <a:t>()</a:t>
            </a:r>
            <a:endParaRPr lang="en-US" dirty="0"/>
          </a:p>
          <a:p>
            <a:pPr lvl="1">
              <a:spcBef>
                <a:spcPts val="1100"/>
              </a:spcBef>
            </a:pPr>
            <a:r>
              <a:rPr lang="en-US" dirty="0"/>
              <a:t>It is given a stack to execute and a function to run</a:t>
            </a:r>
          </a:p>
          <a:p>
            <a:pPr>
              <a:spcBef>
                <a:spcPts val="1100"/>
              </a:spcBef>
            </a:pPr>
            <a:r>
              <a:rPr lang="en-US" dirty="0"/>
              <a:t>What about the first thread?</a:t>
            </a:r>
          </a:p>
          <a:p>
            <a:pPr lvl="1">
              <a:spcBef>
                <a:spcPts val="1100"/>
              </a:spcBef>
            </a:pPr>
            <a:r>
              <a:rPr dirty="0"/>
              <a:t>When a process is created</a:t>
            </a:r>
            <a:r>
              <a:rPr lang="en-US" dirty="0"/>
              <a:t>, there is a single thread [starts alone]	</a:t>
            </a:r>
          </a:p>
          <a:p>
            <a:pPr>
              <a:spcBef>
                <a:spcPts val="1100"/>
              </a:spcBef>
            </a:pPr>
            <a:r>
              <a:rPr lang="en-US" dirty="0"/>
              <a:t>How does a thread die?</a:t>
            </a:r>
          </a:p>
          <a:p>
            <a:pPr lvl="1">
              <a:spcBef>
                <a:spcPts val="1100"/>
              </a:spcBef>
            </a:pPr>
            <a:r>
              <a:rPr lang="en-US" dirty="0"/>
              <a:t>Voluntarily, after completing its task 				</a:t>
            </a:r>
            <a:r>
              <a:rPr lang="en-US" dirty="0" err="1">
                <a:solidFill>
                  <a:schemeClr val="accent1"/>
                </a:solidFill>
              </a:rPr>
              <a:t>pthread_exit</a:t>
            </a:r>
            <a:r>
              <a:rPr lang="en-US" dirty="0">
                <a:solidFill>
                  <a:schemeClr val="accent1"/>
                </a:solidFill>
              </a:rPr>
              <a:t>()</a:t>
            </a:r>
          </a:p>
          <a:p>
            <a:pPr lvl="1">
              <a:spcBef>
                <a:spcPts val="1100"/>
              </a:spcBef>
            </a:pPr>
            <a:r>
              <a:rPr lang="en-US" dirty="0"/>
              <a:t>Requested by another thread 						</a:t>
            </a:r>
            <a:r>
              <a:rPr lang="en-US" dirty="0" err="1">
                <a:solidFill>
                  <a:schemeClr val="accent1"/>
                </a:solidFill>
              </a:rPr>
              <a:t>pthread_cancel</a:t>
            </a:r>
            <a:r>
              <a:rPr lang="en-US" dirty="0">
                <a:solidFill>
                  <a:schemeClr val="accent1"/>
                </a:solidFill>
              </a:rPr>
              <a:t>()</a:t>
            </a:r>
          </a:p>
          <a:p>
            <a:pPr lvl="1">
              <a:spcBef>
                <a:spcPts val="1100"/>
              </a:spcBef>
            </a:pPr>
            <a:r>
              <a:rPr lang="en-US" dirty="0"/>
              <a:t>When the process dies (along with all threads in it)</a:t>
            </a:r>
            <a:endParaRPr dirty="0"/>
          </a:p>
          <a:p>
            <a:pPr lvl="2">
              <a:spcBef>
                <a:spcPts val="1100"/>
              </a:spcBef>
            </a:pPr>
            <a:r>
              <a:rPr lang="en-US" dirty="0"/>
              <a:t>Any thread calls exit()</a:t>
            </a:r>
          </a:p>
          <a:p>
            <a:pPr lvl="3">
              <a:spcBef>
                <a:spcPts val="1100"/>
              </a:spcBef>
            </a:pPr>
            <a:r>
              <a:rPr lang="en-US" dirty="0"/>
              <a:t>Note that exit() is called when main() returns !</a:t>
            </a:r>
          </a:p>
          <a:p>
            <a:pPr marL="0" indent="0">
              <a:spcBef>
                <a:spcPts val="1100"/>
              </a:spcBef>
              <a:buNone/>
            </a:pPr>
            <a:r>
              <a:rPr lang="en-US" dirty="0"/>
              <a:t>	   </a:t>
            </a:r>
            <a:r>
              <a:rPr lang="en-US" dirty="0">
                <a:solidFill>
                  <a:srgbClr val="FF0000"/>
                </a:solidFill>
              </a:rPr>
              <a:t>Any</a:t>
            </a:r>
            <a:r>
              <a:rPr dirty="0">
                <a:solidFill>
                  <a:srgbClr val="FF0000"/>
                </a:solidFill>
              </a:rPr>
              <a:t> thread </a:t>
            </a:r>
            <a:r>
              <a:rPr lang="en-US" dirty="0">
                <a:solidFill>
                  <a:srgbClr val="FF0000"/>
                </a:solidFill>
              </a:rPr>
              <a:t>can bring </a:t>
            </a:r>
            <a:r>
              <a:rPr dirty="0">
                <a:solidFill>
                  <a:srgbClr val="FF0000"/>
                </a:solidFill>
              </a:rPr>
              <a:t>down the </a:t>
            </a:r>
            <a:r>
              <a:rPr lang="en-US" dirty="0">
                <a:solidFill>
                  <a:srgbClr val="FF0000"/>
                </a:solidFill>
              </a:rPr>
              <a:t>whole </a:t>
            </a:r>
            <a:r>
              <a:rPr dirty="0">
                <a:solidFill>
                  <a:srgbClr val="FF0000"/>
                </a:solidFill>
              </a:rPr>
              <a:t>castle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dirty="0">
              <a:solidFill>
                <a:srgbClr val="FF0000"/>
              </a:solidFill>
            </a:endParaRPr>
          </a:p>
          <a:p>
            <a:pPr lvl="2">
              <a:spcBef>
                <a:spcPts val="1100"/>
              </a:spcBef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55B7B-2205-4DF0-9948-C4B8E1BBA5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82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/>
              <a:t>pthreads</a:t>
            </a:r>
            <a:r>
              <a:rPr lang="en-US" altLang="en-US" dirty="0"/>
              <a:t> API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ANSI/IEEE POSIX 1003.1 - 1995 standard  </a:t>
            </a:r>
          </a:p>
          <a:p>
            <a:r>
              <a:rPr lang="en-US" altLang="en-US" dirty="0"/>
              <a:t>Three types of routines:</a:t>
            </a:r>
          </a:p>
          <a:p>
            <a:pPr lvl="1"/>
            <a:r>
              <a:rPr lang="en-US" altLang="en-US" dirty="0"/>
              <a:t>Thread management: create, terminate, join, and detach</a:t>
            </a:r>
          </a:p>
          <a:p>
            <a:pPr lvl="1"/>
            <a:r>
              <a:rPr lang="en-US" altLang="en-US" dirty="0" err="1"/>
              <a:t>Mutexes</a:t>
            </a:r>
            <a:r>
              <a:rPr lang="en-US" altLang="en-US" dirty="0"/>
              <a:t>: mutual exclusion, creating, destroying, locking, and unlocking </a:t>
            </a:r>
            <a:r>
              <a:rPr lang="en-US" altLang="en-US" dirty="0" err="1"/>
              <a:t>mutexes</a:t>
            </a:r>
            <a:endParaRPr lang="en-US" altLang="en-US" dirty="0"/>
          </a:p>
          <a:p>
            <a:pPr lvl="1"/>
            <a:r>
              <a:rPr lang="en-US" altLang="en-US" dirty="0"/>
              <a:t>Condition variables: event driven synchronization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F3827B-45DD-4398-92A3-3CD20C4E2D8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51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Pthreads API naming convention</a:t>
            </a:r>
          </a:p>
        </p:txBody>
      </p:sp>
      <p:graphicFrame>
        <p:nvGraphicFramePr>
          <p:cNvPr id="81974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29679"/>
              </p:ext>
            </p:extLst>
          </p:nvPr>
        </p:nvGraphicFramePr>
        <p:xfrm>
          <a:off x="1124465" y="2681416"/>
          <a:ext cx="10972800" cy="5627208"/>
        </p:xfrm>
        <a:graphic>
          <a:graphicData uri="http://schemas.openxmlformats.org/drawingml/2006/table">
            <a:tbl>
              <a:tblPr/>
              <a:tblGrid>
                <a:gridCol w="441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34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Routine Prefix</a:t>
                      </a:r>
                    </a:p>
                  </a:txBody>
                  <a:tcPr marL="130048" marR="130048" marT="65024" marB="650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marL="130048" marR="130048" marT="65024" marB="650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_</a:t>
                      </a: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</a:t>
                      </a: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pthread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pthread_attr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_</a:t>
                      </a: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 attributes</a:t>
                      </a: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pthread_mutex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_</a:t>
                      </a: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mutex</a:t>
                      </a: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pthread_mutexattr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Mutex attributes</a:t>
                      </a: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pthread_cond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_</a:t>
                      </a: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 variables</a:t>
                      </a: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pthread_condattr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Times New Roman" pitchFamily="18" charset="0"/>
                      </a:endParaRP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Conditional variable attributes</a:t>
                      </a: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34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pthread_key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Times New Roman" pitchFamily="18" charset="0"/>
                        </a:rPr>
                        <a:t>_</a:t>
                      </a:r>
                    </a:p>
                  </a:txBody>
                  <a:tcPr marL="130048" marR="130048" marT="65024" marB="650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 specific data keys</a:t>
                      </a:r>
                    </a:p>
                  </a:txBody>
                  <a:tcPr marL="130048" marR="130048" marT="65024" marB="650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5AD9-109D-4F09-8981-675A16BDB13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7692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Pthreads</a:t>
            </a:r>
            <a:r>
              <a:rPr lang="en-US" dirty="0"/>
              <a:t> API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Consolas" panose="020B0609020204030204" pitchFamily="49" charset="0"/>
              </a:rPr>
              <a:t># include &lt;</a:t>
            </a:r>
            <a:r>
              <a:rPr lang="en-US" altLang="en-US" dirty="0" err="1">
                <a:latin typeface="Consolas" panose="020B0609020204030204" pitchFamily="49" charset="0"/>
              </a:rPr>
              <a:t>pthread.h</a:t>
            </a:r>
            <a:r>
              <a:rPr lang="en-US" altLang="en-US" dirty="0">
                <a:latin typeface="Consolas" panose="020B0609020204030204" pitchFamily="49" charset="0"/>
              </a:rPr>
              <a:t>&gt;</a:t>
            </a:r>
          </a:p>
          <a:p>
            <a:endParaRPr lang="en-US" altLang="en-US" dirty="0"/>
          </a:p>
          <a:p>
            <a:r>
              <a:rPr lang="en-US" altLang="en-US" dirty="0"/>
              <a:t>Add ' -</a:t>
            </a:r>
            <a:r>
              <a:rPr lang="en-US" altLang="en-US" dirty="0" err="1"/>
              <a:t>pthread</a:t>
            </a:r>
            <a:r>
              <a:rPr lang="en-US" altLang="en-US" dirty="0"/>
              <a:t>' option to compile on Linux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cc -</a:t>
            </a:r>
            <a:r>
              <a:rPr lang="en-US" alt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</a:t>
            </a:r>
            <a:r>
              <a:rPr lang="en-US" alt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a.c</a:t>
            </a:r>
            <a:endParaRPr lang="en-US" alt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altLang="en-US" dirty="0"/>
              <a:t> </a:t>
            </a:r>
            <a:r>
              <a:rPr lang="en-US" altLang="en-US" dirty="0" err="1"/>
              <a:t>Pthread</a:t>
            </a:r>
            <a:r>
              <a:rPr lang="en-US" altLang="en-US" dirty="0"/>
              <a:t> functions do not set </a:t>
            </a:r>
            <a:r>
              <a:rPr lang="en-US" altLang="en-US" dirty="0" err="1"/>
              <a:t>errno</a:t>
            </a:r>
            <a:r>
              <a:rPr lang="en-US" altLang="en-US" dirty="0"/>
              <a:t> on errors</a:t>
            </a:r>
          </a:p>
          <a:p>
            <a:endParaRPr lang="en-US" altLang="en-US" dirty="0"/>
          </a:p>
          <a:p>
            <a:r>
              <a:rPr lang="en-US" altLang="en-US" dirty="0"/>
              <a:t>Many types are defined in </a:t>
            </a:r>
            <a:r>
              <a:rPr lang="en-US" altLang="en-US" dirty="0" err="1"/>
              <a:t>pthread</a:t>
            </a:r>
            <a:r>
              <a:rPr lang="en-US" altLang="en-US" dirty="0"/>
              <a:t> library. They are opaque objects</a:t>
            </a:r>
          </a:p>
          <a:p>
            <a:pPr lvl="1"/>
            <a:r>
              <a:rPr lang="en-US" altLang="en-US" dirty="0"/>
              <a:t>Cannot make assumptions on the representation/implementation</a:t>
            </a:r>
          </a:p>
          <a:p>
            <a:pPr lvl="1"/>
            <a:endParaRPr lang="en-US" altLang="en-US" dirty="0"/>
          </a:p>
          <a:p>
            <a:pPr marL="0" indent="0">
              <a:buNone/>
            </a:pPr>
            <a:r>
              <a:rPr lang="en-US" altLang="en-US" sz="2800" dirty="0">
                <a:solidFill>
                  <a:schemeClr val="accent1"/>
                </a:solidFill>
              </a:rPr>
              <a:t>For example, should use </a:t>
            </a:r>
            <a:r>
              <a:rPr lang="en-US" altLang="en-US" sz="2800" dirty="0" err="1">
                <a:solidFill>
                  <a:schemeClr val="accent1"/>
                </a:solidFill>
              </a:rPr>
              <a:t>pthread_equal</a:t>
            </a:r>
            <a:r>
              <a:rPr lang="en-US" altLang="en-US" sz="2800" dirty="0">
                <a:solidFill>
                  <a:schemeClr val="accent1"/>
                </a:solidFill>
              </a:rPr>
              <a:t>() to compare </a:t>
            </a:r>
            <a:r>
              <a:rPr lang="en-US" altLang="en-US" sz="2800">
                <a:solidFill>
                  <a:schemeClr val="accent1"/>
                </a:solidFill>
              </a:rPr>
              <a:t>two thread </a:t>
            </a:r>
            <a:r>
              <a:rPr lang="en-US" altLang="en-US" sz="2800" dirty="0">
                <a:solidFill>
                  <a:schemeClr val="accent1"/>
                </a:solidFill>
              </a:rPr>
              <a:t>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6CC020-7C82-4B80-89AE-960C43EB57A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862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main() function of thread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20E3A-0CAA-45CC-9595-C9E806477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3600" dirty="0">
                <a:latin typeface="Consolas" panose="020B0609020204030204" pitchFamily="49" charset="0"/>
              </a:rPr>
              <a:t>void * </a:t>
            </a:r>
            <a:r>
              <a:rPr lang="en-US" sz="3600" dirty="0" err="1">
                <a:solidFill>
                  <a:schemeClr val="accent1"/>
                </a:solidFill>
                <a:latin typeface="Consolas" panose="020B0609020204030204" pitchFamily="49" charset="0"/>
              </a:rPr>
              <a:t>thread_main</a:t>
            </a:r>
            <a:r>
              <a:rPr lang="en-US" sz="3600" dirty="0">
                <a:latin typeface="Consolas" panose="020B0609020204030204" pitchFamily="49" charset="0"/>
              </a:rPr>
              <a:t>(void * </a:t>
            </a:r>
            <a:r>
              <a:rPr lang="en-US" sz="3600" dirty="0" err="1">
                <a:latin typeface="Consolas" panose="020B0609020204030204" pitchFamily="49" charset="0"/>
              </a:rPr>
              <a:t>arg</a:t>
            </a:r>
            <a:r>
              <a:rPr lang="en-US" sz="36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r>
              <a:rPr lang="en-US" altLang="en-US" sz="3200" dirty="0"/>
              <a:t>The "main" function of a thread</a:t>
            </a:r>
          </a:p>
          <a:p>
            <a:pPr lvl="1">
              <a:defRPr/>
            </a:pPr>
            <a:r>
              <a:rPr lang="en-US" altLang="en-US" sz="3200" dirty="0"/>
              <a:t>Can be any name you like</a:t>
            </a:r>
          </a:p>
          <a:p>
            <a:pPr>
              <a:defRPr/>
            </a:pPr>
            <a:r>
              <a:rPr lang="en-US" altLang="en-US" sz="3200" dirty="0"/>
              <a:t>Takes a pointer as the only parameter</a:t>
            </a:r>
          </a:p>
          <a:p>
            <a:pPr lvl="1">
              <a:defRPr/>
            </a:pPr>
            <a:r>
              <a:rPr lang="en-US" altLang="en-US" sz="3200" dirty="0"/>
              <a:t>It can point to anything, int, char, string, or </a:t>
            </a:r>
            <a:r>
              <a:rPr lang="en-US" altLang="en-US" sz="3200" dirty="0">
                <a:solidFill>
                  <a:schemeClr val="accent1"/>
                </a:solidFill>
              </a:rPr>
              <a:t>a structure</a:t>
            </a:r>
          </a:p>
          <a:p>
            <a:pPr>
              <a:defRPr/>
            </a:pPr>
            <a:r>
              <a:rPr lang="en-US" altLang="en-US" sz="3200" dirty="0"/>
              <a:t>Returns a pointer</a:t>
            </a:r>
          </a:p>
          <a:p>
            <a:pPr lvl="1">
              <a:defRPr/>
            </a:pPr>
            <a:r>
              <a:rPr lang="en-US" altLang="en-US" sz="3200" dirty="0"/>
              <a:t>It can point to anything, int, char, string, and </a:t>
            </a:r>
            <a:r>
              <a:rPr lang="en-US" altLang="en-US" sz="3200" dirty="0">
                <a:solidFill>
                  <a:schemeClr val="accent1"/>
                </a:solidFill>
              </a:rPr>
              <a:t>a structure</a:t>
            </a:r>
          </a:p>
          <a:p>
            <a:pPr lvl="1">
              <a:defRPr/>
            </a:pPr>
            <a:r>
              <a:rPr lang="en-US" altLang="en-US" sz="3200" dirty="0"/>
              <a:t>However, </a:t>
            </a:r>
            <a:r>
              <a:rPr lang="en-US" altLang="en-US" sz="3200" dirty="0">
                <a:solidFill>
                  <a:schemeClr val="accent5"/>
                </a:solidFill>
                <a:highlight>
                  <a:srgbClr val="FFFF00"/>
                </a:highlight>
              </a:rPr>
              <a:t>do not point to local variables on stack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96AA88-FC3A-4DB5-B2DB-F5F7417E793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4779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Threads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20E3A-0CAA-45CC-9595-C9E806477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3200" dirty="0">
                <a:latin typeface="Consolas" panose="020B0609020204030204" pitchFamily="49" charset="0"/>
              </a:rPr>
              <a:t>int  </a:t>
            </a:r>
            <a:r>
              <a:rPr 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pthread_create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b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						</a:t>
            </a:r>
            <a:r>
              <a:rPr lang="en-US" sz="3200" dirty="0" err="1">
                <a:latin typeface="Consolas" panose="020B0609020204030204" pitchFamily="49" charset="0"/>
              </a:rPr>
              <a:t>pthread_t</a:t>
            </a:r>
            <a:r>
              <a:rPr lang="en-US" sz="3200" dirty="0">
                <a:latin typeface="Consolas" panose="020B0609020204030204" pitchFamily="49" charset="0"/>
              </a:rPr>
              <a:t>* thread, 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							</a:t>
            </a:r>
            <a:r>
              <a:rPr lang="en-US" sz="3200" dirty="0" err="1">
                <a:latin typeface="Consolas" panose="020B0609020204030204" pitchFamily="49" charset="0"/>
              </a:rPr>
              <a:t>pthread_attr_t</a:t>
            </a:r>
            <a:r>
              <a:rPr lang="en-US" sz="3200" dirty="0">
                <a:latin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</a:rPr>
              <a:t>attr</a:t>
            </a:r>
            <a:r>
              <a:rPr lang="en-US" sz="3200" dirty="0">
                <a:latin typeface="Consolas" panose="020B0609020204030204" pitchFamily="49" charset="0"/>
              </a:rPr>
              <a:t>, 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							void* (*</a:t>
            </a:r>
            <a:r>
              <a:rPr lang="en-US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start_routine</a:t>
            </a:r>
            <a:r>
              <a:rPr lang="en-US" sz="3200" dirty="0">
                <a:latin typeface="Consolas" panose="020B0609020204030204" pitchFamily="49" charset="0"/>
              </a:rPr>
              <a:t>)(void*),</a:t>
            </a:r>
            <a:br>
              <a:rPr lang="en-US" sz="3200" dirty="0"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      					void* </a:t>
            </a:r>
            <a:r>
              <a:rPr lang="en-US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arg</a:t>
            </a:r>
            <a:r>
              <a:rPr lang="en-US" sz="32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  <a:defRPr/>
            </a:pPr>
            <a:r>
              <a:rPr lang="en-US" sz="2800" dirty="0"/>
              <a:t>Returns 0 if successful, and </a:t>
            </a:r>
            <a:r>
              <a:rPr lang="en-US" sz="2800" dirty="0">
                <a:solidFill>
                  <a:srgbClr val="FF0000"/>
                </a:solidFill>
              </a:rPr>
              <a:t>non-zero (&gt; 0) if error</a:t>
            </a:r>
          </a:p>
          <a:p>
            <a:pPr marL="0" indent="0"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*thread</a:t>
            </a:r>
            <a:r>
              <a:rPr lang="en-US" sz="2800" dirty="0"/>
              <a:t> is the </a:t>
            </a:r>
            <a:r>
              <a:rPr lang="en-US" sz="2800" dirty="0">
                <a:solidFill>
                  <a:schemeClr val="accent1"/>
                </a:solidFill>
              </a:rPr>
              <a:t>returned thread ID</a:t>
            </a:r>
            <a:r>
              <a:rPr lang="en-US" sz="2800" dirty="0"/>
              <a:t>, if successful</a:t>
            </a:r>
          </a:p>
          <a:p>
            <a:pPr marL="0" indent="0">
              <a:buNone/>
              <a:defRPr/>
            </a:pPr>
            <a:r>
              <a:rPr lang="en-US" sz="2800" dirty="0" err="1">
                <a:solidFill>
                  <a:srgbClr val="FF0000"/>
                </a:solidFill>
              </a:rPr>
              <a:t>attr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specifies the attribute for the thread. NULL for default.</a:t>
            </a:r>
          </a:p>
          <a:p>
            <a:pPr marL="0" indent="0">
              <a:buNone/>
              <a:defRPr/>
            </a:pPr>
            <a:r>
              <a:rPr lang="en-US" sz="2800" dirty="0" err="1">
                <a:solidFill>
                  <a:srgbClr val="FF0000"/>
                </a:solidFill>
              </a:rPr>
              <a:t>start_routine</a:t>
            </a:r>
            <a:r>
              <a:rPr lang="en-US" sz="2800" dirty="0">
                <a:solidFill>
                  <a:srgbClr val="FF0000"/>
                </a:solidFill>
              </a:rPr>
              <a:t>()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is the '</a:t>
            </a:r>
            <a:r>
              <a:rPr lang="en-US" sz="2800" dirty="0">
                <a:solidFill>
                  <a:schemeClr val="accent1"/>
                </a:solidFill>
              </a:rPr>
              <a:t>main</a:t>
            </a:r>
            <a:r>
              <a:rPr lang="en-US" sz="2800" dirty="0"/>
              <a:t>' function of the thread</a:t>
            </a:r>
          </a:p>
          <a:p>
            <a:pPr marL="0" indent="0"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void * </a:t>
            </a:r>
            <a:r>
              <a:rPr lang="en-US" sz="2800" dirty="0" err="1">
                <a:solidFill>
                  <a:srgbClr val="FF0000"/>
                </a:solidFill>
              </a:rPr>
              <a:t>arg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is passed to </a:t>
            </a:r>
            <a:r>
              <a:rPr lang="en-US" sz="2800" dirty="0" err="1"/>
              <a:t>start_routine</a:t>
            </a:r>
            <a:r>
              <a:rPr lang="en-US" sz="2800" dirty="0"/>
              <a:t>()</a:t>
            </a:r>
          </a:p>
          <a:p>
            <a:pPr marL="0" indent="0">
              <a:buNone/>
              <a:defRPr/>
            </a:pPr>
            <a:endParaRPr lang="en-US" sz="2800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sz="2800" dirty="0"/>
              <a:t>Thread equivalent of </a:t>
            </a:r>
            <a:r>
              <a:rPr lang="en-US" sz="2800" dirty="0">
                <a:solidFill>
                  <a:schemeClr val="accent1"/>
                </a:solidFill>
              </a:rPr>
              <a:t>fork(), </a:t>
            </a:r>
            <a:r>
              <a:rPr lang="en-US" sz="2800" dirty="0"/>
              <a:t>but it does create (not "clone")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E4D6F-7726-4888-B22F-DAB7DC0720B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5153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creation</a:t>
            </a:r>
          </a:p>
        </p:txBody>
      </p:sp>
      <p:sp>
        <p:nvSpPr>
          <p:cNvPr id="37891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Once created, threads are peers, and may create other threads </a:t>
            </a:r>
          </a:p>
          <a:p>
            <a:r>
              <a:rPr lang="en-US" altLang="en-US" dirty="0"/>
              <a:t>There is no implied hierarchy or dependency between threads</a:t>
            </a:r>
          </a:p>
          <a:p>
            <a:pPr lvl="1"/>
            <a:r>
              <a:rPr lang="en-US" altLang="en-US" dirty="0">
                <a:solidFill>
                  <a:schemeClr val="accent1"/>
                </a:solidFill>
              </a:rPr>
              <a:t>All threads are equal!</a:t>
            </a:r>
          </a:p>
          <a:p>
            <a:endParaRPr lang="en-US" altLang="en-US" dirty="0"/>
          </a:p>
        </p:txBody>
      </p:sp>
      <p:pic>
        <p:nvPicPr>
          <p:cNvPr id="37892" name="Picture 2" descr="Peer Threa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4267200"/>
            <a:ext cx="11878170" cy="5310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59481-36CC-4009-A066-1A82F6E9F9C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26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What about thread concurrency?</a:t>
            </a:r>
          </a:p>
        </p:txBody>
      </p:sp>
      <p:pic>
        <p:nvPicPr>
          <p:cNvPr id="196" name="pasted-image.tif"/>
          <p:cNvPicPr/>
          <p:nvPr/>
        </p:nvPicPr>
        <p:blipFill>
          <a:blip r:embed="rId3"/>
          <a:stretch>
            <a:fillRect/>
          </a:stretch>
        </p:blipFill>
        <p:spPr>
          <a:xfrm>
            <a:off x="8419539" y="2286000"/>
            <a:ext cx="4407461" cy="4162602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hape 197"/>
          <p:cNvSpPr/>
          <p:nvPr/>
        </p:nvSpPr>
        <p:spPr>
          <a:xfrm>
            <a:off x="9220736" y="4779115"/>
            <a:ext cx="2338325" cy="1"/>
          </a:xfrm>
          <a:prstGeom prst="line">
            <a:avLst/>
          </a:prstGeom>
          <a:ln w="889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198" name="Shape 198"/>
          <p:cNvSpPr/>
          <p:nvPr/>
        </p:nvSpPr>
        <p:spPr>
          <a:xfrm>
            <a:off x="9220736" y="4019712"/>
            <a:ext cx="2338325" cy="1"/>
          </a:xfrm>
          <a:prstGeom prst="line">
            <a:avLst/>
          </a:prstGeom>
          <a:ln w="889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sp>
        <p:nvSpPr>
          <p:cNvPr id="19" name="Shape 218"/>
          <p:cNvSpPr>
            <a:spLocks noGrp="1"/>
          </p:cNvSpPr>
          <p:nvPr>
            <p:ph type="body" idx="1"/>
          </p:nvPr>
        </p:nvSpPr>
        <p:spPr>
          <a:xfrm>
            <a:off x="571500" y="2324100"/>
            <a:ext cx="7988300" cy="7429500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941100"/>
                </a:solidFill>
              </a:rPr>
              <a:t>Single-core CPU: Timesharing</a:t>
            </a:r>
            <a:endParaRPr sz="3000" dirty="0">
              <a:solidFill>
                <a:srgbClr val="941100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When one thread is waiting for an IO to complete…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… another thread can use the CPU for some computing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At any one point in time, CPU is used by only ONE thread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38D839-0BDA-4DD8-B6B8-0FD20EAA838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2731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000"/>
              <a:t>What about thread concurrency?</a:t>
            </a:r>
          </a:p>
        </p:txBody>
      </p:sp>
      <p:pic>
        <p:nvPicPr>
          <p:cNvPr id="199" name="pasted-image.tif"/>
          <p:cNvPicPr/>
          <p:nvPr/>
        </p:nvPicPr>
        <p:blipFill>
          <a:blip r:embed="rId3"/>
          <a:stretch>
            <a:fillRect/>
          </a:stretch>
        </p:blipFill>
        <p:spPr>
          <a:xfrm>
            <a:off x="7654710" y="2133600"/>
            <a:ext cx="4407461" cy="4162602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Shape 200"/>
          <p:cNvSpPr/>
          <p:nvPr/>
        </p:nvSpPr>
        <p:spPr>
          <a:xfrm>
            <a:off x="8455906" y="3867312"/>
            <a:ext cx="2338325" cy="1"/>
          </a:xfrm>
          <a:prstGeom prst="line">
            <a:avLst/>
          </a:prstGeom>
          <a:ln w="88900">
            <a:solidFill/>
            <a:miter lim="400000"/>
          </a:ln>
        </p:spPr>
        <p:txBody>
          <a:bodyPr lIns="0" tIns="0" rIns="0" bIns="0" anchor="ctr"/>
          <a:lstStyle/>
          <a:p>
            <a:pPr lvl="0">
              <a:defRPr sz="3400"/>
            </a:pPr>
            <a:endParaRPr/>
          </a:p>
        </p:txBody>
      </p:sp>
      <p:pic>
        <p:nvPicPr>
          <p:cNvPr id="201" name="Screen Shot 2014-10-14 at 9.55.40 PM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0318329" y="4498639"/>
            <a:ext cx="266701" cy="736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Screen Shot 2014-10-14 at 9.55.40 PM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685186" y="3910101"/>
            <a:ext cx="266701" cy="736601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hape 203"/>
          <p:cNvSpPr/>
          <p:nvPr/>
        </p:nvSpPr>
        <p:spPr>
          <a:xfrm>
            <a:off x="7659589" y="6279383"/>
            <a:ext cx="1307212" cy="560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lvl="0">
              <a:defRPr sz="1800" b="0"/>
            </a:pPr>
            <a:r>
              <a:rPr sz="3000" b="1"/>
              <a:t>Core 1</a:t>
            </a:r>
          </a:p>
        </p:txBody>
      </p:sp>
      <p:sp>
        <p:nvSpPr>
          <p:cNvPr id="204" name="Shape 204"/>
          <p:cNvSpPr/>
          <p:nvPr/>
        </p:nvSpPr>
        <p:spPr>
          <a:xfrm>
            <a:off x="10141889" y="6287305"/>
            <a:ext cx="1307212" cy="560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 lvl="0">
              <a:defRPr sz="1800" b="0"/>
            </a:pPr>
            <a:r>
              <a:rPr sz="3000" b="1"/>
              <a:t>Core 2</a:t>
            </a:r>
          </a:p>
        </p:txBody>
      </p:sp>
      <p:sp>
        <p:nvSpPr>
          <p:cNvPr id="205" name="Shape 205"/>
          <p:cNvSpPr/>
          <p:nvPr/>
        </p:nvSpPr>
        <p:spPr>
          <a:xfrm flipH="1" flipV="1">
            <a:off x="10444791" y="5369795"/>
            <a:ext cx="348231" cy="1051266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sp>
        <p:nvSpPr>
          <p:cNvPr id="206" name="Shape 206"/>
          <p:cNvSpPr/>
          <p:nvPr/>
        </p:nvSpPr>
        <p:spPr>
          <a:xfrm flipV="1">
            <a:off x="8491047" y="5551676"/>
            <a:ext cx="263369" cy="869385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lvl="0">
              <a:defRPr sz="3400"/>
            </a:pPr>
            <a:endParaRPr/>
          </a:p>
        </p:txBody>
      </p:sp>
      <p:pic>
        <p:nvPicPr>
          <p:cNvPr id="18" name="pasted-image.t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950" y="6989815"/>
            <a:ext cx="2641072" cy="2270012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hape 218"/>
          <p:cNvSpPr>
            <a:spLocks noGrp="1"/>
          </p:cNvSpPr>
          <p:nvPr>
            <p:ph type="body" idx="1"/>
          </p:nvPr>
        </p:nvSpPr>
        <p:spPr>
          <a:xfrm>
            <a:off x="571500" y="2324100"/>
            <a:ext cx="6615257" cy="6979312"/>
          </a:xfrm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941100"/>
                </a:solidFill>
              </a:rPr>
              <a:t>Multi core CPU: tr</a:t>
            </a:r>
            <a:r>
              <a:rPr sz="3000" dirty="0">
                <a:solidFill>
                  <a:srgbClr val="941100"/>
                </a:solidFill>
              </a:rPr>
              <a:t>ue concurrency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lang="en-US" sz="3000" dirty="0">
                <a:solidFill>
                  <a:srgbClr val="747474"/>
                </a:solidFill>
              </a:rPr>
              <a:t>MIMD architecture: multiple instructions, multiple data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Threads</a:t>
            </a:r>
            <a:r>
              <a:rPr lang="en-US" sz="3000" dirty="0">
                <a:solidFill>
                  <a:srgbClr val="747474"/>
                </a:solidFill>
              </a:rPr>
              <a:t> can</a:t>
            </a:r>
            <a:r>
              <a:rPr sz="3000" dirty="0">
                <a:solidFill>
                  <a:srgbClr val="747474"/>
                </a:solidFill>
              </a:rPr>
              <a:t> execut</a:t>
            </a:r>
            <a:r>
              <a:rPr lang="en-US" sz="3000" dirty="0">
                <a:solidFill>
                  <a:srgbClr val="747474"/>
                </a:solidFill>
              </a:rPr>
              <a:t>e</a:t>
            </a:r>
            <a:r>
              <a:rPr sz="3000" dirty="0">
                <a:solidFill>
                  <a:srgbClr val="747474"/>
                </a:solidFill>
              </a:rPr>
              <a:t> in parallel, one on each </a:t>
            </a:r>
            <a:r>
              <a:rPr lang="en-US" sz="3000" dirty="0">
                <a:solidFill>
                  <a:srgbClr val="747474"/>
                </a:solidFill>
              </a:rPr>
              <a:t>core</a:t>
            </a:r>
            <a:endParaRPr sz="3000" dirty="0">
              <a:solidFill>
                <a:srgbClr val="747474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OS can still preempt threads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3000" dirty="0">
                <a:solidFill>
                  <a:srgbClr val="747474"/>
                </a:solidFill>
              </a:rPr>
              <a:t>Useful when #threads &gt;&gt; #</a:t>
            </a:r>
            <a:r>
              <a:rPr lang="en-US" sz="3000" dirty="0">
                <a:solidFill>
                  <a:srgbClr val="747474"/>
                </a:solidFill>
              </a:rPr>
              <a:t>cores</a:t>
            </a:r>
            <a:r>
              <a:rPr sz="3000" dirty="0">
                <a:solidFill>
                  <a:srgbClr val="747474"/>
                </a:solidFill>
              </a:rPr>
              <a:t> </a:t>
            </a:r>
            <a:r>
              <a:rPr lang="en-US" sz="3000" dirty="0">
                <a:solidFill>
                  <a:srgbClr val="747474"/>
                </a:solidFill>
              </a:rPr>
              <a:t> 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sz="3000" b="1" dirty="0">
                <a:solidFill>
                  <a:srgbClr val="FF0000"/>
                </a:solidFill>
              </a:rPr>
              <a:t> </a:t>
            </a:r>
            <a:r>
              <a:rPr sz="3000" i="1" dirty="0">
                <a:solidFill>
                  <a:srgbClr val="FF0000"/>
                </a:solidFill>
              </a:rPr>
              <a:t>timesharing is</a:t>
            </a:r>
            <a:r>
              <a:rPr lang="en-US" sz="3000" i="1" dirty="0">
                <a:solidFill>
                  <a:srgbClr val="FF0000"/>
                </a:solidFill>
              </a:rPr>
              <a:t> still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sz="3000" i="1" dirty="0">
                <a:solidFill>
                  <a:srgbClr val="FF0000"/>
                </a:solidFill>
              </a:rPr>
              <a:t>used!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6602D-DC84-4877-B021-83FA6DA45AF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0355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Termination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3A07A-9436-4DB5-ADB3-6BCE7F20A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Return from the </a:t>
            </a:r>
            <a:r>
              <a:rPr lang="en-US" altLang="en-US" sz="3200" dirty="0" err="1"/>
              <a:t>start_routine</a:t>
            </a:r>
            <a:r>
              <a:rPr lang="en-US" altLang="en-US" sz="3200" dirty="0"/>
              <a:t> function, or</a:t>
            </a:r>
          </a:p>
          <a:p>
            <a:r>
              <a:rPr lang="en-US" altLang="en-US" sz="3200" dirty="0"/>
              <a:t>Call </a:t>
            </a:r>
            <a:r>
              <a:rPr lang="en-US" altLang="en-US" sz="3200" dirty="0" err="1"/>
              <a:t>pthread_exit</a:t>
            </a:r>
            <a:r>
              <a:rPr lang="en-US" altLang="en-US" sz="3200" dirty="0"/>
              <a:t>()</a:t>
            </a:r>
          </a:p>
          <a:p>
            <a:pPr marL="342900" lvl="1" indent="0">
              <a:buNone/>
            </a:pPr>
            <a:endParaRPr lang="en-US" altLang="en-US" sz="32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342900" lvl="1" indent="0"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void </a:t>
            </a:r>
            <a:r>
              <a:rPr lang="en-US" altLang="en-US" sz="3200" dirty="0" err="1">
                <a:solidFill>
                  <a:srgbClr val="C00000"/>
                </a:solidFill>
                <a:latin typeface="Consolas" panose="020B0609020204030204" pitchFamily="49" charset="0"/>
              </a:rPr>
              <a:t>pthread_exit</a:t>
            </a: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(void* status)</a:t>
            </a:r>
          </a:p>
          <a:p>
            <a:endParaRPr lang="en-US" altLang="en-US" dirty="0"/>
          </a:p>
          <a:p>
            <a:r>
              <a:rPr lang="en-US" altLang="en-US" dirty="0"/>
              <a:t>The function always succeeds and does not return</a:t>
            </a:r>
          </a:p>
          <a:p>
            <a:r>
              <a:rPr lang="en-US" altLang="en-US" dirty="0"/>
              <a:t>status can be obtained by other threads</a:t>
            </a:r>
          </a:p>
          <a:p>
            <a:pPr lvl="1"/>
            <a:endParaRPr lang="en-US" altLang="en-US" dirty="0"/>
          </a:p>
          <a:p>
            <a:pPr>
              <a:buFont typeface="Arial" pitchFamily="34" charset="0"/>
              <a:buChar char="•"/>
              <a:defRPr/>
            </a:pPr>
            <a:r>
              <a:rPr lang="en-US" altLang="en-US" sz="3200" dirty="0"/>
              <a:t>Similar to process termination</a:t>
            </a:r>
          </a:p>
          <a:p>
            <a:pPr marL="342900" lvl="1" indent="0"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main() </a:t>
            </a:r>
            <a:r>
              <a:rPr lang="en-US" altLang="en-US" sz="3200" dirty="0"/>
              <a:t>returns,  or </a:t>
            </a: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exit() </a:t>
            </a:r>
            <a:r>
              <a:rPr lang="en-US" altLang="en-US" sz="3200" dirty="0"/>
              <a:t>called by any thread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B6DDE2-AA93-4B3F-84B1-96CCBAA8568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12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Joining a thread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3A07A-9436-4DB5-ADB3-6BCE7F20A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1" indent="0"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 sz="3200" dirty="0" err="1">
                <a:solidFill>
                  <a:srgbClr val="C00000"/>
                </a:solidFill>
                <a:latin typeface="Consolas" panose="020B0609020204030204" pitchFamily="49" charset="0"/>
              </a:rPr>
              <a:t>pthread_join</a:t>
            </a: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pthread_t</a:t>
            </a: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tid</a:t>
            </a: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, void** status)</a:t>
            </a:r>
          </a:p>
          <a:p>
            <a:pPr marL="342900" lvl="1" indent="0">
              <a:buNone/>
            </a:pPr>
            <a:endParaRPr lang="en-US" altLang="en-US" sz="32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altLang="en-US" dirty="0"/>
              <a:t>Wait for a thread to complete</a:t>
            </a:r>
          </a:p>
          <a:p>
            <a:pPr lvl="1"/>
            <a:r>
              <a:rPr lang="en-US" altLang="en-US" dirty="0"/>
              <a:t>Blocks the calling thread until thread </a:t>
            </a:r>
            <a:r>
              <a:rPr lang="en-US" altLang="en-US" dirty="0" err="1"/>
              <a:t>tid</a:t>
            </a:r>
            <a:r>
              <a:rPr lang="en-US" altLang="en-US" dirty="0"/>
              <a:t> terminates</a:t>
            </a:r>
          </a:p>
          <a:p>
            <a:r>
              <a:rPr lang="en-US" altLang="en-US" dirty="0"/>
              <a:t>Can obtain the exit status of the thread</a:t>
            </a:r>
          </a:p>
          <a:p>
            <a:pPr lvl="1"/>
            <a:r>
              <a:rPr lang="en-US" altLang="en-US" dirty="0"/>
              <a:t>Pass NULL to ignore the return value</a:t>
            </a:r>
          </a:p>
          <a:p>
            <a:pPr lvl="1"/>
            <a:r>
              <a:rPr lang="en-US" altLang="en-US" dirty="0">
                <a:solidFill>
                  <a:schemeClr val="accent1"/>
                </a:solidFill>
              </a:rPr>
              <a:t>Why is the type of status (void **)</a:t>
            </a:r>
            <a:r>
              <a:rPr lang="en-US" altLang="en-US" dirty="0"/>
              <a:t>?</a:t>
            </a:r>
          </a:p>
          <a:p>
            <a:pPr>
              <a:buFont typeface="Arial" pitchFamily="34" charset="0"/>
              <a:buChar char="•"/>
              <a:defRPr/>
            </a:pPr>
            <a:endParaRPr lang="en-US" altLang="en-US" sz="3200" dirty="0"/>
          </a:p>
          <a:p>
            <a:pPr>
              <a:buFont typeface="Arial" pitchFamily="34" charset="0"/>
              <a:buChar char="•"/>
              <a:defRPr/>
            </a:pPr>
            <a:r>
              <a:rPr lang="en-US" altLang="en-US" sz="3200" dirty="0"/>
              <a:t>Equivalent of </a:t>
            </a:r>
            <a:r>
              <a:rPr lang="en-US" alt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waitpid</a:t>
            </a:r>
            <a:r>
              <a:rPr lang="en-US" altLang="en-US" sz="3200" dirty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  <a:r>
              <a:rPr lang="en-US" altLang="en-US" sz="3200" dirty="0"/>
              <a:t>for processes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AAD2A-EA11-4994-B5AE-97FEBE9803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9110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a thread - 2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Joining is a simple way to accomplish synchronization</a:t>
            </a:r>
          </a:p>
          <a:p>
            <a:pPr lvl="1"/>
            <a:r>
              <a:rPr lang="en-US" altLang="en-US" dirty="0"/>
              <a:t>The calling thread can obtain the target thread's termination return status if it was specified in the target thread's call to </a:t>
            </a:r>
            <a:r>
              <a:rPr lang="en-US" altLang="en-US" dirty="0" err="1"/>
              <a:t>pthread_exit</a:t>
            </a:r>
            <a:r>
              <a:rPr lang="en-US" altLang="en-US" dirty="0"/>
              <a:t>()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5124E-41EA-43E2-9B2E-8B71B8E5D67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F22F5-02F5-454C-9FC0-33CCC0A00864}"/>
              </a:ext>
            </a:extLst>
          </p:cNvPr>
          <p:cNvSpPr txBox="1"/>
          <p:nvPr/>
        </p:nvSpPr>
        <p:spPr>
          <a:xfrm>
            <a:off x="454851" y="5063311"/>
            <a:ext cx="1515649" cy="10874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Master Thread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61897-4F8E-4CEA-8932-16EA3B92A545}"/>
              </a:ext>
            </a:extLst>
          </p:cNvPr>
          <p:cNvSpPr txBox="1"/>
          <p:nvPr/>
        </p:nvSpPr>
        <p:spPr>
          <a:xfrm>
            <a:off x="2087149" y="5312362"/>
            <a:ext cx="3264596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cs typeface="Arial" panose="020B0604020202020204" pitchFamily="34" charset="0"/>
                <a:sym typeface="Helvetica Neue Light"/>
              </a:rPr>
              <a:t>pthread_create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cs typeface="Arial" panose="020B0604020202020204" pitchFamily="34" charset="0"/>
                <a:sym typeface="Helvetica Neue Light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59423-165B-4EAB-8D91-8A4F828697C7}"/>
              </a:ext>
            </a:extLst>
          </p:cNvPr>
          <p:cNvSpPr txBox="1"/>
          <p:nvPr/>
        </p:nvSpPr>
        <p:spPr>
          <a:xfrm>
            <a:off x="2957491" y="6448301"/>
            <a:ext cx="1515649" cy="10874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Worker Thread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BD0C4-F8ED-4309-9504-4EAF5C1A1467}"/>
              </a:ext>
            </a:extLst>
          </p:cNvPr>
          <p:cNvSpPr txBox="1"/>
          <p:nvPr/>
        </p:nvSpPr>
        <p:spPr>
          <a:xfrm>
            <a:off x="1704889" y="8041304"/>
            <a:ext cx="1515649" cy="10874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Worker Thread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0A60A-ECA0-41CE-ACE8-F3E24F6BBBCE}"/>
              </a:ext>
            </a:extLst>
          </p:cNvPr>
          <p:cNvSpPr txBox="1"/>
          <p:nvPr/>
        </p:nvSpPr>
        <p:spPr>
          <a:xfrm>
            <a:off x="4708263" y="6700143"/>
            <a:ext cx="1787874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Consolas" panose="020B0609020204030204" pitchFamily="49" charset="0"/>
                <a:cs typeface="Arial" panose="020B0604020202020204" pitchFamily="34" charset="0"/>
              </a:rPr>
              <a:t>work()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3F8C3-E0FA-430D-86B3-902D5116E80E}"/>
              </a:ext>
            </a:extLst>
          </p:cNvPr>
          <p:cNvSpPr txBox="1"/>
          <p:nvPr/>
        </p:nvSpPr>
        <p:spPr>
          <a:xfrm>
            <a:off x="3475841" y="8267900"/>
            <a:ext cx="4190088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Consolas" panose="020B0609020204030204" pitchFamily="49" charset="0"/>
                <a:cs typeface="Arial" panose="020B0604020202020204" pitchFamily="34" charset="0"/>
              </a:rPr>
              <a:t>work()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8208A-54DC-49B5-8223-B6CEFA047129}"/>
              </a:ext>
            </a:extLst>
          </p:cNvPr>
          <p:cNvSpPr txBox="1"/>
          <p:nvPr/>
        </p:nvSpPr>
        <p:spPr>
          <a:xfrm>
            <a:off x="6731260" y="6694521"/>
            <a:ext cx="3127887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cs typeface="Arial" panose="020B0604020202020204" pitchFamily="34" charset="0"/>
                <a:sym typeface="Helvetica Neue Light"/>
              </a:rPr>
              <a:t>pthread_exit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cs typeface="Arial" panose="020B0604020202020204" pitchFamily="34" charset="0"/>
                <a:sym typeface="Helvetica Neue Light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0263F-869F-440A-8D93-222C61E63F4B}"/>
              </a:ext>
            </a:extLst>
          </p:cNvPr>
          <p:cNvSpPr txBox="1"/>
          <p:nvPr/>
        </p:nvSpPr>
        <p:spPr>
          <a:xfrm>
            <a:off x="6731260" y="5313688"/>
            <a:ext cx="3127887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>
                <a:latin typeface="Consolas" panose="020B0609020204030204" pitchFamily="49" charset="0"/>
                <a:cs typeface="Arial" panose="020B0604020202020204" pitchFamily="34" charset="0"/>
              </a:rPr>
              <a:t>pthread_join</a:t>
            </a:r>
            <a:r>
              <a:rPr lang="en-US" sz="2800" dirty="0"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21C8BD-28AA-46B3-9C56-43CE21559535}"/>
              </a:ext>
            </a:extLst>
          </p:cNvPr>
          <p:cNvSpPr txBox="1"/>
          <p:nvPr/>
        </p:nvSpPr>
        <p:spPr>
          <a:xfrm>
            <a:off x="9975797" y="5309531"/>
            <a:ext cx="2355536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Consolas" panose="020B0609020204030204" pitchFamily="49" charset="0"/>
                <a:cs typeface="Arial" panose="020B0604020202020204" pitchFamily="34" charset="0"/>
              </a:rPr>
              <a:t>p…_join()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B50C2-ADE2-434C-9403-F3C2778DBA18}"/>
              </a:ext>
            </a:extLst>
          </p:cNvPr>
          <p:cNvSpPr txBox="1"/>
          <p:nvPr/>
        </p:nvSpPr>
        <p:spPr>
          <a:xfrm>
            <a:off x="9975797" y="8266786"/>
            <a:ext cx="2355536" cy="5950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onsolas" panose="020B0609020204030204" pitchFamily="49" charset="0"/>
                <a:cs typeface="Arial" panose="020B0604020202020204" pitchFamily="34" charset="0"/>
                <a:sym typeface="Helvetica Neue Light"/>
              </a:rPr>
              <a:t>p…_exit()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F2CE73-2F79-4F24-B0CD-74BB39FF4AEC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3715316" y="5907397"/>
            <a:ext cx="4131" cy="540904"/>
          </a:xfrm>
          <a:prstGeom prst="straightConnector1">
            <a:avLst/>
          </a:prstGeom>
          <a:noFill/>
          <a:ln w="63500" cap="flat">
            <a:solidFill>
              <a:schemeClr val="accent5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361307-D37B-4F0A-AEF2-A191777D7A87}"/>
              </a:ext>
            </a:extLst>
          </p:cNvPr>
          <p:cNvCxnSpPr>
            <a:cxnSpLocks/>
            <a:stCxn id="12" idx="0"/>
            <a:endCxn id="14" idx="2"/>
          </p:cNvCxnSpPr>
          <p:nvPr/>
        </p:nvCxnSpPr>
        <p:spPr>
          <a:xfrm flipV="1">
            <a:off x="8295204" y="5908723"/>
            <a:ext cx="0" cy="785798"/>
          </a:xfrm>
          <a:prstGeom prst="straightConnector1">
            <a:avLst/>
          </a:prstGeom>
          <a:noFill/>
          <a:ln w="63500" cap="flat">
            <a:solidFill>
              <a:schemeClr val="accent5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BD3D40-7A56-4A08-8697-13C142B2CC75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V="1">
            <a:off x="11153565" y="5904566"/>
            <a:ext cx="0" cy="2362220"/>
          </a:xfrm>
          <a:prstGeom prst="straightConnector1">
            <a:avLst/>
          </a:prstGeom>
          <a:noFill/>
          <a:ln w="63500" cap="flat">
            <a:solidFill>
              <a:schemeClr val="accent5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FB9713-3614-410C-A723-984FB13BACD9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5351745" y="5609880"/>
            <a:ext cx="1379515" cy="1326"/>
          </a:xfrm>
          <a:prstGeom prst="straightConnector1">
            <a:avLst/>
          </a:prstGeom>
          <a:noFill/>
          <a:ln w="63500" cap="flat">
            <a:solidFill>
              <a:schemeClr val="accent2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D95C2B7-81FB-4143-8462-0B84A764A6A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665930" y="8543353"/>
            <a:ext cx="2309867" cy="20951"/>
          </a:xfrm>
          <a:prstGeom prst="straightConnector1">
            <a:avLst/>
          </a:prstGeom>
          <a:noFill/>
          <a:ln w="63500" cap="flat">
            <a:solidFill>
              <a:schemeClr val="accent2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6025684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if main() returns?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UcPeriod"/>
            </a:pPr>
            <a:r>
              <a:rPr lang="en-US" dirty="0"/>
              <a:t>Only one thread, where main(), terminates. 10 threads are running</a:t>
            </a:r>
          </a:p>
          <a:p>
            <a:pPr marL="514350" indent="-514350">
              <a:buAutoNum type="alphaUcPeriod"/>
            </a:pPr>
            <a:r>
              <a:rPr lang="en-US" dirty="0"/>
              <a:t>The process terminates. All threads are terminated.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main(void)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create 10 threads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return 0;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50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a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Reading </a:t>
            </a:r>
          </a:p>
        </p:txBody>
      </p:sp>
      <p:sp>
        <p:nvSpPr>
          <p:cNvPr id="49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94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95" name="Book “Programming With POSIX Threads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Book “Programming With POSIX Threads”</a:t>
            </a:r>
          </a:p>
          <a:p>
            <a:pPr lvl="1"/>
            <a:r>
              <a:rPr dirty="0"/>
              <a:t>Chapters 1, 2, 3, 4</a:t>
            </a:r>
          </a:p>
          <a:p>
            <a:pPr lvl="1"/>
            <a:r>
              <a:rPr dirty="0"/>
              <a:t>Chapter 5, Sections 1</a:t>
            </a:r>
            <a:r>
              <a:rPr lang="en-US" dirty="0"/>
              <a:t> – 4 </a:t>
            </a:r>
          </a:p>
          <a:p>
            <a:r>
              <a:rPr dirty="0"/>
              <a:t>Nice to read too</a:t>
            </a:r>
          </a:p>
          <a:p>
            <a:pPr lvl="1"/>
            <a:r>
              <a:rPr lang="fr-FR" dirty="0" err="1"/>
              <a:t>Chapter</a:t>
            </a:r>
            <a:r>
              <a:rPr lang="fr-FR" dirty="0"/>
              <a:t> 6, Sections 1 – 5</a:t>
            </a:r>
            <a:endParaRPr lang="en-US" dirty="0"/>
          </a:p>
          <a:p>
            <a:pPr lvl="1"/>
            <a:r>
              <a:rPr dirty="0"/>
              <a:t>Chapter 8 [debugging]</a:t>
            </a:r>
          </a:p>
          <a:p>
            <a:pPr lvl="1"/>
            <a:r>
              <a:rPr dirty="0"/>
              <a:t>Chapter 9 [reference]</a:t>
            </a:r>
          </a:p>
        </p:txBody>
      </p:sp>
      <p:sp>
        <p:nvSpPr>
          <p:cNvPr id="4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pic>
        <p:nvPicPr>
          <p:cNvPr id="4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586" y="2216276"/>
            <a:ext cx="2552701" cy="3175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5945817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168EDB-64D6-4C4F-A427-2050F889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154E-C6DC-4AE2-8727-FD916AED5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the remaining slides yourself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84A26-41C2-4527-BC38-D53FA5862FB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1642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Passing Arguments and Getting Results Back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DB6DD-1227-4966-9DCF-65C22CCAB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9" name="Shape 25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/>
              <a:pPr lvl="0"/>
              <a:t>27</a:t>
            </a:fld>
            <a:endParaRPr lang="en-US"/>
          </a:p>
        </p:txBody>
      </p:sp>
      <p:sp>
        <p:nvSpPr>
          <p:cNvPr id="260" name="Shape 260"/>
          <p:cNvSpPr/>
          <p:nvPr/>
        </p:nvSpPr>
        <p:spPr>
          <a:xfrm>
            <a:off x="2592876" y="4673600"/>
            <a:ext cx="724000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defRPr sz="20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61" name="Shape 261"/>
          <p:cNvSpPr/>
          <p:nvPr/>
        </p:nvSpPr>
        <p:spPr>
          <a:xfrm>
            <a:off x="314040" y="1781580"/>
            <a:ext cx="12376720" cy="766363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NUM_THREADS	8</a:t>
            </a:r>
          </a:p>
          <a:p>
            <a:pPr algn="l"/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char* message;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algn="l"/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(void*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threadarg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*)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threadarg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sleep(1 + 5*(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% 2) );</a:t>
            </a:r>
          </a:p>
          <a:p>
            <a:pPr algn="l"/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-&gt;message);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("Thread #%d: %s  length=%d\n",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-&gt;message, 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pthread_exit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(NULL);</a:t>
            </a:r>
          </a:p>
          <a:p>
            <a:pPr algn="l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22482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Passing Arguments and Getting Results Back </a:t>
            </a:r>
          </a:p>
        </p:txBody>
      </p:sp>
      <p:sp>
        <p:nvSpPr>
          <p:cNvPr id="259" name="Shape 25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/>
              <a:pPr lvl="0"/>
              <a:t>28</a:t>
            </a:fld>
            <a:endParaRPr lang="en-US"/>
          </a:p>
        </p:txBody>
      </p:sp>
      <p:sp>
        <p:nvSpPr>
          <p:cNvPr id="260" name="Shape 260"/>
          <p:cNvSpPr/>
          <p:nvPr/>
        </p:nvSpPr>
        <p:spPr>
          <a:xfrm>
            <a:off x="2592876" y="4673600"/>
            <a:ext cx="724000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defRPr sz="20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61" name="Shape 261"/>
          <p:cNvSpPr/>
          <p:nvPr/>
        </p:nvSpPr>
        <p:spPr>
          <a:xfrm>
            <a:off x="314040" y="2435971"/>
            <a:ext cx="12376720" cy="5755422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main(int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char*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[]) 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threads[NUM_THREADS];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[NUM_THREADS];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char* messages[NUM_THREADS];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pPr algn="l"/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messages[0] = "English: Hello World!";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messages[1] = "French: Bonjour, le monde!";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messages[2] = "Spanish: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Hola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al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mundo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messages[3] = "Klingon: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Nuq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neH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messages[4] = "German: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Guten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Tag, Welt!";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messages[5] = "Russian: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Zdravstvuyte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messages[6] = "Japan: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Sekai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e konnichiwa!";</a:t>
            </a: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messages[7] = "Latin: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Orbis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saluto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</a:p>
          <a:p>
            <a:pPr algn="l"/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9662529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Passing Arguments and Getting Results Back </a:t>
            </a:r>
          </a:p>
        </p:txBody>
      </p:sp>
      <p:sp>
        <p:nvSpPr>
          <p:cNvPr id="259" name="Shape 259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/>
              <a:pPr lvl="0"/>
              <a:t>29</a:t>
            </a:fld>
            <a:endParaRPr lang="en-US"/>
          </a:p>
        </p:txBody>
      </p:sp>
      <p:sp>
        <p:nvSpPr>
          <p:cNvPr id="260" name="Shape 260"/>
          <p:cNvSpPr/>
          <p:nvPr/>
        </p:nvSpPr>
        <p:spPr>
          <a:xfrm>
            <a:off x="2592876" y="4673600"/>
            <a:ext cx="724000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defRPr sz="20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61" name="Shape 261"/>
          <p:cNvSpPr/>
          <p:nvPr/>
        </p:nvSpPr>
        <p:spPr>
          <a:xfrm>
            <a:off x="314040" y="2076916"/>
            <a:ext cx="12376720" cy="707886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for( t=0; t&lt;NUM_THREADS; t++ ) 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[t].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t;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[t].message = messages[t];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("Creating thread #%d\n", t);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(&amp;threads[t], NULL, 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[t]);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("ERROR; return code from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is %d\n",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exit(-1);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grand_total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for( t=0; t&lt;NUM_THREADS; t++ ) 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("Joining thread #%d\n", t);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threads[t], NULL 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if(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){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("ERROR; return code from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is %d\n",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exit(-1);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grand_total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[t].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("Grand total = %d\n",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grand_total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pthread_exit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(NULL);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548812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Common ways to use threads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  <a:p>
            <a:pPr lvl="1"/>
            <a:r>
              <a:rPr lang="en-US" dirty="0"/>
              <a:t>A task is broken into a series of sub-operations, each of which is handled in series, but concurrently, by a different thread (think automobile assembly line)</a:t>
            </a:r>
          </a:p>
          <a:p>
            <a:r>
              <a:rPr lang="en-US" dirty="0"/>
              <a:t>Manager/worker</a:t>
            </a:r>
          </a:p>
          <a:p>
            <a:pPr lvl="1"/>
            <a:r>
              <a:rPr lang="en-US" dirty="0"/>
              <a:t>A single thread, the manager assigns work to other threads, the workers. The manager handles all input and parcels out work to workers.</a:t>
            </a:r>
          </a:p>
          <a:p>
            <a:pPr lvl="1"/>
            <a:r>
              <a:rPr lang="en-US" dirty="0"/>
              <a:t>Two common forms: static worker pool and dynamic worker pool</a:t>
            </a:r>
          </a:p>
          <a:p>
            <a:r>
              <a:rPr lang="en-US" dirty="0"/>
              <a:t>Peer</a:t>
            </a:r>
          </a:p>
          <a:p>
            <a:pPr lvl="1"/>
            <a:r>
              <a:rPr lang="en-US" dirty="0"/>
              <a:t>Similar to the manager/worker model, but after the main thread creates other threads, it participates in the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6DE98B-8D19-4E4B-850E-F22916DC83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81682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Applications of threads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0B91B-6C06-4D13-8B23-84D9A4186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Parallel computing</a:t>
            </a:r>
          </a:p>
          <a:p>
            <a:pPr lvl="1"/>
            <a:r>
              <a:rPr lang="en-US" altLang="en-US" sz="2800" dirty="0"/>
              <a:t>On multi-core machines, threads can be executed at the same time</a:t>
            </a:r>
          </a:p>
          <a:p>
            <a:r>
              <a:rPr lang="en-US" altLang="en-US" sz="2800" dirty="0"/>
              <a:t>Overlap CPU work with I/O</a:t>
            </a:r>
          </a:p>
          <a:p>
            <a:pPr lvl="1"/>
            <a:r>
              <a:rPr lang="en-US" altLang="en-US" sz="2800" dirty="0"/>
              <a:t>While one thread is waiting for an I/O, others can perform CPU work</a:t>
            </a:r>
          </a:p>
          <a:p>
            <a:r>
              <a:rPr lang="en-US" altLang="en-US" sz="2800" dirty="0"/>
              <a:t>Asynchronous event handling</a:t>
            </a:r>
          </a:p>
          <a:p>
            <a:pPr lvl="1"/>
            <a:r>
              <a:rPr lang="en-US" altLang="en-US" sz="2800" dirty="0"/>
              <a:t>E.g., a web server can both transfer data from previous requests and manage the arrival of new requests</a:t>
            </a:r>
          </a:p>
          <a:p>
            <a:r>
              <a:rPr lang="en-US" altLang="en-US" sz="2800" dirty="0"/>
              <a:t>Priority/real-time scheduling</a:t>
            </a:r>
          </a:p>
          <a:p>
            <a:pPr lvl="1"/>
            <a:r>
              <a:rPr lang="en-US" altLang="en-US" sz="2800" dirty="0"/>
              <a:t>Important tasks can be scheduled with higher priority </a:t>
            </a:r>
          </a:p>
          <a:p>
            <a:r>
              <a:rPr lang="en-US" sz="2800" dirty="0"/>
              <a:t>Computer games</a:t>
            </a:r>
          </a:p>
          <a:p>
            <a:pPr lvl="1"/>
            <a:r>
              <a:rPr lang="en-US" sz="2800" dirty="0"/>
              <a:t>Each thread controls the movement of an object </a:t>
            </a:r>
            <a:endParaRPr lang="en-US" altLang="en-US" sz="2800" dirty="0"/>
          </a:p>
          <a:p>
            <a:r>
              <a:rPr lang="en-US" altLang="en-US" sz="2800" dirty="0"/>
              <a:t>…</a:t>
            </a: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8FDDA0-FA5E-4B10-A4BF-37D7E3ACEEC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99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Why is it hard </a:t>
            </a:r>
            <a:br>
              <a:rPr lang="en-US" dirty="0">
                <a:solidFill>
                  <a:schemeClr val="tx1"/>
                </a:solidFill>
                <a:latin typeface="Arial" charset="0"/>
              </a:rPr>
            </a:br>
            <a:r>
              <a:rPr lang="en-US" dirty="0">
                <a:solidFill>
                  <a:schemeClr val="tx1"/>
                </a:solidFill>
                <a:latin typeface="Arial" charset="0"/>
              </a:rPr>
              <a:t>for the princess to do everything by herself?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 hangingPunct="0">
              <a:spcBef>
                <a:spcPts val="0"/>
              </a:spcBef>
              <a:buSzTx/>
              <a:buNone/>
            </a:pPr>
            <a:r>
              <a:rPr lang="en-US" sz="3200" dirty="0">
                <a:solidFill>
                  <a:srgbClr val="000000"/>
                </a:solidFill>
                <a:sym typeface="Helvetica Neue Light"/>
              </a:rPr>
              <a:t>Imagine an application liked Microsoft Word.</a:t>
            </a:r>
          </a:p>
          <a:p>
            <a:pPr marL="0" indent="0" rtl="0" hangingPunct="0">
              <a:spcBef>
                <a:spcPts val="0"/>
              </a:spcBef>
              <a:buSzTx/>
              <a:buNone/>
            </a:pPr>
            <a:r>
              <a:rPr lang="en-US" sz="3200" dirty="0"/>
              <a:t>When you are typing, the process needs to</a:t>
            </a:r>
          </a:p>
          <a:p>
            <a:pPr lvl="1" rtl="0" hangingPunct="0">
              <a:spcBef>
                <a:spcPts val="0"/>
              </a:spcBef>
              <a:buSzTx/>
            </a:pPr>
            <a:r>
              <a:rPr lang="en-US" sz="3200" dirty="0"/>
              <a:t>Listen for keystrokes and display the text on screen</a:t>
            </a:r>
          </a:p>
          <a:p>
            <a:pPr lvl="1" rtl="0" hangingPunct="0">
              <a:spcBef>
                <a:spcPts val="0"/>
              </a:spcBef>
              <a:buSzTx/>
            </a:pPr>
            <a:r>
              <a:rPr lang="en-US" sz="3200" dirty="0"/>
              <a:t>Save data periodically to disk so you do not lose data in case of crash</a:t>
            </a:r>
          </a:p>
          <a:p>
            <a:pPr lvl="1" rtl="0" hangingPunct="0">
              <a:spcBef>
                <a:spcPts val="0"/>
              </a:spcBef>
              <a:buSzTx/>
            </a:pPr>
            <a:r>
              <a:rPr lang="en-US" sz="3200" dirty="0"/>
              <a:t>Reformat the document while you edit the text</a:t>
            </a:r>
          </a:p>
          <a:p>
            <a:pPr marL="457200" indent="-457200" rtl="0" hangingPunct="0">
              <a:spcBef>
                <a:spcPts val="0"/>
              </a:spcBef>
              <a:buSzTx/>
              <a:buFontTx/>
              <a:buChar char="-"/>
            </a:pPr>
            <a:endParaRPr lang="en-US" sz="3200" dirty="0"/>
          </a:p>
          <a:p>
            <a:pPr marL="0" indent="0" rtl="0" hangingPunct="0">
              <a:spcBef>
                <a:spcPts val="0"/>
              </a:spcBef>
              <a:buSzTx/>
              <a:buNone/>
            </a:pPr>
            <a:r>
              <a:rPr lang="en-US" sz="3200" dirty="0"/>
              <a:t>How can a single process </a:t>
            </a:r>
            <a:r>
              <a:rPr lang="en-US" sz="3200" dirty="0">
                <a:solidFill>
                  <a:srgbClr val="FF0000"/>
                </a:solidFill>
              </a:rPr>
              <a:t>(i.e., one princess) </a:t>
            </a:r>
            <a:r>
              <a:rPr lang="en-US" sz="3200" dirty="0"/>
              <a:t>can do all these concurrently?</a:t>
            </a:r>
          </a:p>
          <a:p>
            <a:pPr marL="457200" indent="-457200" rtl="0" hangingPunct="0">
              <a:spcBef>
                <a:spcPts val="0"/>
              </a:spcBef>
              <a:buSzTx/>
              <a:buFontTx/>
              <a:buChar char="-"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 rtl="0" hangingPunct="0">
              <a:spcBef>
                <a:spcPts val="0"/>
              </a:spcBef>
              <a:buSzTx/>
              <a:buNone/>
            </a:pPr>
            <a:r>
              <a:rPr lang="en-US" sz="2800" dirty="0">
                <a:solidFill>
                  <a:srgbClr val="FF0000"/>
                </a:solidFill>
              </a:rPr>
              <a:t>The answer is she cannot without affecting application performance!</a:t>
            </a:r>
          </a:p>
          <a:p>
            <a:pPr marL="0" indent="0" rtl="0" hangingPunct="0">
              <a:spcBef>
                <a:spcPts val="0"/>
              </a:spcBef>
              <a:buSzTx/>
              <a:buNone/>
            </a:pPr>
            <a:endParaRPr lang="en-US" sz="280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5123B8-99CE-4CCF-A114-4E3BD37A8C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02215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8128000"/>
            <a:ext cx="13004800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>
              <a:spcBef>
                <a:spcPct val="20000"/>
              </a:spcBef>
            </a:pPr>
            <a:r>
              <a:rPr lang="en-US" sz="3400" dirty="0">
                <a:latin typeface="Arial" charset="0"/>
              </a:rPr>
              <a:t>A word processor with three threads.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0"/>
            <a:ext cx="130048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r>
              <a:rPr lang="en-US" sz="4400" dirty="0">
                <a:solidFill>
                  <a:srgbClr val="FF0000"/>
                </a:solidFill>
                <a:latin typeface="Arial" charset="0"/>
              </a:rPr>
              <a:t>We solve it by creating multiple threads!</a:t>
            </a:r>
          </a:p>
        </p:txBody>
      </p:sp>
      <p:pic>
        <p:nvPicPr>
          <p:cNvPr id="22534" name="Picture 6" descr="02-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51" y="2086187"/>
            <a:ext cx="10674773" cy="536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ADA16-F839-44B7-A56E-A50834A3B0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15818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Usage Example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Usage Examples?</a:t>
            </a:r>
          </a:p>
        </p:txBody>
      </p:sp>
      <p:sp>
        <p:nvSpPr>
          <p:cNvPr id="38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388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89" name="Use cas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dirty="0">
                <a:solidFill>
                  <a:srgbClr val="00B050"/>
                </a:solidFill>
              </a:rPr>
              <a:t>We will create multiple threads, one thread for each sub tasks</a:t>
            </a:r>
          </a:p>
          <a:p>
            <a:pPr lvl="2"/>
            <a:r>
              <a:rPr dirty="0"/>
              <a:t>One thread controls a GUI</a:t>
            </a:r>
          </a:p>
          <a:p>
            <a:pPr lvl="2"/>
            <a:r>
              <a:rPr lang="en-US" dirty="0"/>
              <a:t>One </a:t>
            </a:r>
            <a:r>
              <a:rPr dirty="0"/>
              <a:t>thread </a:t>
            </a:r>
            <a:r>
              <a:rPr lang="en-US" dirty="0"/>
              <a:t>reformats the document</a:t>
            </a:r>
            <a:endParaRPr dirty="0"/>
          </a:p>
          <a:p>
            <a:pPr lvl="2"/>
            <a:r>
              <a:rPr lang="en-US" dirty="0"/>
              <a:t>One </a:t>
            </a:r>
            <a:r>
              <a:rPr dirty="0"/>
              <a:t>thread do</a:t>
            </a:r>
            <a:r>
              <a:rPr lang="en-US" dirty="0"/>
              <a:t>es</a:t>
            </a:r>
            <a:r>
              <a:rPr dirty="0"/>
              <a:t> background tasks (e.g., </a:t>
            </a:r>
            <a:r>
              <a:rPr lang="en-US" dirty="0"/>
              <a:t>saving</a:t>
            </a:r>
            <a:r>
              <a:rPr dirty="0"/>
              <a:t>!)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Other Examples</a:t>
            </a:r>
          </a:p>
          <a:p>
            <a:pPr lvl="2"/>
            <a:r>
              <a:rPr dirty="0"/>
              <a:t>Worker threads do parallel computations</a:t>
            </a:r>
          </a:p>
          <a:p>
            <a:pPr lvl="3"/>
            <a:r>
              <a:rPr dirty="0"/>
              <a:t>e.g., in matrix-vector multiplication: do all the rows in parallel</a:t>
            </a:r>
          </a:p>
          <a:p>
            <a:pPr lvl="3"/>
            <a:r>
              <a:rPr dirty="0"/>
              <a:t>e.g., simulate agents in parallel [think agents in games!]</a:t>
            </a:r>
          </a:p>
        </p:txBody>
      </p:sp>
      <p:sp>
        <p:nvSpPr>
          <p:cNvPr id="3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652723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Classical Thread Model (1)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66973" indent="-866973">
              <a:spcBef>
                <a:spcPct val="20000"/>
              </a:spcBef>
              <a:buAutoNum type="alphaLcParenBoth"/>
            </a:pPr>
            <a:r>
              <a:rPr lang="en-US" sz="3200" dirty="0">
                <a:latin typeface="Arial" charset="0"/>
              </a:rPr>
              <a:t>Three processes each with one thread. </a:t>
            </a:r>
          </a:p>
          <a:p>
            <a:pPr marL="866973" indent="-866973">
              <a:spcBef>
                <a:spcPct val="20000"/>
              </a:spcBef>
              <a:buAutoNum type="alphaLcParenBoth"/>
            </a:pPr>
            <a:r>
              <a:rPr lang="en-US" sz="3200" dirty="0">
                <a:latin typeface="Arial" charset="0"/>
              </a:rPr>
              <a:t>One process with three threads.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26" name="Picture 6" descr="02-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05" y="4085449"/>
            <a:ext cx="11781084" cy="480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E1E03-4D8F-4285-B349-CDBFD165002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63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707906" y="6425635"/>
            <a:ext cx="5835135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>
              <a:spcBef>
                <a:spcPct val="20000"/>
              </a:spcBef>
            </a:pPr>
            <a:r>
              <a:rPr lang="en-US" sz="3400" dirty="0">
                <a:solidFill>
                  <a:schemeClr val="accent1"/>
                </a:solidFill>
                <a:latin typeface="Arial" charset="0"/>
              </a:rPr>
              <a:t>Shared by all threads </a:t>
            </a:r>
            <a:br>
              <a:rPr lang="en-US" sz="3400" dirty="0">
                <a:latin typeface="Arial" charset="0"/>
              </a:rPr>
            </a:br>
            <a:r>
              <a:rPr lang="en-US" sz="3400" dirty="0">
                <a:latin typeface="Arial" charset="0"/>
              </a:rPr>
              <a:t>in a process. 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0" y="0"/>
            <a:ext cx="130048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r>
              <a:rPr lang="en-US" sz="5100" dirty="0">
                <a:solidFill>
                  <a:srgbClr val="FF0000"/>
                </a:solidFill>
                <a:latin typeface="Arial" charset="0"/>
              </a:rPr>
              <a:t>The Classical Thread Model (2)</a:t>
            </a:r>
          </a:p>
        </p:txBody>
      </p:sp>
      <p:pic>
        <p:nvPicPr>
          <p:cNvPr id="32774" name="Picture 6" descr="02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6" y="2488071"/>
            <a:ext cx="12160391" cy="393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49C62B5-360F-46E8-8130-703A1F7C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178" y="6425634"/>
            <a:ext cx="5630716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>
              <a:spcBef>
                <a:spcPct val="20000"/>
              </a:spcBef>
            </a:pPr>
            <a:r>
              <a:rPr lang="en-US" sz="3400" dirty="0">
                <a:latin typeface="Arial" charset="0"/>
              </a:rPr>
              <a:t>Private to each thread.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931AE4-78C2-4531-A402-D5A28209D494}"/>
              </a:ext>
            </a:extLst>
          </p:cNvPr>
          <p:cNvCxnSpPr>
            <a:stCxn id="32774" idx="2"/>
          </p:cNvCxnSpPr>
          <p:nvPr/>
        </p:nvCxnSpPr>
        <p:spPr>
          <a:xfrm flipH="1">
            <a:off x="6543041" y="6425635"/>
            <a:ext cx="1" cy="2026387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30D92-B8E6-4DAE-AF11-718C827F44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109948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0" y="8128000"/>
            <a:ext cx="13004800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>
              <a:spcBef>
                <a:spcPct val="20000"/>
              </a:spcBef>
            </a:pPr>
            <a:r>
              <a:rPr lang="en-US" sz="3400" dirty="0">
                <a:latin typeface="Arial" charset="0"/>
              </a:rPr>
              <a:t>Each thread has its own stack.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0" y="0"/>
            <a:ext cx="130048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r>
              <a:rPr lang="en-US" sz="5100" dirty="0">
                <a:solidFill>
                  <a:srgbClr val="FF0000"/>
                </a:solidFill>
                <a:latin typeface="Arial" charset="0"/>
              </a:rPr>
              <a:t>The Classical Thread Model (3)</a:t>
            </a:r>
          </a:p>
        </p:txBody>
      </p:sp>
      <p:pic>
        <p:nvPicPr>
          <p:cNvPr id="34822" name="Picture 6" descr="02-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774" y="2174240"/>
            <a:ext cx="9943253" cy="557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B6A840-5339-472B-B106-5C6FF316D7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07700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8128000"/>
            <a:ext cx="13004800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>
              <a:spcBef>
                <a:spcPct val="20000"/>
              </a:spcBef>
              <a:buAutoNum type="alphaLcParenBoth"/>
            </a:pPr>
            <a:r>
              <a:rPr lang="en-US" sz="3400" dirty="0">
                <a:latin typeface="Arial" charset="0"/>
              </a:rPr>
              <a:t>A user-level threads package. </a:t>
            </a:r>
          </a:p>
          <a:p>
            <a:pPr marL="866973" indent="-866973">
              <a:spcBef>
                <a:spcPct val="20000"/>
              </a:spcBef>
              <a:buAutoNum type="alphaLcParenBoth"/>
            </a:pPr>
            <a:r>
              <a:rPr lang="en-US" sz="3400" dirty="0">
                <a:solidFill>
                  <a:srgbClr val="0070C0"/>
                </a:solidFill>
                <a:latin typeface="Arial" charset="0"/>
              </a:rPr>
              <a:t>A threads package managed by the kernel.</a:t>
            </a: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395416" y="234778"/>
            <a:ext cx="12208476" cy="1390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r>
              <a:rPr lang="en-US" sz="5100" dirty="0">
                <a:solidFill>
                  <a:srgbClr val="FF0000"/>
                </a:solidFill>
                <a:latin typeface="Arial" charset="0"/>
              </a:rPr>
              <a:t>Implementing Threads</a:t>
            </a:r>
          </a:p>
        </p:txBody>
      </p:sp>
      <p:pic>
        <p:nvPicPr>
          <p:cNvPr id="43014" name="Picture 6" descr="02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05" y="2451947"/>
            <a:ext cx="9834880" cy="465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7BC72A-ECB8-4837-94AA-EEA0EEE0E1C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50498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he Plo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The Plot</a:t>
            </a:r>
          </a:p>
        </p:txBody>
      </p:sp>
      <p:sp>
        <p:nvSpPr>
          <p:cNvPr id="47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478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79" name="What you wish to share (the toy) i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What you wish to share (the toy) is</a:t>
            </a:r>
          </a:p>
          <a:p>
            <a:pPr lvl="1"/>
            <a:r>
              <a:rPr dirty="0"/>
              <a:t>The variable x</a:t>
            </a:r>
          </a:p>
          <a:p>
            <a:pPr lvl="1"/>
            <a:r>
              <a:rPr dirty="0"/>
              <a:t>It exists somewhere in the shared virtual address space</a:t>
            </a:r>
          </a:p>
          <a:p>
            <a:pPr lvl="1"/>
            <a:r>
              <a:rPr dirty="0"/>
              <a:t>It has no special status (compared to other memory regions!)</a:t>
            </a:r>
          </a:p>
          <a:p>
            <a:r>
              <a:rPr dirty="0"/>
              <a:t>The protagonist who both want to play with the toy are</a:t>
            </a:r>
          </a:p>
          <a:p>
            <a:pPr lvl="1"/>
            <a:r>
              <a:rPr dirty="0"/>
              <a:t>thread 1</a:t>
            </a:r>
          </a:p>
          <a:p>
            <a:pPr lvl="1"/>
            <a:r>
              <a:rPr dirty="0"/>
              <a:t>thread 2</a:t>
            </a:r>
          </a:p>
        </p:txBody>
      </p:sp>
      <p:sp>
        <p:nvSpPr>
          <p:cNvPr id="4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 dirty="0"/>
          </a:p>
        </p:txBody>
      </p:sp>
      <p:pic>
        <p:nvPicPr>
          <p:cNvPr id="48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4" y="6949830"/>
            <a:ext cx="3738872" cy="262731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900" y="5507867"/>
            <a:ext cx="1397000" cy="1397001"/>
          </a:xfrm>
          <a:prstGeom prst="rect">
            <a:avLst/>
          </a:prstGeom>
          <a:ln w="12700">
            <a:miter lim="400000"/>
          </a:ln>
        </p:spPr>
      </p:pic>
      <p:sp>
        <p:nvSpPr>
          <p:cNvPr id="483" name="x"/>
          <p:cNvSpPr txBox="1"/>
          <p:nvPr/>
        </p:nvSpPr>
        <p:spPr>
          <a:xfrm>
            <a:off x="5829222" y="5851785"/>
            <a:ext cx="35864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x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Your objectiv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Your objective</a:t>
            </a:r>
          </a:p>
        </p:txBody>
      </p:sp>
      <p:sp>
        <p:nvSpPr>
          <p:cNvPr id="48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48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88" name="Protect the toy (x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Protect the toy (x)</a:t>
            </a:r>
          </a:p>
          <a:p>
            <a:pPr lvl="1"/>
            <a:r>
              <a:rPr dirty="0"/>
              <a:t>Make sure nothing “bad” happens to it.</a:t>
            </a:r>
          </a:p>
          <a:p>
            <a:pPr lvl="1"/>
            <a:r>
              <a:rPr dirty="0"/>
              <a:t>In particular, make sure it has the correct value at the end.</a:t>
            </a:r>
          </a:p>
          <a:p>
            <a:r>
              <a:rPr dirty="0"/>
              <a:t>Recall</a:t>
            </a:r>
          </a:p>
          <a:p>
            <a:pPr lvl="1"/>
            <a:r>
              <a:rPr dirty="0"/>
              <a:t>x exist</a:t>
            </a:r>
            <a:r>
              <a:rPr lang="en-US" dirty="0"/>
              <a:t>s</a:t>
            </a:r>
            <a:r>
              <a:rPr dirty="0"/>
              <a:t> in memory</a:t>
            </a:r>
          </a:p>
          <a:p>
            <a:pPr lvl="1"/>
            <a:r>
              <a:rPr dirty="0"/>
              <a:t>So you wish to protect memory (an integer)</a:t>
            </a:r>
          </a:p>
        </p:txBody>
      </p:sp>
      <p:sp>
        <p:nvSpPr>
          <p:cNvPr id="4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 dirty="0"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Idea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Idea</a:t>
            </a:r>
          </a:p>
        </p:txBody>
      </p:sp>
      <p:sp>
        <p:nvSpPr>
          <p:cNvPr id="49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49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00" name="You cannot protect the memory holding “x”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2228678" cy="6565900"/>
          </a:xfrm>
          <a:prstGeom prst="rect">
            <a:avLst/>
          </a:prstGeom>
        </p:spPr>
        <p:txBody>
          <a:bodyPr/>
          <a:lstStyle/>
          <a:p>
            <a:r>
              <a:rPr dirty="0"/>
              <a:t>You cannot protect the memory holding “x”</a:t>
            </a:r>
            <a:r>
              <a:rPr lang="en-US" dirty="0"/>
              <a:t> </a:t>
            </a:r>
            <a:endParaRPr dirty="0"/>
          </a:p>
          <a:p>
            <a:r>
              <a:rPr dirty="0"/>
              <a:t>But…</a:t>
            </a:r>
          </a:p>
          <a:p>
            <a:r>
              <a:rPr dirty="0"/>
              <a:t>You can </a:t>
            </a:r>
            <a:r>
              <a:rPr lang="en-US" dirty="0"/>
              <a:t>specify</a:t>
            </a:r>
            <a:r>
              <a:rPr dirty="0"/>
              <a:t> a </a:t>
            </a:r>
            <a:r>
              <a:rPr b="1" dirty="0">
                <a:solidFill>
                  <a:schemeClr val="accent1"/>
                </a:solidFill>
              </a:rPr>
              <a:t>protocol</a:t>
            </a:r>
            <a:r>
              <a:rPr dirty="0"/>
              <a:t> </a:t>
            </a:r>
            <a:r>
              <a:rPr lang="en-US" dirty="0"/>
              <a:t>for everyone </a:t>
            </a:r>
            <a:r>
              <a:rPr dirty="0"/>
              <a:t>using “x”</a:t>
            </a:r>
          </a:p>
          <a:p>
            <a:pPr lvl="1"/>
            <a:r>
              <a:rPr dirty="0"/>
              <a:t>If a thread wishes to increase “x”…</a:t>
            </a:r>
          </a:p>
          <a:p>
            <a:pPr lvl="2"/>
            <a:r>
              <a:rPr dirty="0"/>
              <a:t>It must </a:t>
            </a:r>
            <a:r>
              <a:rPr b="1" dirty="0">
                <a:solidFill>
                  <a:srgbClr val="FF2600"/>
                </a:solidFill>
              </a:rPr>
              <a:t>grab</a:t>
            </a:r>
            <a:r>
              <a:rPr dirty="0"/>
              <a:t> a specific “</a:t>
            </a:r>
            <a:r>
              <a:rPr dirty="0">
                <a:solidFill>
                  <a:srgbClr val="0433FF"/>
                </a:solidFill>
              </a:rPr>
              <a:t>lock</a:t>
            </a:r>
            <a:r>
              <a:rPr dirty="0"/>
              <a:t>”   						[</a:t>
            </a:r>
            <a:r>
              <a:rPr dirty="0">
                <a:solidFill>
                  <a:srgbClr val="0433FF"/>
                </a:solidFill>
              </a:rPr>
              <a:t>lock</a:t>
            </a:r>
            <a:r>
              <a:rPr dirty="0"/>
              <a:t>]</a:t>
            </a:r>
          </a:p>
          <a:p>
            <a:pPr lvl="2"/>
            <a:r>
              <a:rPr dirty="0"/>
              <a:t>If it has the “</a:t>
            </a:r>
            <a:r>
              <a:rPr dirty="0">
                <a:solidFill>
                  <a:srgbClr val="0433FF"/>
                </a:solidFill>
              </a:rPr>
              <a:t>lock”</a:t>
            </a:r>
            <a:r>
              <a:rPr dirty="0"/>
              <a:t>, it can do what it wants to x.	</a:t>
            </a:r>
            <a:r>
              <a:rPr lang="en-US" dirty="0"/>
              <a:t>	</a:t>
            </a:r>
            <a:r>
              <a:rPr dirty="0">
                <a:solidFill>
                  <a:srgbClr val="FF2600"/>
                </a:solidFill>
              </a:rPr>
              <a:t>[critical section]</a:t>
            </a:r>
          </a:p>
          <a:p>
            <a:pPr lvl="2"/>
            <a:r>
              <a:rPr dirty="0"/>
              <a:t>When done with x it must </a:t>
            </a:r>
            <a:r>
              <a:rPr b="1" dirty="0">
                <a:solidFill>
                  <a:srgbClr val="FF2600"/>
                </a:solidFill>
              </a:rPr>
              <a:t>release</a:t>
            </a:r>
            <a:r>
              <a:rPr dirty="0"/>
              <a:t> the “</a:t>
            </a:r>
            <a:r>
              <a:rPr dirty="0">
                <a:solidFill>
                  <a:srgbClr val="0433FF"/>
                </a:solidFill>
              </a:rPr>
              <a:t>lock</a:t>
            </a:r>
            <a:r>
              <a:rPr dirty="0"/>
              <a:t>”		[</a:t>
            </a:r>
            <a:r>
              <a:rPr dirty="0">
                <a:solidFill>
                  <a:srgbClr val="0433FF"/>
                </a:solidFill>
              </a:rPr>
              <a:t>unlock</a:t>
            </a:r>
            <a:r>
              <a:rPr dirty="0"/>
              <a:t>]</a:t>
            </a:r>
          </a:p>
          <a:p>
            <a:pPr lvl="1"/>
            <a:r>
              <a:rPr dirty="0"/>
              <a:t>If it does not have the lock, it must </a:t>
            </a:r>
            <a:r>
              <a:rPr b="1" dirty="0">
                <a:solidFill>
                  <a:srgbClr val="FF2600"/>
                </a:solidFill>
              </a:rPr>
              <a:t>wait</a:t>
            </a:r>
            <a:endParaRPr lang="en-US" b="1" dirty="0">
              <a:solidFill>
                <a:srgbClr val="FF26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2600"/>
              </a:solidFill>
            </a:endParaRPr>
          </a:p>
          <a:p>
            <a:pPr marL="0" indent="0">
              <a:buNone/>
            </a:pPr>
            <a:r>
              <a:rPr lang="en-US" dirty="0"/>
              <a:t>You do not protect x directly. </a:t>
            </a:r>
          </a:p>
          <a:p>
            <a:pPr marL="0" indent="0">
              <a:buNone/>
            </a:pPr>
            <a:r>
              <a:rPr lang="en-US" dirty="0"/>
              <a:t>Instead, you discipline the code that touches x.</a:t>
            </a:r>
          </a:p>
          <a:p>
            <a:pPr marL="0" indent="0">
              <a:buNone/>
            </a:pPr>
            <a:endParaRPr b="1" dirty="0">
              <a:solidFill>
                <a:srgbClr val="FF2600"/>
              </a:solidFill>
            </a:endParaRPr>
          </a:p>
        </p:txBody>
      </p:sp>
      <p:sp>
        <p:nvSpPr>
          <p:cNvPr id="5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 dirty="0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Idea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Idea 1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Is this slide necessary? - Maifi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9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49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94" name="Put x in a “mini-prison”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Put x in a “mini-prison”</a:t>
            </a:r>
          </a:p>
          <a:p>
            <a:pPr lvl="1"/>
            <a:r>
              <a:rPr dirty="0"/>
              <a:t>If  thread 1 wishes to increment “x”</a:t>
            </a:r>
          </a:p>
          <a:p>
            <a:pPr lvl="2"/>
            <a:r>
              <a:rPr dirty="0"/>
              <a:t>It must take “x” out of its prison, increment it, and put it back.</a:t>
            </a:r>
          </a:p>
          <a:p>
            <a:pPr lvl="1"/>
            <a:r>
              <a:rPr dirty="0"/>
              <a:t>If thread 2 wishes to increment “x” and the cell is empty….</a:t>
            </a:r>
          </a:p>
          <a:p>
            <a:pPr lvl="2"/>
            <a:r>
              <a:rPr dirty="0"/>
              <a:t>It must </a:t>
            </a:r>
            <a:r>
              <a:rPr b="1" i="1" dirty="0">
                <a:solidFill>
                  <a:schemeClr val="accent1"/>
                </a:solidFill>
              </a:rPr>
              <a:t>wait</a:t>
            </a:r>
            <a:r>
              <a:rPr dirty="0"/>
              <a:t> until “x” is back in its cell!</a:t>
            </a:r>
          </a:p>
          <a:p>
            <a:r>
              <a:rPr dirty="0"/>
              <a:t>Does this work ? [conceptually]</a:t>
            </a:r>
          </a:p>
          <a:p>
            <a:endParaRPr dirty="0"/>
          </a:p>
          <a:p>
            <a:r>
              <a:rPr dirty="0"/>
              <a:t>Does this work ? [practically]</a:t>
            </a:r>
          </a:p>
        </p:txBody>
      </p:sp>
      <p:sp>
        <p:nvSpPr>
          <p:cNvPr id="4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316857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32-bit Impl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32-bit Implication</a:t>
            </a:r>
          </a:p>
        </p:txBody>
      </p:sp>
      <p:sp>
        <p:nvSpPr>
          <p:cNvPr id="33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33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8" name="Virtual Address Space size on 32-bit O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Virtual Address Space size on 32-bit OS</a:t>
            </a:r>
          </a:p>
          <a:p>
            <a:pPr lvl="1"/>
            <a:r>
              <a:rPr dirty="0"/>
              <a:t>Linux: 2G</a:t>
            </a:r>
          </a:p>
          <a:p>
            <a:pPr lvl="1"/>
            <a:r>
              <a:rPr dirty="0"/>
              <a:t>Windows: 1G</a:t>
            </a:r>
          </a:p>
          <a:p>
            <a:r>
              <a:rPr dirty="0"/>
              <a:t>Typical stack size  per thread</a:t>
            </a:r>
          </a:p>
          <a:p>
            <a:pPr lvl="1"/>
            <a:r>
              <a:rPr dirty="0"/>
              <a:t>8 Megs</a:t>
            </a:r>
          </a:p>
          <a:p>
            <a:r>
              <a:rPr dirty="0"/>
              <a:t>Memory usage goes to</a:t>
            </a:r>
          </a:p>
          <a:p>
            <a:pPr lvl="1"/>
            <a:r>
              <a:rPr dirty="0"/>
              <a:t>Executable: 	~ 1 to 50 megs</a:t>
            </a:r>
          </a:p>
          <a:p>
            <a:pPr lvl="1"/>
            <a:r>
              <a:rPr dirty="0"/>
              <a:t>Heap:			~ 1 to 200 megs</a:t>
            </a:r>
          </a:p>
          <a:p>
            <a:pPr lvl="1"/>
            <a:r>
              <a:rPr dirty="0"/>
              <a:t>Stacks:		~  # threads * 8  → 100 threads yield 800 megs</a:t>
            </a:r>
          </a:p>
          <a:p>
            <a:r>
              <a:rPr dirty="0"/>
              <a:t>Total near the limit of the address space size. </a:t>
            </a:r>
          </a:p>
        </p:txBody>
      </p:sp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838028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ircumventing the limit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Circumventing the limit?</a:t>
            </a:r>
          </a:p>
        </p:txBody>
      </p:sp>
      <p:sp>
        <p:nvSpPr>
          <p:cNvPr id="34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pic>
        <p:nvPicPr>
          <p:cNvPr id="34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4" name="Several “ways” to hop alo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</a:pPr>
            <a:r>
              <a:rPr dirty="0"/>
              <a:t>Several “ways” to hop along</a:t>
            </a:r>
          </a:p>
          <a:p>
            <a:pPr lvl="1">
              <a:spcBef>
                <a:spcPts val="400"/>
              </a:spcBef>
            </a:pPr>
            <a:r>
              <a:rPr dirty="0"/>
              <a:t>Make smaller stacks!  [but beware of recursion]</a:t>
            </a:r>
          </a:p>
          <a:p>
            <a:pPr lvl="1">
              <a:spcBef>
                <a:spcPts val="400"/>
              </a:spcBef>
            </a:pPr>
            <a:r>
              <a:rPr dirty="0"/>
              <a:t>Separate tasks in several process that </a:t>
            </a:r>
          </a:p>
          <a:p>
            <a:pPr lvl="2">
              <a:spcBef>
                <a:spcPts val="400"/>
              </a:spcBef>
            </a:pPr>
            <a:r>
              <a:rPr dirty="0"/>
              <a:t>Communicate via pipes </a:t>
            </a:r>
          </a:p>
          <a:p>
            <a:pPr lvl="2">
              <a:spcBef>
                <a:spcPts val="400"/>
              </a:spcBef>
            </a:pPr>
            <a:r>
              <a:rPr dirty="0"/>
              <a:t>Communicate via </a:t>
            </a:r>
            <a:r>
              <a:rPr i="1" dirty="0"/>
              <a:t>shared</a:t>
            </a:r>
            <a:r>
              <a:rPr dirty="0"/>
              <a:t> virtual memory</a:t>
            </a:r>
          </a:p>
          <a:p>
            <a:pPr lvl="1">
              <a:spcBef>
                <a:spcPts val="400"/>
              </a:spcBef>
            </a:pPr>
            <a:r>
              <a:rPr dirty="0"/>
              <a:t>Use a 64-bit OS!</a:t>
            </a:r>
          </a:p>
          <a:p>
            <a:pPr lvl="2">
              <a:spcBef>
                <a:spcPts val="400"/>
              </a:spcBef>
            </a:pPr>
            <a:r>
              <a:rPr dirty="0"/>
              <a:t>Remember 8 megs = 2</a:t>
            </a:r>
            <a:r>
              <a:rPr baseline="31999" dirty="0"/>
              <a:t>23</a:t>
            </a:r>
          </a:p>
          <a:p>
            <a:pPr lvl="2">
              <a:spcBef>
                <a:spcPts val="400"/>
              </a:spcBef>
            </a:pPr>
            <a:r>
              <a:rPr dirty="0" err="1"/>
              <a:t>Adress</a:t>
            </a:r>
            <a:r>
              <a:rPr dirty="0"/>
              <a:t> space size   = 2</a:t>
            </a:r>
            <a:r>
              <a:rPr baseline="31999" dirty="0"/>
              <a:t>64</a:t>
            </a:r>
          </a:p>
          <a:p>
            <a:pPr lvl="2">
              <a:spcBef>
                <a:spcPts val="400"/>
              </a:spcBef>
            </a:pPr>
            <a:r>
              <a:rPr dirty="0"/>
              <a:t>Executable space: no more than 1/2 !</a:t>
            </a:r>
          </a:p>
          <a:p>
            <a:pPr lvl="3">
              <a:spcBef>
                <a:spcPts val="400"/>
              </a:spcBef>
            </a:pPr>
            <a:r>
              <a:rPr dirty="0"/>
              <a:t>What’s left is still  2</a:t>
            </a:r>
            <a:r>
              <a:rPr baseline="31999" dirty="0"/>
              <a:t>63</a:t>
            </a:r>
          </a:p>
          <a:p>
            <a:pPr lvl="2">
              <a:spcBef>
                <a:spcPts val="400"/>
              </a:spcBef>
            </a:pPr>
            <a:r>
              <a:rPr dirty="0"/>
              <a:t>How many stacks can you have? </a:t>
            </a:r>
          </a:p>
        </p:txBody>
      </p:sp>
      <p:sp>
        <p:nvSpPr>
          <p:cNvPr id="3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sp>
        <p:nvSpPr>
          <p:cNvPr id="346" name="~240"/>
          <p:cNvSpPr txBox="1"/>
          <p:nvPr/>
        </p:nvSpPr>
        <p:spPr>
          <a:xfrm>
            <a:off x="7189878" y="7277756"/>
            <a:ext cx="1078146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~2</a:t>
            </a:r>
            <a:r>
              <a:rPr baseline="31999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965574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" grpId="0" animBg="1" advAuto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hreads and MIMD architec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and MIMD architectures</a:t>
            </a:r>
          </a:p>
        </p:txBody>
      </p:sp>
      <p:sp>
        <p:nvSpPr>
          <p:cNvPr id="36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6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70" name="MIMD =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MIMD =</a:t>
            </a:r>
          </a:p>
          <a:p>
            <a:pPr lvl="1"/>
            <a:r>
              <a:rPr>
                <a:solidFill>
                  <a:schemeClr val="accent1"/>
                </a:solidFill>
              </a:rPr>
              <a:t>M</a:t>
            </a:r>
            <a:r>
              <a:t>ultiple </a:t>
            </a:r>
          </a:p>
          <a:p>
            <a:pPr lvl="1"/>
            <a:r>
              <a:rPr>
                <a:solidFill>
                  <a:schemeClr val="accent1"/>
                </a:solidFill>
              </a:rPr>
              <a:t>I</a:t>
            </a:r>
            <a:r>
              <a:t>nstructions</a:t>
            </a:r>
          </a:p>
          <a:p>
            <a:pPr lvl="1"/>
            <a:r>
              <a:rPr>
                <a:solidFill>
                  <a:schemeClr val="accent1"/>
                </a:solidFill>
              </a:rPr>
              <a:t>M</a:t>
            </a:r>
            <a:r>
              <a:t>ultiple</a:t>
            </a:r>
          </a:p>
          <a:p>
            <a:pPr lvl="1"/>
            <a:r>
              <a:rPr>
                <a:solidFill>
                  <a:schemeClr val="accent1"/>
                </a:solidFill>
              </a:rPr>
              <a:t>D</a:t>
            </a:r>
            <a:r>
              <a:t>ata</a:t>
            </a:r>
          </a:p>
          <a:p>
            <a:r>
              <a:t>Processor has </a:t>
            </a:r>
          </a:p>
          <a:p>
            <a:pPr lvl="1"/>
            <a:r>
              <a:t>Multiple execution units</a:t>
            </a:r>
          </a:p>
          <a:p>
            <a:pPr lvl="1"/>
            <a:r>
              <a:t>All executing independently</a:t>
            </a:r>
          </a:p>
          <a:p>
            <a:pPr lvl="1"/>
            <a:r>
              <a:t>All executing different instructions</a:t>
            </a:r>
          </a:p>
          <a:p>
            <a:pPr lvl="1"/>
            <a:r>
              <a:t>All operating on different pieces of data</a:t>
            </a:r>
          </a:p>
        </p:txBody>
      </p:sp>
      <p:sp>
        <p:nvSpPr>
          <p:cNvPr id="3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45</a:t>
            </a:fld>
            <a:endParaRPr/>
          </a:p>
        </p:txBody>
      </p:sp>
      <p:pic>
        <p:nvPicPr>
          <p:cNvPr id="37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122" y="2939475"/>
            <a:ext cx="3073401" cy="26416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58876960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hreads and MIMD architectur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and MIMD architectures</a:t>
            </a:r>
          </a:p>
        </p:txBody>
      </p:sp>
      <p:sp>
        <p:nvSpPr>
          <p:cNvPr id="3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7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77" name="Thread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</a:t>
            </a:r>
          </a:p>
          <a:p>
            <a:pPr lvl="1"/>
            <a:r>
              <a:t>Are OS abstractions that capture computation streams</a:t>
            </a:r>
          </a:p>
          <a:p>
            <a:pPr lvl="1"/>
            <a:r>
              <a:t>Can be scheduled on a MIMD processor</a:t>
            </a:r>
          </a:p>
          <a:p>
            <a:pPr lvl="1"/>
            <a:r>
              <a:t>All concurrent threads execute different instructions on different data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9742824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imesha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Timesharing</a:t>
            </a:r>
          </a:p>
        </p:txBody>
      </p:sp>
      <p:sp>
        <p:nvSpPr>
          <p:cNvPr id="38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82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83" name="Idea is simp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Idea is simple</a:t>
            </a:r>
          </a:p>
          <a:p>
            <a:pPr lvl="1"/>
            <a:r>
              <a:t>Different pattern of interaction [work / IO] for threads</a:t>
            </a:r>
          </a:p>
          <a:p>
            <a:pPr lvl="1"/>
            <a:r>
              <a:t>When one thread is “waiting” for an IO to complete….</a:t>
            </a:r>
          </a:p>
          <a:p>
            <a:pPr lvl="1"/>
            <a:r>
              <a:t>… another thread can use the CPU for some computing.</a:t>
            </a:r>
          </a:p>
          <a:p>
            <a:pPr lvl="1"/>
            <a:r>
              <a:t>At any one point in time, CPU is used by only ONE thread</a:t>
            </a:r>
          </a:p>
          <a:p>
            <a:r>
              <a:t>True concurrency</a:t>
            </a:r>
          </a:p>
          <a:p>
            <a:pPr lvl="1"/>
            <a:r>
              <a:t>There are &gt; 1 CPUs</a:t>
            </a:r>
          </a:p>
          <a:p>
            <a:pPr lvl="1"/>
            <a:r>
              <a:t>Threads are executing truly in parallel, one on each CPU</a:t>
            </a:r>
          </a:p>
          <a:p>
            <a:pPr lvl="1"/>
            <a:r>
              <a:t>OS can still preempt threads</a:t>
            </a:r>
          </a:p>
          <a:p>
            <a:pPr lvl="1"/>
            <a:r>
              <a:t>Useful when # threads &gt;&gt; # cpus! → </a:t>
            </a:r>
            <a:r>
              <a:rPr i="1"/>
              <a:t>time sharing is also used!</a:t>
            </a:r>
          </a:p>
        </p:txBody>
      </p:sp>
      <p:sp>
        <p:nvSpPr>
          <p:cNvPr id="3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254090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hreads 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?</a:t>
            </a:r>
          </a:p>
        </p:txBody>
      </p:sp>
      <p:sp>
        <p:nvSpPr>
          <p:cNvPr id="25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6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1" name="Definition [wikipedia]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Definition [</a:t>
            </a:r>
            <a:r>
              <a:rPr dirty="0" err="1"/>
              <a:t>wikipedia</a:t>
            </a:r>
            <a:r>
              <a:rPr dirty="0"/>
              <a:t>]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 err="1"/>
              <a:t>Euh</a:t>
            </a:r>
            <a:r>
              <a:rPr dirty="0"/>
              <a:t>? </a:t>
            </a:r>
          </a:p>
        </p:txBody>
      </p:sp>
      <p:sp>
        <p:nvSpPr>
          <p:cNvPr id="2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  <p:sp>
        <p:nvSpPr>
          <p:cNvPr id="263" name="In computer science, a thread of execution is the smallest sequence of programmed instructions that can be managed independently by a scheduler (typically as part of an operating system)."/>
          <p:cNvSpPr txBox="1"/>
          <p:nvPr/>
        </p:nvSpPr>
        <p:spPr>
          <a:xfrm>
            <a:off x="2655288" y="3404230"/>
            <a:ext cx="7694224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3200">
                <a:solidFill>
                  <a:srgbClr val="252525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 </a:t>
            </a:r>
            <a:r>
              <a:rPr>
                <a:solidFill>
                  <a:srgbClr val="0645AD"/>
                </a:solidFill>
                <a:hlinkClick r:id="rId3"/>
              </a:rPr>
              <a:t>computer science</a:t>
            </a:r>
            <a:r>
              <a:t>, a </a:t>
            </a:r>
            <a:r>
              <a:rPr b="1"/>
              <a:t>thread</a:t>
            </a:r>
            <a:r>
              <a:t> of execution is the smallest sequence of programmed instructions that can be managed independently by a </a:t>
            </a:r>
            <a:r>
              <a:rPr>
                <a:solidFill>
                  <a:srgbClr val="0645AD"/>
                </a:solidFill>
                <a:hlinkClick r:id="rId4"/>
              </a:rPr>
              <a:t>scheduler</a:t>
            </a:r>
            <a:r>
              <a:t> (typically as part of an </a:t>
            </a:r>
            <a:r>
              <a:rPr>
                <a:solidFill>
                  <a:srgbClr val="0645AD"/>
                </a:solidFill>
                <a:hlinkClick r:id="rId5"/>
              </a:rPr>
              <a:t>operating system</a:t>
            </a:r>
            <a:r>
              <a:t>).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72380" y="7710055"/>
            <a:ext cx="680314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This slide is confusing.</a:t>
            </a:r>
            <a:r>
              <a:rPr kumimoji="0" lang="en-US" sz="4000" b="0" i="0" u="none" strike="noStrike" cap="none" spc="0" normalizeH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 - </a:t>
            </a:r>
            <a:r>
              <a:rPr kumimoji="0" lang="en-US" sz="4000" b="0" i="0" u="none" strike="noStrike" cap="none" spc="0" normalizeH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Maifi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04754321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hreads (Take 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(Take 2)</a:t>
            </a:r>
          </a:p>
        </p:txBody>
      </p:sp>
      <p:sp>
        <p:nvSpPr>
          <p:cNvPr id="26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6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8" name="Inviting other “living creatures” agents inside your cast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000"/>
              </a:spcBef>
            </a:pPr>
            <a:r>
              <a:rPr dirty="0"/>
              <a:t>Inviting other “living creatures” agents inside your castle</a:t>
            </a:r>
          </a:p>
          <a:p>
            <a:pPr lvl="1">
              <a:spcBef>
                <a:spcPts val="1000"/>
              </a:spcBef>
            </a:pPr>
            <a:r>
              <a:rPr dirty="0"/>
              <a:t>These “creatures” can:</a:t>
            </a:r>
          </a:p>
          <a:p>
            <a:pPr lvl="2">
              <a:spcBef>
                <a:spcPts val="1000"/>
              </a:spcBef>
            </a:pPr>
            <a:r>
              <a:rPr dirty="0"/>
              <a:t>Move around independently of you</a:t>
            </a:r>
          </a:p>
          <a:p>
            <a:pPr lvl="2">
              <a:spcBef>
                <a:spcPts val="1000"/>
              </a:spcBef>
            </a:pPr>
            <a:r>
              <a:rPr dirty="0"/>
              <a:t>Do work / chores on your behalf</a:t>
            </a:r>
          </a:p>
          <a:p>
            <a:pPr lvl="2">
              <a:spcBef>
                <a:spcPts val="1000"/>
              </a:spcBef>
            </a:pPr>
            <a:r>
              <a:rPr dirty="0"/>
              <a:t>Communicate on your behalf</a:t>
            </a:r>
          </a:p>
          <a:p>
            <a:pPr lvl="2">
              <a:spcBef>
                <a:spcPts val="1000"/>
              </a:spcBef>
            </a:pPr>
            <a:r>
              <a:rPr dirty="0"/>
              <a:t>Play with you </a:t>
            </a:r>
          </a:p>
          <a:p>
            <a:pPr lvl="2">
              <a:spcBef>
                <a:spcPts val="1000"/>
              </a:spcBef>
            </a:pPr>
            <a:r>
              <a:rPr dirty="0"/>
              <a:t>Use/Share your toys</a:t>
            </a:r>
          </a:p>
          <a:p>
            <a:pPr lvl="2">
              <a:spcBef>
                <a:spcPts val="1000"/>
              </a:spcBef>
            </a:pPr>
            <a:r>
              <a:rPr dirty="0"/>
              <a:t>…</a:t>
            </a:r>
          </a:p>
          <a:p>
            <a:pPr>
              <a:spcBef>
                <a:spcPts val="1000"/>
              </a:spcBef>
            </a:pPr>
            <a:r>
              <a:rPr dirty="0"/>
              <a:t>Essentially</a:t>
            </a:r>
          </a:p>
          <a:p>
            <a:pPr lvl="1">
              <a:spcBef>
                <a:spcPts val="1000"/>
              </a:spcBef>
            </a:pPr>
            <a:r>
              <a:rPr dirty="0"/>
              <a:t>No limits on their abilities in the address space</a:t>
            </a:r>
          </a:p>
          <a:p>
            <a:pPr lvl="1">
              <a:spcBef>
                <a:spcPts val="1000"/>
              </a:spcBef>
            </a:pPr>
            <a:r>
              <a:rPr dirty="0"/>
              <a:t>As powerful as the “Lord of the Castle”</a:t>
            </a:r>
          </a:p>
        </p:txBody>
      </p:sp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70536" y="9131300"/>
            <a:ext cx="187758" cy="27442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08294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Level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2149773"/>
            <a:ext cx="12173527" cy="7170334"/>
          </a:xfrm>
        </p:spPr>
        <p:txBody>
          <a:bodyPr/>
          <a:lstStyle/>
          <a:p>
            <a:pPr algn="l"/>
            <a:r>
              <a:rPr lang="en-US" dirty="0"/>
              <a:t>Can be implemented on top of OS that does not support threading</a:t>
            </a:r>
          </a:p>
          <a:p>
            <a:pPr algn="l"/>
            <a:r>
              <a:rPr lang="en-US" dirty="0"/>
              <a:t>Each process maintains thread table</a:t>
            </a:r>
          </a:p>
          <a:p>
            <a:pPr algn="l"/>
            <a:r>
              <a:rPr lang="en-US" dirty="0"/>
              <a:t>Per process run time system for thread switching</a:t>
            </a:r>
          </a:p>
          <a:p>
            <a:pPr algn="l"/>
            <a:r>
              <a:rPr lang="en-US" dirty="0"/>
              <a:t>Each process can have its own customized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F5C1E-491C-4752-BB35-736FB7CA78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26207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Level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49773"/>
            <a:ext cx="13004800" cy="7170334"/>
          </a:xfrm>
        </p:spPr>
        <p:txBody>
          <a:bodyPr/>
          <a:lstStyle/>
          <a:p>
            <a:pPr algn="l"/>
            <a:r>
              <a:rPr lang="en-US" sz="4000" dirty="0"/>
              <a:t>But</a:t>
            </a:r>
          </a:p>
          <a:p>
            <a:pPr lvl="1"/>
            <a:r>
              <a:rPr lang="en-US" sz="3400" dirty="0"/>
              <a:t>Blocking system call in one thread can be a problem</a:t>
            </a:r>
          </a:p>
          <a:p>
            <a:pPr lvl="1"/>
            <a:r>
              <a:rPr lang="en-US" sz="3400" dirty="0"/>
              <a:t>Change all blocking to non-blocking call by changing OS</a:t>
            </a:r>
          </a:p>
          <a:p>
            <a:pPr lvl="1"/>
            <a:r>
              <a:rPr lang="en-US" sz="3400" dirty="0"/>
              <a:t>Within a single process, there is no interrupt. If a thread does not give up voluntarily, other threads in the same process will not get a chance</a:t>
            </a:r>
          </a:p>
          <a:p>
            <a:pPr algn="l"/>
            <a:r>
              <a:rPr lang="en-US" sz="4000" dirty="0"/>
              <a:t>Threads are mainly for processes that often blocks for I/O</a:t>
            </a:r>
          </a:p>
          <a:p>
            <a:pPr lvl="1"/>
            <a:r>
              <a:rPr lang="en-US" sz="3400" dirty="0"/>
              <a:t>User level thread does not make much sense as the goal was to avoid expensive kernel switch. Once switch is done, not much work to switch between threads</a:t>
            </a:r>
          </a:p>
          <a:p>
            <a:pPr lvl="1"/>
            <a:endParaRPr lang="en-US" sz="3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6842E-805E-4D25-8697-5F46F4D0368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79303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Level 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49773"/>
            <a:ext cx="13004800" cy="7170334"/>
          </a:xfrm>
        </p:spPr>
        <p:txBody>
          <a:bodyPr/>
          <a:lstStyle/>
          <a:p>
            <a:pPr algn="l"/>
            <a:r>
              <a:rPr lang="en-US" dirty="0"/>
              <a:t>Kernel has a thread table for all threads</a:t>
            </a:r>
          </a:p>
          <a:p>
            <a:pPr lvl="1"/>
            <a:r>
              <a:rPr lang="en-US" dirty="0"/>
              <a:t>Holds thread specific registers, stack, state</a:t>
            </a:r>
          </a:p>
          <a:p>
            <a:pPr algn="l"/>
            <a:r>
              <a:rPr lang="en-US" dirty="0"/>
              <a:t>Thread recycling</a:t>
            </a:r>
          </a:p>
          <a:p>
            <a:pPr lvl="1"/>
            <a:r>
              <a:rPr lang="en-US" dirty="0"/>
              <a:t>Instead of deleting thread data structure, preserve it and reuse it</a:t>
            </a:r>
          </a:p>
          <a:p>
            <a:pPr algn="l"/>
            <a:r>
              <a:rPr lang="en-US" dirty="0"/>
              <a:t>But</a:t>
            </a:r>
          </a:p>
          <a:p>
            <a:pPr lvl="1"/>
            <a:r>
              <a:rPr lang="en-US" dirty="0"/>
              <a:t>What happens when multithreaded process forks? </a:t>
            </a:r>
          </a:p>
          <a:p>
            <a:pPr lvl="1"/>
            <a:r>
              <a:rPr lang="en-US" dirty="0"/>
              <a:t>Signals are per process. Which thread should receive the signal?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28503-D8B4-4E36-A081-42CA21F1222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55902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check …</a:t>
            </a:r>
          </a:p>
        </p:txBody>
      </p:sp>
      <p:pic>
        <p:nvPicPr>
          <p:cNvPr id="4" name="Picture 6" descr="02-4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03" y="2122312"/>
            <a:ext cx="11510151" cy="50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984F99-3392-4F87-976A-DC873838D8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64503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hreads and Cast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and Castles</a:t>
            </a:r>
          </a:p>
        </p:txBody>
      </p:sp>
      <p:sp>
        <p:nvSpPr>
          <p:cNvPr id="27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74" name="In reality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2230508" cy="6565900"/>
          </a:xfrm>
          <a:prstGeom prst="rect">
            <a:avLst/>
          </a:prstGeom>
        </p:spPr>
        <p:txBody>
          <a:bodyPr/>
          <a:lstStyle/>
          <a:p>
            <a:r>
              <a:rPr dirty="0"/>
              <a:t>In reality</a:t>
            </a:r>
          </a:p>
          <a:p>
            <a:pPr lvl="1"/>
            <a:r>
              <a:rPr dirty="0"/>
              <a:t>When a process is created there is only 1 living creature (1 thread)</a:t>
            </a:r>
          </a:p>
          <a:p>
            <a:pPr lvl="1"/>
            <a:r>
              <a:rPr dirty="0"/>
              <a:t>The first thread is no different from other threads</a:t>
            </a:r>
          </a:p>
          <a:p>
            <a:pPr lvl="1"/>
            <a:r>
              <a:rPr dirty="0"/>
              <a:t>All threads have equal rights (unless otherwise specified)</a:t>
            </a:r>
          </a:p>
        </p:txBody>
      </p:sp>
      <p:sp>
        <p:nvSpPr>
          <p:cNvPr id="2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0477919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8128000"/>
            <a:ext cx="13004800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>
              <a:spcBef>
                <a:spcPct val="20000"/>
              </a:spcBef>
            </a:pPr>
            <a:r>
              <a:rPr lang="en-US" sz="3400" dirty="0">
                <a:latin typeface="Arial" charset="0"/>
              </a:rPr>
              <a:t>Two processes want to access shared memory at the same time.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0" y="0"/>
            <a:ext cx="130048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r>
              <a:rPr lang="en-US" sz="5100">
                <a:solidFill>
                  <a:srgbClr val="FF0000"/>
                </a:solidFill>
                <a:latin typeface="Arial" charset="0"/>
              </a:rPr>
              <a:t>Race Conditions</a:t>
            </a:r>
          </a:p>
        </p:txBody>
      </p:sp>
      <p:pic>
        <p:nvPicPr>
          <p:cNvPr id="53254" name="Picture 6" descr="02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676" y="1833316"/>
            <a:ext cx="7857067" cy="577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7420AF-32D7-4FD8-AFFD-F0564AF8CCE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45670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1262099" y="1959751"/>
            <a:ext cx="11392747" cy="7263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 algn="l">
              <a:spcBef>
                <a:spcPct val="20000"/>
              </a:spcBef>
            </a:pPr>
            <a:r>
              <a:rPr lang="en-US" dirty="0">
                <a:latin typeface="Arial" charset="0"/>
              </a:rPr>
              <a:t>Conditions required to avoid race condition:</a:t>
            </a:r>
          </a:p>
          <a:p>
            <a:pPr marL="866973" indent="-866973" algn="l">
              <a:spcBef>
                <a:spcPct val="20000"/>
              </a:spcBef>
            </a:pPr>
            <a:endParaRPr lang="en-US" dirty="0">
              <a:latin typeface="Arial" charset="0"/>
            </a:endParaRPr>
          </a:p>
          <a:p>
            <a:pPr marL="866973" indent="-866973" algn="l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3400" dirty="0">
                <a:latin typeface="Arial" charset="0"/>
              </a:rPr>
              <a:t>No two threads may be simultaneously inside their critical regions.</a:t>
            </a:r>
          </a:p>
          <a:p>
            <a:pPr marL="866973" indent="-866973" algn="l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3400" dirty="0">
                <a:latin typeface="Arial" charset="0"/>
              </a:rPr>
              <a:t>No assumptions may be made about speeds or the number of CPUs.</a:t>
            </a:r>
          </a:p>
          <a:p>
            <a:pPr marL="866973" indent="-866973" algn="l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3400" dirty="0">
                <a:latin typeface="Arial" charset="0"/>
              </a:rPr>
              <a:t>No threads running outside its critical region may block other processes.</a:t>
            </a:r>
          </a:p>
          <a:p>
            <a:pPr marL="866973" indent="-866973" algn="l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3400" dirty="0">
                <a:latin typeface="Arial" charset="0"/>
              </a:rPr>
              <a:t>No threads should have to wait forever to enter its critical region.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0" y="0"/>
            <a:ext cx="130048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r>
              <a:rPr lang="en-US" sz="5100">
                <a:solidFill>
                  <a:srgbClr val="FF0000"/>
                </a:solidFill>
                <a:latin typeface="Arial" charset="0"/>
              </a:rPr>
              <a:t>Critical Regions (1)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CC7351-2AF9-42C5-A77D-A15C1D584A2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57652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8128000"/>
            <a:ext cx="13004800" cy="1192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/>
          <a:lstStyle/>
          <a:p>
            <a:pPr marL="866973" indent="-866973" eaLnBrk="0">
              <a:spcBef>
                <a:spcPct val="20000"/>
              </a:spcBef>
            </a:pPr>
            <a:r>
              <a:rPr lang="en-US" sz="3400" dirty="0">
                <a:latin typeface="Arial" charset="0"/>
              </a:rPr>
              <a:t>Mutual exclusion using critical regions.</a:t>
            </a: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0" y="0"/>
            <a:ext cx="13004800" cy="162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949" tIns="65475" rIns="130949" bIns="65475" anchor="ctr"/>
          <a:lstStyle/>
          <a:p>
            <a:pPr eaLnBrk="0" hangingPunct="0"/>
            <a:r>
              <a:rPr lang="en-US" sz="5100">
                <a:solidFill>
                  <a:srgbClr val="FF0000"/>
                </a:solidFill>
                <a:latin typeface="Arial" charset="0"/>
              </a:rPr>
              <a:t>Critical Regions (2)</a:t>
            </a:r>
          </a:p>
        </p:txBody>
      </p:sp>
      <p:pic>
        <p:nvPicPr>
          <p:cNvPr id="57350" name="Picture 6" descr="02-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018" y="2133601"/>
            <a:ext cx="10367716" cy="503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FB6850-C7B6-4DDF-B6C8-7EE6D779A0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633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White">
    <a:dk1>
      <a:srgbClr val="000000"/>
    </a:dk1>
    <a:lt1>
      <a:srgbClr val="D6D6D6"/>
    </a:lt1>
    <a:dk2>
      <a:srgbClr val="53585F"/>
    </a:dk2>
    <a:lt2>
      <a:srgbClr val="DCDEE0"/>
    </a:lt2>
    <a:accent1>
      <a:srgbClr val="0365C0"/>
    </a:accent1>
    <a:accent2>
      <a:srgbClr val="00882B"/>
    </a:accent2>
    <a:accent3>
      <a:srgbClr val="DCBD23"/>
    </a:accent3>
    <a:accent4>
      <a:srgbClr val="DE6A10"/>
    </a:accent4>
    <a:accent5>
      <a:srgbClr val="C82506"/>
    </a:accent5>
    <a:accent6>
      <a:srgbClr val="773F9B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4508</TotalTime>
  <Words>3448</Words>
  <Application>Microsoft Macintosh PowerPoint</Application>
  <PresentationFormat>Custom</PresentationFormat>
  <Paragraphs>553</Paragraphs>
  <Slides>57</Slides>
  <Notes>23</Notes>
  <HiddenSlides>20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Consolas</vt:lpstr>
      <vt:lpstr>Courier New</vt:lpstr>
      <vt:lpstr>Helvetica</vt:lpstr>
      <vt:lpstr>Helvetica Neue</vt:lpstr>
      <vt:lpstr>Helvetica Neue Light</vt:lpstr>
      <vt:lpstr>Lucida Grande</vt:lpstr>
      <vt:lpstr>Times New Roman</vt:lpstr>
      <vt:lpstr>Wingdings</vt:lpstr>
      <vt:lpstr>White</vt:lpstr>
      <vt:lpstr>Threads 1: Introduction and Basic Management</vt:lpstr>
      <vt:lpstr>Overview</vt:lpstr>
      <vt:lpstr>Motivation</vt:lpstr>
      <vt:lpstr>Each processes has its own virtual address space</vt:lpstr>
      <vt:lpstr>Each process lives alone in its own castle </vt:lpstr>
      <vt:lpstr>Why?</vt:lpstr>
      <vt:lpstr>Downsides ?</vt:lpstr>
      <vt:lpstr>Where are her buddies (e.g., processes)?</vt:lpstr>
      <vt:lpstr>Downsides ?</vt:lpstr>
      <vt:lpstr>Threads ?</vt:lpstr>
      <vt:lpstr>Refining our definitions</vt:lpstr>
      <vt:lpstr>The Circle of Life</vt:lpstr>
      <vt:lpstr>The pthreads API</vt:lpstr>
      <vt:lpstr>The Pthreads API naming convention</vt:lpstr>
      <vt:lpstr>The Pthreads API</vt:lpstr>
      <vt:lpstr>main() function of thread</vt:lpstr>
      <vt:lpstr>Threads creation</vt:lpstr>
      <vt:lpstr>Threads creation</vt:lpstr>
      <vt:lpstr>What about thread concurrency?</vt:lpstr>
      <vt:lpstr>What about thread concurrency?</vt:lpstr>
      <vt:lpstr>Thread Termination</vt:lpstr>
      <vt:lpstr>Joining a thread</vt:lpstr>
      <vt:lpstr>Joining a thread - 2</vt:lpstr>
      <vt:lpstr>Question</vt:lpstr>
      <vt:lpstr>Reading </vt:lpstr>
      <vt:lpstr>PowerPoint Presentation</vt:lpstr>
      <vt:lpstr>Passing Arguments and Getting Results Back  </vt:lpstr>
      <vt:lpstr>Passing Arguments and Getting Results Back </vt:lpstr>
      <vt:lpstr>Passing Arguments and Getting Results Back </vt:lpstr>
      <vt:lpstr>Common ways to use threads</vt:lpstr>
      <vt:lpstr>Applications of threads  </vt:lpstr>
      <vt:lpstr>Why is it hard  for the princess to do everything by herself?</vt:lpstr>
      <vt:lpstr>PowerPoint Presentation</vt:lpstr>
      <vt:lpstr>Usage Examples?</vt:lpstr>
      <vt:lpstr>The Classical Thread Model (1)</vt:lpstr>
      <vt:lpstr>PowerPoint Presentation</vt:lpstr>
      <vt:lpstr>PowerPoint Presentation</vt:lpstr>
      <vt:lpstr>PowerPoint Presentation</vt:lpstr>
      <vt:lpstr>The Plot</vt:lpstr>
      <vt:lpstr>Your objective</vt:lpstr>
      <vt:lpstr>Idea</vt:lpstr>
      <vt:lpstr>Idea 1 Is this slide necessary? - Maifi</vt:lpstr>
      <vt:lpstr>32-bit Implication</vt:lpstr>
      <vt:lpstr>Circumventing the limit?</vt:lpstr>
      <vt:lpstr>Threads and MIMD architectures</vt:lpstr>
      <vt:lpstr>Threads and MIMD architectures</vt:lpstr>
      <vt:lpstr>Timesharing</vt:lpstr>
      <vt:lpstr>Threads ?</vt:lpstr>
      <vt:lpstr>Threads (Take 2)</vt:lpstr>
      <vt:lpstr>User Level Thread</vt:lpstr>
      <vt:lpstr>User Level Thread</vt:lpstr>
      <vt:lpstr>Kernel Level Thread</vt:lpstr>
      <vt:lpstr>Lets check …</vt:lpstr>
      <vt:lpstr>Threads and Castles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Introduction</dc:title>
  <dc:creator>maifi</dc:creator>
  <cp:lastModifiedBy>SWAMY NARAYAN JIGNAAS PATTIPATI</cp:lastModifiedBy>
  <cp:revision>295</cp:revision>
  <dcterms:modified xsi:type="dcterms:W3CDTF">2026-03-30T12:06:00Z</dcterms:modified>
</cp:coreProperties>
</file>