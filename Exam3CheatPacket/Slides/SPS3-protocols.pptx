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4"/>
  </p:notesMasterIdLst>
  <p:sldIdLst>
    <p:sldId id="256" r:id="rId2"/>
    <p:sldId id="314" r:id="rId3"/>
    <p:sldId id="286" r:id="rId4"/>
    <p:sldId id="760" r:id="rId5"/>
    <p:sldId id="761" r:id="rId6"/>
    <p:sldId id="762" r:id="rId7"/>
    <p:sldId id="293" r:id="rId8"/>
    <p:sldId id="322" r:id="rId9"/>
    <p:sldId id="324" r:id="rId10"/>
    <p:sldId id="323" r:id="rId11"/>
    <p:sldId id="325" r:id="rId12"/>
    <p:sldId id="326" r:id="rId13"/>
    <p:sldId id="327" r:id="rId14"/>
    <p:sldId id="287" r:id="rId15"/>
    <p:sldId id="315" r:id="rId16"/>
    <p:sldId id="289" r:id="rId17"/>
    <p:sldId id="290" r:id="rId18"/>
    <p:sldId id="291" r:id="rId19"/>
    <p:sldId id="292" r:id="rId20"/>
    <p:sldId id="328" r:id="rId21"/>
    <p:sldId id="329" r:id="rId22"/>
    <p:sldId id="759" r:id="rId2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1pPr>
    <a:lvl2pPr marL="0" marR="0" indent="266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2pPr>
    <a:lvl3pPr marL="0" marR="0" indent="533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3pPr>
    <a:lvl4pPr marL="0" marR="0" indent="8001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4pPr>
    <a:lvl5pPr marL="0" marR="0" indent="1066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5pPr>
    <a:lvl6pPr marL="0" marR="0" indent="1333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6pPr>
    <a:lvl7pPr marL="0" marR="0" indent="161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7pPr>
    <a:lvl8pPr marL="0" marR="0" indent="1879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8pPr>
    <a:lvl9pPr marL="0" marR="0" indent="2146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ifi" initials="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84"/>
    <p:restoredTop sz="80721" autoAdjust="0"/>
  </p:normalViewPr>
  <p:slideViewPr>
    <p:cSldViewPr snapToGrid="0">
      <p:cViewPr varScale="1">
        <p:scale>
          <a:sx n="102" d="100"/>
          <a:sy n="102" d="100"/>
        </p:scale>
        <p:origin x="2632" y="200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6" name="Shape 20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436222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0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0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0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0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0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0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0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0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0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for </a:t>
            </a:r>
            <a:r>
              <a:rPr lang="en-US" dirty="0" err="1"/>
              <a:t>fopen</a:t>
            </a:r>
            <a:r>
              <a:rPr lang="en-US" dirty="0"/>
              <a:t> vs open</a:t>
            </a:r>
          </a:p>
        </p:txBody>
      </p:sp>
    </p:spTree>
    <p:extLst>
      <p:ext uri="{BB962C8B-B14F-4D97-AF65-F5344CB8AC3E}">
        <p14:creationId xmlns:p14="http://schemas.microsoft.com/office/powerpoint/2010/main" val="3759512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Endianness issue (a.k.a. byte ordering!)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272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do?</a:t>
            </a:r>
          </a:p>
          <a:p>
            <a:pPr lvl="1"/>
            <a:r>
              <a:rPr lang="en-US" dirty="0"/>
              <a:t>On big-endian 		Both functions are “</a:t>
            </a:r>
            <a:r>
              <a:rPr lang="en-US" dirty="0" err="1"/>
              <a:t>noops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On little-endian		Translate from host to network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906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Make application specific messages</a:t>
            </a:r>
          </a:p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PUT(</a:t>
            </a:r>
            <a:r>
              <a:rPr lang="en-US" dirty="0" err="1"/>
              <a:t>fn</a:t>
            </a:r>
            <a:r>
              <a:rPr lang="en-US" dirty="0"/>
              <a:t>) : 	Upload to the server a local file named “</a:t>
            </a:r>
            <a:r>
              <a:rPr lang="en-US" dirty="0" err="1"/>
              <a:t>fn</a:t>
            </a:r>
            <a:r>
              <a:rPr lang="en-US" dirty="0"/>
              <a:t>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608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20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size: server knows the number of bytes to read.  Sending unnecessary bytes. Hard to change or extend. </a:t>
            </a:r>
          </a:p>
        </p:txBody>
      </p:sp>
    </p:spTree>
    <p:extLst>
      <p:ext uri="{BB962C8B-B14F-4D97-AF65-F5344CB8AC3E}">
        <p14:creationId xmlns:p14="http://schemas.microsoft.com/office/powerpoint/2010/main" val="4248122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Send the file size (n)</a:t>
            </a:r>
          </a:p>
          <a:p>
            <a:pPr lvl="2"/>
            <a:r>
              <a:rPr lang="en-US" dirty="0"/>
              <a:t>The other party needs to know when it has all bytes</a:t>
            </a:r>
          </a:p>
          <a:p>
            <a:pPr lvl="1"/>
            <a:r>
              <a:rPr lang="en-US" dirty="0"/>
              <a:t>Send n bytes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561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gets_s</a:t>
            </a:r>
            <a:r>
              <a:rPr lang="en-US" dirty="0"/>
              <a:t>() in C11.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635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7515F-558B-4D16-A3FB-61B7A8237F8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4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118618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5029200"/>
            <a:ext cx="118618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5" name="Seal 3 SPOT281.jpg" descr="Seal 3 SPOT281.jpg"/>
          <p:cNvPicPr>
            <a:picLocks noChangeAspect="1"/>
          </p:cNvPicPr>
          <p:nvPr/>
        </p:nvPicPr>
        <p:blipFill>
          <a:blip r:embed="rId2"/>
          <a:srcRect l="3953" t="3727" r="4037" b="3957"/>
          <a:stretch>
            <a:fillRect/>
          </a:stretch>
        </p:blipFill>
        <p:spPr>
          <a:xfrm>
            <a:off x="11652633" y="843096"/>
            <a:ext cx="747854" cy="750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2" h="21361" extrusionOk="0">
                <a:moveTo>
                  <a:pt x="11422" y="16"/>
                </a:moveTo>
                <a:cubicBezTo>
                  <a:pt x="7331" y="-203"/>
                  <a:pt x="3227" y="1854"/>
                  <a:pt x="1122" y="5835"/>
                </a:cubicBezTo>
                <a:cubicBezTo>
                  <a:pt x="406" y="7190"/>
                  <a:pt x="27" y="8923"/>
                  <a:pt x="2" y="10637"/>
                </a:cubicBezTo>
                <a:cubicBezTo>
                  <a:pt x="-23" y="12351"/>
                  <a:pt x="307" y="14046"/>
                  <a:pt x="985" y="15337"/>
                </a:cubicBezTo>
                <a:cubicBezTo>
                  <a:pt x="2583" y="18378"/>
                  <a:pt x="4999" y="20320"/>
                  <a:pt x="8244" y="21167"/>
                </a:cubicBezTo>
                <a:cubicBezTo>
                  <a:pt x="8700" y="21286"/>
                  <a:pt x="9272" y="21346"/>
                  <a:pt x="9902" y="21359"/>
                </a:cubicBezTo>
                <a:cubicBezTo>
                  <a:pt x="11791" y="21397"/>
                  <a:pt x="14195" y="20985"/>
                  <a:pt x="15560" y="20308"/>
                </a:cubicBezTo>
                <a:cubicBezTo>
                  <a:pt x="17837" y="19180"/>
                  <a:pt x="19258" y="17799"/>
                  <a:pt x="20453" y="15529"/>
                </a:cubicBezTo>
                <a:cubicBezTo>
                  <a:pt x="21226" y="14062"/>
                  <a:pt x="21577" y="12337"/>
                  <a:pt x="21539" y="10603"/>
                </a:cubicBezTo>
                <a:cubicBezTo>
                  <a:pt x="21476" y="7712"/>
                  <a:pt x="20339" y="4789"/>
                  <a:pt x="18327" y="2942"/>
                </a:cubicBezTo>
                <a:cubicBezTo>
                  <a:pt x="16323" y="1103"/>
                  <a:pt x="13877" y="148"/>
                  <a:pt x="11422" y="16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709400" cy="6565900"/>
          </a:xfrm>
          <a:prstGeom prst="rect">
            <a:avLst/>
          </a:prstGeom>
        </p:spPr>
        <p:txBody>
          <a:bodyPr numCol="2" spcCol="585470"/>
          <a:lstStyle>
            <a:lvl1pPr>
              <a:spcBef>
                <a:spcPts val="49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900"/>
              </a:spcBef>
              <a:defRPr sz="2400"/>
            </a:lvl2pPr>
            <a:lvl3pPr>
              <a:spcBef>
                <a:spcPts val="4900"/>
              </a:spcBef>
              <a:defRPr sz="2400"/>
            </a:lvl3pPr>
            <a:lvl4pPr>
              <a:spcBef>
                <a:spcPts val="4900"/>
              </a:spcBef>
              <a:defRPr sz="2400"/>
            </a:lvl4pPr>
            <a:lvl5pPr>
              <a:spcBef>
                <a:spcPts val="49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863600"/>
            <a:ext cx="11861800" cy="8026400"/>
          </a:xfrm>
          <a:prstGeom prst="rect">
            <a:avLst/>
          </a:prstGeom>
        </p:spPr>
        <p:txBody>
          <a:bodyPr/>
          <a:lstStyle>
            <a:lvl1pPr>
              <a:spcBef>
                <a:spcPts val="72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7200"/>
              </a:spcBef>
              <a:defRPr sz="2400"/>
            </a:lvl2pPr>
            <a:lvl3pPr>
              <a:spcBef>
                <a:spcPts val="7200"/>
              </a:spcBef>
              <a:defRPr sz="2400"/>
            </a:lvl3pPr>
            <a:lvl4pPr>
              <a:spcBef>
                <a:spcPts val="7200"/>
              </a:spcBef>
              <a:defRPr sz="2400"/>
            </a:lvl4pPr>
            <a:lvl5pPr>
              <a:spcBef>
                <a:spcPts val="72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2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571500" y="3708400"/>
            <a:ext cx="11861800" cy="23368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ModernPortfolio_photo-h-2.pdf" descr="ModernPortfolio_photo-h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Line"/>
          <p:cNvSpPr/>
          <p:nvPr/>
        </p:nvSpPr>
        <p:spPr>
          <a:xfrm>
            <a:off x="7543800" y="7975599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1409700" y="7785100"/>
            <a:ext cx="5791200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848600" y="8470900"/>
            <a:ext cx="4953000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Line"/>
          <p:cNvSpPr/>
          <p:nvPr/>
        </p:nvSpPr>
        <p:spPr>
          <a:xfrm>
            <a:off x="647700" y="4749800"/>
            <a:ext cx="4882122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50927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1500" y="5029200"/>
            <a:ext cx="50927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080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Line"/>
          <p:cNvSpPr/>
          <p:nvPr/>
        </p:nvSpPr>
        <p:spPr>
          <a:xfrm>
            <a:off x="647700" y="1968500"/>
            <a:ext cx="48768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5092700" cy="1397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49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900"/>
              </a:spcBef>
              <a:defRPr sz="2400"/>
            </a:lvl2pPr>
            <a:lvl3pPr>
              <a:spcBef>
                <a:spcPts val="4900"/>
              </a:spcBef>
              <a:defRPr sz="2400"/>
            </a:lvl3pPr>
            <a:lvl4pPr>
              <a:spcBef>
                <a:spcPts val="4900"/>
              </a:spcBef>
              <a:defRPr sz="2400"/>
            </a:lvl4pPr>
            <a:lvl5pPr>
              <a:spcBef>
                <a:spcPts val="49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10743" y="9258300"/>
            <a:ext cx="258370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ModernPortfolio_2-up-h.pdf" descr="ModernPortfolio_2-up-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 &amp;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ModernPortfolio_2-up-vh.pdf" descr="ModernPortfolio_2-up-v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ModernPortfolio_2-up-v-2.pdf" descr="ModernPortfolio_2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ModernPortfolio_3-up-v-2.pdf" descr="ModernPortfolio_3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Big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ModernPortfolio_photo-big-2.pdf" descr="ModernPortfolio_photo-big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ModernPortfolio_3-up.pdf" descr="ModernPortfolio_3-up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4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ModernPortfolio_4-up-2.pdf" descr="ModernPortfolio_4-up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8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69300" y="2324100"/>
            <a:ext cx="40640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 marL="901700"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9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97" name="Seal 3 SPOT281.jpg" descr="Seal 3 SPOT281.jpg"/>
          <p:cNvPicPr>
            <a:picLocks noChangeAspect="1"/>
          </p:cNvPicPr>
          <p:nvPr/>
        </p:nvPicPr>
        <p:blipFill>
          <a:blip r:embed="rId2"/>
          <a:srcRect l="4069" t="4341" r="4032" b="3948"/>
          <a:stretch>
            <a:fillRect/>
          </a:stretch>
        </p:blipFill>
        <p:spPr>
          <a:xfrm>
            <a:off x="11653573" y="848089"/>
            <a:ext cx="746954" cy="745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0" h="21564" extrusionOk="0">
                <a:moveTo>
                  <a:pt x="10791" y="0"/>
                </a:moveTo>
                <a:cubicBezTo>
                  <a:pt x="6286" y="0"/>
                  <a:pt x="3129" y="1889"/>
                  <a:pt x="1079" y="5832"/>
                </a:cubicBezTo>
                <a:cubicBezTo>
                  <a:pt x="380" y="7176"/>
                  <a:pt x="22" y="8927"/>
                  <a:pt x="1" y="10666"/>
                </a:cubicBezTo>
                <a:cubicBezTo>
                  <a:pt x="-20" y="12405"/>
                  <a:pt x="298" y="14141"/>
                  <a:pt x="964" y="15442"/>
                </a:cubicBezTo>
                <a:cubicBezTo>
                  <a:pt x="2541" y="18521"/>
                  <a:pt x="4983" y="20504"/>
                  <a:pt x="8245" y="21366"/>
                </a:cubicBezTo>
                <a:cubicBezTo>
                  <a:pt x="8703" y="21487"/>
                  <a:pt x="9276" y="21548"/>
                  <a:pt x="9908" y="21561"/>
                </a:cubicBezTo>
                <a:cubicBezTo>
                  <a:pt x="11802" y="21600"/>
                  <a:pt x="14214" y="21181"/>
                  <a:pt x="15583" y="20494"/>
                </a:cubicBezTo>
                <a:cubicBezTo>
                  <a:pt x="17867" y="19348"/>
                  <a:pt x="19292" y="17944"/>
                  <a:pt x="20491" y="15637"/>
                </a:cubicBezTo>
                <a:cubicBezTo>
                  <a:pt x="21218" y="14239"/>
                  <a:pt x="21580" y="12485"/>
                  <a:pt x="21580" y="10735"/>
                </a:cubicBezTo>
                <a:cubicBezTo>
                  <a:pt x="21580" y="8985"/>
                  <a:pt x="21218" y="7231"/>
                  <a:pt x="20491" y="5832"/>
                </a:cubicBezTo>
                <a:cubicBezTo>
                  <a:pt x="18441" y="1889"/>
                  <a:pt x="15295" y="0"/>
                  <a:pt x="10791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9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/>
            </a:lvl2pPr>
            <a:lvl3pPr marL="901700">
              <a:spcBef>
                <a:spcPts val="1000"/>
              </a:spcBef>
              <a:defRPr sz="2400"/>
            </a:lvl3pPr>
            <a:lvl4pPr marL="1244600">
              <a:spcBef>
                <a:spcPts val="1000"/>
              </a:spcBef>
              <a:defRPr sz="2400"/>
            </a:lvl4pPr>
            <a:lvl5pPr marL="1587500">
              <a:spcBef>
                <a:spcPts val="10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F4CFE-9780-D98E-5F24-B92FEA16B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0C8A-9517-0F12-C9CE-CF883D7EB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36E48-E578-9522-F871-01069CE6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6E2D-E673-4304-8CF9-43499E93F11F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0132C-47D9-F45C-CB41-4A768782B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A572A-7DD5-C9BD-9C1D-6C3627D0D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188990" y="9131300"/>
            <a:ext cx="269304" cy="292388"/>
          </a:xfrm>
        </p:spPr>
        <p:txBody>
          <a:bodyPr/>
          <a:lstStyle/>
          <a:p>
            <a:fld id="{BAABE777-A85C-494D-BAF7-6BBEC8FFF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89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11861800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b"/>
          <a:lstStyle/>
          <a:p>
            <a:r>
              <a:t>Title Text</a:t>
            </a:r>
          </a:p>
        </p:txBody>
      </p:sp>
      <p:sp>
        <p:nvSpPr>
          <p:cNvPr id="3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" name="Seal 3 SPOT281.jpg" descr="Seal 3 SPOT281.jpg"/>
          <p:cNvPicPr>
            <a:picLocks noChangeAspect="1"/>
          </p:cNvPicPr>
          <p:nvPr/>
        </p:nvPicPr>
        <p:blipFill>
          <a:blip r:embed="rId2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861800" cy="656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/>
          <a:lstStyle>
            <a:lvl2pPr>
              <a:defRPr>
                <a:solidFill>
                  <a:srgbClr val="747474"/>
                </a:solidFill>
              </a:defRPr>
            </a:lvl2pPr>
            <a:lvl3pPr>
              <a:defRPr>
                <a:solidFill>
                  <a:srgbClr val="747474"/>
                </a:solidFill>
              </a:defRPr>
            </a:lvl3pPr>
            <a:lvl4pPr>
              <a:defRPr>
                <a:solidFill>
                  <a:srgbClr val="747474"/>
                </a:solidFill>
              </a:defRPr>
            </a:lvl4pPr>
            <a:lvl5pPr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1679" y="9131300"/>
            <a:ext cx="286615" cy="274422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r">
              <a:defRPr sz="14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ransition spd="med"/>
  <p:hf hdr="0" ftr="0" dt="0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1pPr>
      <a:lvl2pPr marL="0" marR="0" indent="228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2pPr>
      <a:lvl3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3pPr>
      <a:lvl4pPr marL="0" marR="0" indent="685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4pPr>
      <a:lvl5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5pPr>
      <a:lvl6pPr marL="0" marR="0" indent="1143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6pPr>
      <a:lvl7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7pPr>
      <a:lvl8pPr marL="0" marR="0" indent="1600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8pPr>
      <a:lvl9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9pPr>
    </p:titleStyle>
    <p:bodyStyle>
      <a:lvl1pPr marL="2032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1pPr>
      <a:lvl2pPr marL="5461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2pPr>
      <a:lvl3pPr marL="8890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3pPr>
      <a:lvl4pPr marL="12319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4pPr>
      <a:lvl5pPr marL="15748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5pPr>
      <a:lvl6pPr marL="19177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6pPr>
      <a:lvl7pPr marL="22606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7pPr>
      <a:lvl8pPr marL="26035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8pPr>
      <a:lvl9pPr marL="29464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temyprofessors.com/professor/304467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09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10" name="Sockets Programming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(S3) </a:t>
            </a:r>
            <a:r>
              <a:rPr dirty="0"/>
              <a:t>Sockets Programming</a:t>
            </a:r>
            <a:r>
              <a:rPr lang="en-US" dirty="0"/>
              <a:t>: Protocol</a:t>
            </a:r>
            <a:endParaRPr dirty="0"/>
          </a:p>
        </p:txBody>
      </p:sp>
      <p:sp>
        <p:nvSpPr>
          <p:cNvPr id="211" name="Ion Mandoiu…"/>
          <p:cNvSpPr txBox="1">
            <a:spLocks noGrp="1"/>
          </p:cNvSpPr>
          <p:nvPr>
            <p:ph type="subTitle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pic>
        <p:nvPicPr>
          <p:cNvPr id="212" name="Image" descr="Image"/>
          <p:cNvPicPr>
            <a:picLocks noChangeAspect="1"/>
          </p:cNvPicPr>
          <p:nvPr/>
        </p:nvPicPr>
        <p:blipFill>
          <a:blip r:embed="rId3"/>
          <a:srcRect l="21856" t="7266" r="18812" b="6749"/>
          <a:stretch>
            <a:fillRect/>
          </a:stretch>
        </p:blipFill>
        <p:spPr>
          <a:xfrm>
            <a:off x="7943195" y="5488799"/>
            <a:ext cx="3677101" cy="3669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7" extrusionOk="0">
                <a:moveTo>
                  <a:pt x="10809" y="0"/>
                </a:moveTo>
                <a:cubicBezTo>
                  <a:pt x="9508" y="-1"/>
                  <a:pt x="9254" y="24"/>
                  <a:pt x="8398" y="243"/>
                </a:cubicBezTo>
                <a:cubicBezTo>
                  <a:pt x="6709" y="676"/>
                  <a:pt x="5526" y="1266"/>
                  <a:pt x="4048" y="2413"/>
                </a:cubicBezTo>
                <a:cubicBezTo>
                  <a:pt x="1511" y="4383"/>
                  <a:pt x="-12" y="7596"/>
                  <a:pt x="0" y="10772"/>
                </a:cubicBezTo>
                <a:cubicBezTo>
                  <a:pt x="2" y="11226"/>
                  <a:pt x="34" y="11681"/>
                  <a:pt x="100" y="12129"/>
                </a:cubicBezTo>
                <a:cubicBezTo>
                  <a:pt x="303" y="13513"/>
                  <a:pt x="604" y="14506"/>
                  <a:pt x="1164" y="15643"/>
                </a:cubicBezTo>
                <a:cubicBezTo>
                  <a:pt x="2463" y="18276"/>
                  <a:pt x="4647" y="20145"/>
                  <a:pt x="7560" y="21114"/>
                </a:cubicBezTo>
                <a:cubicBezTo>
                  <a:pt x="7904" y="21229"/>
                  <a:pt x="8571" y="21375"/>
                  <a:pt x="9575" y="21558"/>
                </a:cubicBezTo>
                <a:cubicBezTo>
                  <a:pt x="9719" y="21584"/>
                  <a:pt x="9967" y="21597"/>
                  <a:pt x="10269" y="21598"/>
                </a:cubicBezTo>
                <a:cubicBezTo>
                  <a:pt x="11174" y="21599"/>
                  <a:pt x="12571" y="21496"/>
                  <a:pt x="13152" y="21362"/>
                </a:cubicBezTo>
                <a:cubicBezTo>
                  <a:pt x="16431" y="20601"/>
                  <a:pt x="19089" y="18499"/>
                  <a:pt x="20495" y="15556"/>
                </a:cubicBezTo>
                <a:cubicBezTo>
                  <a:pt x="21313" y="13847"/>
                  <a:pt x="21588" y="12587"/>
                  <a:pt x="21578" y="10602"/>
                </a:cubicBezTo>
                <a:cubicBezTo>
                  <a:pt x="21572" y="9310"/>
                  <a:pt x="21547" y="9094"/>
                  <a:pt x="21294" y="8132"/>
                </a:cubicBezTo>
                <a:cubicBezTo>
                  <a:pt x="20484" y="5044"/>
                  <a:pt x="18384" y="2462"/>
                  <a:pt x="15549" y="1068"/>
                </a:cubicBezTo>
                <a:cubicBezTo>
                  <a:pt x="13900" y="257"/>
                  <a:pt x="12769" y="2"/>
                  <a:pt x="10809" y="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4C748-4CC4-41EE-9BDC-F8C34B56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Protocols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CADBB-6E32-4AEA-93C2-5A09CDF16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for communications between two parties</a:t>
            </a:r>
          </a:p>
          <a:p>
            <a:pPr lvl="1"/>
            <a:r>
              <a:rPr lang="en-US" dirty="0"/>
              <a:t>Need protocols at every layer</a:t>
            </a:r>
          </a:p>
          <a:p>
            <a:pPr lvl="1"/>
            <a:r>
              <a:rPr lang="en-US" dirty="0"/>
              <a:t>TCP and IP are protocols!</a:t>
            </a:r>
          </a:p>
          <a:p>
            <a:endParaRPr lang="en-US" dirty="0"/>
          </a:p>
          <a:p>
            <a:r>
              <a:rPr lang="en-US" dirty="0"/>
              <a:t>After establishing a TCP connection, two processes talk at application layer</a:t>
            </a:r>
          </a:p>
          <a:p>
            <a:pPr lvl="1"/>
            <a:r>
              <a:rPr lang="en-US" dirty="0"/>
              <a:t>Who should talk first? </a:t>
            </a:r>
          </a:p>
          <a:p>
            <a:pPr lvl="1"/>
            <a:r>
              <a:rPr lang="en-US" dirty="0"/>
              <a:t>How much can each talk?</a:t>
            </a:r>
          </a:p>
          <a:p>
            <a:pPr lvl="1"/>
            <a:r>
              <a:rPr lang="en-US" dirty="0"/>
              <a:t>How are the messages encoded into bytes?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6530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Well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Byte stream in sockets</a:t>
            </a:r>
            <a:endParaRPr dirty="0"/>
          </a:p>
        </p:txBody>
      </p:sp>
      <p:sp>
        <p:nvSpPr>
          <p:cNvPr id="427" name="Line"/>
          <p:cNvSpPr/>
          <p:nvPr/>
        </p:nvSpPr>
        <p:spPr>
          <a:xfrm>
            <a:off x="647700" y="1968504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791" tIns="50791" rIns="50791" bIns="50791" anchor="ctr"/>
          <a:lstStyle/>
          <a:p>
            <a:pPr algn="l" defTabSz="457129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28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5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29" name="That’s application dependent of cours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Applications see byte streams into and out of sockets</a:t>
            </a:r>
          </a:p>
          <a:p>
            <a:r>
              <a:rPr lang="en-US" dirty="0"/>
              <a:t>It is up to applications to interpret bytes</a:t>
            </a:r>
          </a:p>
          <a:p>
            <a:r>
              <a:rPr lang="en-US" dirty="0"/>
              <a:t>Two common options (</a:t>
            </a:r>
            <a:r>
              <a:rPr lang="en-US" dirty="0">
                <a:solidFill>
                  <a:schemeClr val="accent1"/>
                </a:solidFill>
              </a:rPr>
              <a:t>both parties have to agree !</a:t>
            </a:r>
            <a:r>
              <a:rPr lang="en-US" dirty="0"/>
              <a:t>)</a:t>
            </a:r>
            <a:endParaRPr dirty="0"/>
          </a:p>
          <a:p>
            <a:pPr lvl="1"/>
            <a:r>
              <a:rPr lang="en-US" dirty="0"/>
              <a:t>Everything is in p</a:t>
            </a:r>
            <a:r>
              <a:rPr dirty="0"/>
              <a:t>lain text</a:t>
            </a:r>
            <a:r>
              <a:rPr lang="en-US" dirty="0"/>
              <a:t>. Need conversion and parsing</a:t>
            </a:r>
            <a:endParaRPr dirty="0"/>
          </a:p>
          <a:p>
            <a:pPr lvl="2"/>
            <a:r>
              <a:rPr lang="en-US" dirty="0"/>
              <a:t>Example: </a:t>
            </a:r>
            <a:r>
              <a:rPr dirty="0"/>
              <a:t>XML  |  JSON</a:t>
            </a:r>
          </a:p>
          <a:p>
            <a:pPr lvl="1"/>
            <a:r>
              <a:rPr lang="en-US" dirty="0"/>
              <a:t>Raw data. Issues: endianness and padding</a:t>
            </a:r>
          </a:p>
          <a:p>
            <a:pPr marL="0" indent="0">
              <a:buNone/>
            </a:pPr>
            <a:r>
              <a:rPr lang="en-US" sz="2800" dirty="0"/>
              <a:t>Example: </a:t>
            </a:r>
            <a:r>
              <a:rPr lang="en-US" sz="2800" dirty="0" err="1"/>
              <a:t>int</a:t>
            </a:r>
            <a:r>
              <a:rPr lang="en-US" sz="2800" dirty="0"/>
              <a:t> v = 128. Send v.</a:t>
            </a:r>
          </a:p>
          <a:p>
            <a:pPr marL="0" indent="0">
              <a:buNone/>
            </a:pPr>
            <a:r>
              <a:rPr lang="en-US" sz="2800" dirty="0"/>
              <a:t>Option 1:  three ASCII characters with a delimiter: '1', '2', '8', '\n'</a:t>
            </a:r>
          </a:p>
          <a:p>
            <a:pPr marL="0" indent="0">
              <a:buNone/>
            </a:pPr>
            <a:r>
              <a:rPr lang="en-US" sz="2800" dirty="0"/>
              <a:t>Option 2: four bytes: 0x00, 0x00, 0x00, 0x80 (or 0x80, 0x00, 0x00, 0x00?)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Is the size of v really 4?</a:t>
            </a:r>
            <a:endParaRPr sz="2800" dirty="0">
              <a:solidFill>
                <a:schemeClr val="accent1"/>
              </a:solidFill>
            </a:endParaRPr>
          </a:p>
        </p:txBody>
      </p:sp>
      <p:sp>
        <p:nvSpPr>
          <p:cNvPr id="4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8540" y="9131300"/>
            <a:ext cx="279754" cy="2958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61219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59E8-100F-6348-329F-C8585BD2F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4F131-0129-526C-F360-E122A6B10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182" y="3287648"/>
            <a:ext cx="10195382" cy="40412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7E85A-E010-825E-758A-BEDEB0A4A3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2118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252D8-1F3F-5586-6803-7EB437353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10BBF-05FE-8C95-CCEE-C3A6D957FFB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DD180C-B228-4F20-4E0F-B3FCE6C14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3213839"/>
            <a:ext cx="11090232" cy="461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87855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E4DA-F2A8-54A8-3429-EB90CAB0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as XML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015444-6A66-32E8-4C30-A68794A9F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0" y="4430015"/>
            <a:ext cx="6197600" cy="15367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64DF1-797F-CFE2-A055-50713D96249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09162-34E3-A77C-8948-69066E079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0" y="4128238"/>
            <a:ext cx="5147587" cy="214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2525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Network Encoding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Endianness</a:t>
            </a:r>
            <a:endParaRPr dirty="0"/>
          </a:p>
        </p:txBody>
      </p:sp>
      <p:sp>
        <p:nvSpPr>
          <p:cNvPr id="488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89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90" name="What is that?…"/>
          <p:cNvSpPr txBox="1">
            <a:spLocks noGrp="1"/>
          </p:cNvSpPr>
          <p:nvPr>
            <p:ph type="body" sz="quarter" idx="1"/>
          </p:nvPr>
        </p:nvSpPr>
        <p:spPr>
          <a:xfrm>
            <a:off x="571500" y="2324100"/>
            <a:ext cx="11861800" cy="238965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Two ways to use bytes if a data item has more than 1 byte</a:t>
            </a:r>
          </a:p>
          <a:p>
            <a:pPr lvl="1"/>
            <a:r>
              <a:rPr lang="en-US" dirty="0"/>
              <a:t>Some hosts use big-endian while some use little-endian</a:t>
            </a:r>
          </a:p>
          <a:p>
            <a:r>
              <a:rPr lang="en-US" dirty="0"/>
              <a:t>Both parties need an agreement to interpret the bytes</a:t>
            </a:r>
            <a:endParaRPr dirty="0"/>
          </a:p>
        </p:txBody>
      </p:sp>
      <p:sp>
        <p:nvSpPr>
          <p:cNvPr id="492" name="128"/>
          <p:cNvSpPr/>
          <p:nvPr/>
        </p:nvSpPr>
        <p:spPr>
          <a:xfrm>
            <a:off x="6874087" y="6612368"/>
            <a:ext cx="1067121" cy="668343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t>128</a:t>
            </a:r>
          </a:p>
        </p:txBody>
      </p:sp>
      <p:sp>
        <p:nvSpPr>
          <p:cNvPr id="493" name="41"/>
          <p:cNvSpPr/>
          <p:nvPr/>
        </p:nvSpPr>
        <p:spPr>
          <a:xfrm>
            <a:off x="7943618" y="6612368"/>
            <a:ext cx="1067121" cy="668343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t>41</a:t>
            </a:r>
          </a:p>
        </p:txBody>
      </p:sp>
      <p:sp>
        <p:nvSpPr>
          <p:cNvPr id="494" name="12"/>
          <p:cNvSpPr/>
          <p:nvPr/>
        </p:nvSpPr>
        <p:spPr>
          <a:xfrm>
            <a:off x="8993427" y="6612368"/>
            <a:ext cx="1067121" cy="668343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t>12</a:t>
            </a:r>
          </a:p>
        </p:txBody>
      </p:sp>
      <p:sp>
        <p:nvSpPr>
          <p:cNvPr id="495" name="217"/>
          <p:cNvSpPr/>
          <p:nvPr/>
        </p:nvSpPr>
        <p:spPr>
          <a:xfrm>
            <a:off x="10050259" y="6612368"/>
            <a:ext cx="1067121" cy="668343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t>217</a:t>
            </a:r>
          </a:p>
        </p:txBody>
      </p:sp>
      <p:sp>
        <p:nvSpPr>
          <p:cNvPr id="496" name="217"/>
          <p:cNvSpPr/>
          <p:nvPr/>
        </p:nvSpPr>
        <p:spPr>
          <a:xfrm>
            <a:off x="6823687" y="8253053"/>
            <a:ext cx="1067121" cy="668343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t>217</a:t>
            </a:r>
          </a:p>
        </p:txBody>
      </p:sp>
      <p:sp>
        <p:nvSpPr>
          <p:cNvPr id="497" name="12"/>
          <p:cNvSpPr/>
          <p:nvPr/>
        </p:nvSpPr>
        <p:spPr>
          <a:xfrm>
            <a:off x="7893218" y="8253053"/>
            <a:ext cx="1067121" cy="668343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t>12</a:t>
            </a:r>
          </a:p>
        </p:txBody>
      </p:sp>
      <p:sp>
        <p:nvSpPr>
          <p:cNvPr id="498" name="41"/>
          <p:cNvSpPr/>
          <p:nvPr/>
        </p:nvSpPr>
        <p:spPr>
          <a:xfrm>
            <a:off x="8943027" y="8253053"/>
            <a:ext cx="1067121" cy="668343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t>41</a:t>
            </a:r>
          </a:p>
        </p:txBody>
      </p:sp>
      <p:sp>
        <p:nvSpPr>
          <p:cNvPr id="499" name="128"/>
          <p:cNvSpPr/>
          <p:nvPr/>
        </p:nvSpPr>
        <p:spPr>
          <a:xfrm>
            <a:off x="9999859" y="8253053"/>
            <a:ext cx="1067121" cy="668343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t>128</a:t>
            </a:r>
          </a:p>
        </p:txBody>
      </p:sp>
      <p:sp>
        <p:nvSpPr>
          <p:cNvPr id="500" name="Big-Endian"/>
          <p:cNvSpPr txBox="1"/>
          <p:nvPr/>
        </p:nvSpPr>
        <p:spPr>
          <a:xfrm>
            <a:off x="1290820" y="6595178"/>
            <a:ext cx="2611292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>
                <a:solidFill>
                  <a:schemeClr val="accent2">
                    <a:lumMod val="75000"/>
                  </a:schemeClr>
                </a:solidFill>
              </a:rPr>
              <a:t>Big-Endian</a:t>
            </a:r>
          </a:p>
        </p:txBody>
      </p:sp>
      <p:sp>
        <p:nvSpPr>
          <p:cNvPr id="501" name="Little-Endian"/>
          <p:cNvSpPr txBox="1"/>
          <p:nvPr/>
        </p:nvSpPr>
        <p:spPr>
          <a:xfrm>
            <a:off x="1339673" y="8255775"/>
            <a:ext cx="2823465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Little-Endian</a:t>
            </a:r>
          </a:p>
        </p:txBody>
      </p:sp>
      <p:sp>
        <p:nvSpPr>
          <p:cNvPr id="502" name="Line"/>
          <p:cNvSpPr/>
          <p:nvPr/>
        </p:nvSpPr>
        <p:spPr>
          <a:xfrm>
            <a:off x="7318013" y="7373012"/>
            <a:ext cx="3258021" cy="77637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503" name="Line"/>
          <p:cNvSpPr/>
          <p:nvPr/>
        </p:nvSpPr>
        <p:spPr>
          <a:xfrm>
            <a:off x="8314014" y="7303132"/>
            <a:ext cx="1269736" cy="87729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504" name="Line"/>
          <p:cNvSpPr/>
          <p:nvPr/>
        </p:nvSpPr>
        <p:spPr>
          <a:xfrm flipH="1">
            <a:off x="8405018" y="7287285"/>
            <a:ext cx="1173845" cy="90872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505" name="Line"/>
          <p:cNvSpPr/>
          <p:nvPr/>
        </p:nvSpPr>
        <p:spPr>
          <a:xfrm flipH="1">
            <a:off x="7323227" y="7360930"/>
            <a:ext cx="3241100" cy="79499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EA1CFA-0CA7-4153-9CFE-3DC28B6052F0}"/>
              </a:ext>
            </a:extLst>
          </p:cNvPr>
          <p:cNvSpPr txBox="1"/>
          <p:nvPr/>
        </p:nvSpPr>
        <p:spPr>
          <a:xfrm>
            <a:off x="647700" y="4664636"/>
            <a:ext cx="10937493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sz="3600" dirty="0">
                <a:solidFill>
                  <a:schemeClr val="accent1"/>
                </a:solidFill>
              </a:rPr>
              <a:t>Integer: 2150173913</a:t>
            </a:r>
            <a:r>
              <a:rPr lang="en-US" sz="3600" dirty="0"/>
              <a:t> or </a:t>
            </a:r>
            <a:r>
              <a:rPr lang="en-US" sz="3600" dirty="0">
                <a:solidFill>
                  <a:schemeClr val="accent1"/>
                </a:solidFill>
              </a:rPr>
              <a:t>0x80 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29 0C D9</a:t>
            </a:r>
          </a:p>
          <a:p>
            <a:pPr algn="l"/>
            <a:r>
              <a:rPr lang="en-US" sz="3600" dirty="0"/>
              <a:t>Bytes: 128(0x80), 41(0x29), 12(0x0C), 217(0xD9)</a:t>
            </a: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A59BFEC-B004-48D2-BDAB-7843BA66BC65}"/>
              </a:ext>
            </a:extLst>
          </p:cNvPr>
          <p:cNvCxnSpPr/>
          <p:nvPr/>
        </p:nvCxnSpPr>
        <p:spPr>
          <a:xfrm>
            <a:off x="6958940" y="6282047"/>
            <a:ext cx="4001985" cy="0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8F1085E-5A87-4BDD-B065-983EF6072A1F}"/>
              </a:ext>
            </a:extLst>
          </p:cNvPr>
          <p:cNvSpPr txBox="1"/>
          <p:nvPr/>
        </p:nvSpPr>
        <p:spPr>
          <a:xfrm>
            <a:off x="11317184" y="5977054"/>
            <a:ext cx="1413164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higher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213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Byte order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Change b</a:t>
            </a:r>
            <a:r>
              <a:rPr dirty="0"/>
              <a:t>yte ordering</a:t>
            </a:r>
            <a:r>
              <a:rPr lang="en-US" dirty="0"/>
              <a:t> for 16-bit or 32-bit integers</a:t>
            </a:r>
            <a:endParaRPr dirty="0"/>
          </a:p>
        </p:txBody>
      </p:sp>
      <p:sp>
        <p:nvSpPr>
          <p:cNvPr id="513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514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515" name="Two ordering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Two orderings</a:t>
            </a:r>
            <a:r>
              <a:rPr lang="en-US" dirty="0"/>
              <a:t> may not be the same</a:t>
            </a:r>
            <a:endParaRPr dirty="0"/>
          </a:p>
          <a:p>
            <a:pPr lvl="1"/>
            <a:r>
              <a:rPr dirty="0"/>
              <a:t>Host Byte Ordering					natural for platform</a:t>
            </a:r>
          </a:p>
          <a:p>
            <a:pPr lvl="1"/>
            <a:r>
              <a:rPr dirty="0"/>
              <a:t>Network Byte Ordering				always big-endian</a:t>
            </a:r>
          </a:p>
          <a:p>
            <a:r>
              <a:rPr lang="en-US" dirty="0"/>
              <a:t>Convert to network byte ordering before send</a:t>
            </a:r>
          </a:p>
          <a:p>
            <a:r>
              <a:rPr lang="en-US" dirty="0"/>
              <a:t>Convert to host byte ordering after receive</a:t>
            </a:r>
          </a:p>
          <a:p>
            <a:pPr lvl="1"/>
            <a:r>
              <a:rPr lang="en-US" dirty="0" err="1"/>
              <a:t>htonl</a:t>
            </a:r>
            <a:r>
              <a:rPr lang="en-US" dirty="0"/>
              <a:t> and </a:t>
            </a:r>
            <a:r>
              <a:rPr lang="en-US" dirty="0" err="1"/>
              <a:t>ntohl</a:t>
            </a:r>
            <a:r>
              <a:rPr lang="en-US" dirty="0"/>
              <a:t> for 32-bit. </a:t>
            </a:r>
            <a:r>
              <a:rPr lang="en-US" dirty="0" err="1"/>
              <a:t>htons</a:t>
            </a:r>
            <a:r>
              <a:rPr lang="en-US" dirty="0"/>
              <a:t> and </a:t>
            </a:r>
            <a:r>
              <a:rPr lang="en-US" dirty="0" err="1"/>
              <a:t>ntohs</a:t>
            </a:r>
            <a:r>
              <a:rPr lang="en-US" dirty="0"/>
              <a:t> for 16-bit</a:t>
            </a:r>
          </a:p>
          <a:p>
            <a:endParaRPr dirty="0"/>
          </a:p>
          <a:p>
            <a:pPr lvl="1"/>
            <a:endParaRPr dirty="0"/>
          </a:p>
          <a:p>
            <a:pPr lvl="1"/>
            <a:endParaRPr dirty="0"/>
          </a:p>
          <a:p>
            <a:pPr lvl="1"/>
            <a:endParaRPr dirty="0"/>
          </a:p>
        </p:txBody>
      </p:sp>
      <p:sp>
        <p:nvSpPr>
          <p:cNvPr id="517" name="#include &lt;arpa/inet.h&gt;…"/>
          <p:cNvSpPr txBox="1"/>
          <p:nvPr/>
        </p:nvSpPr>
        <p:spPr>
          <a:xfrm>
            <a:off x="1264920" y="6322735"/>
            <a:ext cx="10195559" cy="2687915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#include &lt;</a:t>
            </a:r>
            <a:r>
              <a:rPr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arpa</a:t>
            </a: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/</a:t>
            </a:r>
            <a:r>
              <a:rPr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inet.h</a:t>
            </a: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&gt;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800" dirty="0">
              <a:latin typeface="Consolas" panose="020B0609020204030204" pitchFamily="49" charset="0"/>
            </a:endParaRP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uint32_t</a:t>
            </a:r>
            <a:r>
              <a:rPr sz="2800" dirty="0">
                <a:latin typeface="Consolas" panose="020B0609020204030204" pitchFamily="49" charset="0"/>
              </a:rPr>
              <a:t> </a:t>
            </a:r>
            <a:r>
              <a:rPr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htonl</a:t>
            </a: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(uint32_t </a:t>
            </a:r>
            <a:r>
              <a:rPr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hostlong</a:t>
            </a: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uint16_t</a:t>
            </a:r>
            <a:r>
              <a:rPr sz="2800" dirty="0">
                <a:latin typeface="Consolas" panose="020B0609020204030204" pitchFamily="49" charset="0"/>
              </a:rPr>
              <a:t> </a:t>
            </a:r>
            <a:r>
              <a:rPr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htons</a:t>
            </a: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(uint16_t </a:t>
            </a:r>
            <a:r>
              <a:rPr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hostshort</a:t>
            </a: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uint32_t</a:t>
            </a:r>
            <a:r>
              <a:rPr sz="2800" dirty="0">
                <a:latin typeface="Consolas" panose="020B0609020204030204" pitchFamily="49" charset="0"/>
              </a:rPr>
              <a:t> </a:t>
            </a:r>
            <a:r>
              <a:rPr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ntohl</a:t>
            </a: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(uint32_t </a:t>
            </a:r>
            <a:r>
              <a:rPr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netlong</a:t>
            </a: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uint16_t</a:t>
            </a:r>
            <a:r>
              <a:rPr sz="2800" dirty="0">
                <a:latin typeface="Consolas" panose="020B0609020204030204" pitchFamily="49" charset="0"/>
              </a:rPr>
              <a:t> </a:t>
            </a:r>
            <a:r>
              <a:rPr sz="2800" dirty="0" err="1">
                <a:solidFill>
                  <a:schemeClr val="accent5"/>
                </a:solidFill>
                <a:latin typeface="Consolas" panose="020B0609020204030204" pitchFamily="49" charset="0"/>
              </a:rPr>
              <a:t>ntohs</a:t>
            </a: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(uint16_t </a:t>
            </a:r>
            <a:r>
              <a:rPr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netshort</a:t>
            </a:r>
            <a:r>
              <a:rPr sz="2800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DF227B-4151-4896-AE56-40B1966A687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8071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a string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We are fine in this course</a:t>
            </a:r>
            <a:r>
              <a:rPr lang="en-US" dirty="0"/>
              <a:t> because we assume ASCII strings</a:t>
            </a:r>
          </a:p>
          <a:p>
            <a:pPr lvl="1"/>
            <a:r>
              <a:rPr lang="en-US" dirty="0"/>
              <a:t>Each character has only one byte</a:t>
            </a:r>
          </a:p>
          <a:p>
            <a:r>
              <a:rPr lang="en-US" dirty="0"/>
              <a:t>In real word, modern applications assume Unicode internally</a:t>
            </a:r>
          </a:p>
          <a:p>
            <a:pPr lvl="1"/>
            <a:r>
              <a:rPr lang="en-US" dirty="0"/>
              <a:t>Especially important for web servers</a:t>
            </a:r>
          </a:p>
          <a:p>
            <a:pPr lvl="2"/>
            <a:r>
              <a:rPr lang="en-US" dirty="0"/>
              <a:t>Your customers/users speak many kinds of languages!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Example:</a:t>
            </a:r>
          </a:p>
          <a:p>
            <a:pPr marL="0" indent="0">
              <a:buNone/>
            </a:pPr>
            <a:r>
              <a:rPr lang="en-US" sz="2800" dirty="0"/>
              <a:t>Python 3 uses Unicode strings by default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"♡♫".encode('utf-8')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# encode a string to byte array using UTF-8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data.decode</a:t>
            </a:r>
            <a:r>
              <a:rPr lang="en-US" sz="2400" dirty="0">
                <a:latin typeface="Consolas" panose="020B0609020204030204" pitchFamily="49" charset="0"/>
              </a:rPr>
              <a:t>('utf-8')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# decode a byte array using UTF-8 to a string</a:t>
            </a:r>
          </a:p>
          <a:p>
            <a:pPr lvl="1"/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71526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Alignment and Pad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Issues with structure: a</a:t>
            </a:r>
            <a:r>
              <a:rPr dirty="0"/>
              <a:t>lignment and </a:t>
            </a:r>
            <a:r>
              <a:rPr lang="en-US" dirty="0"/>
              <a:t>p</a:t>
            </a:r>
            <a:r>
              <a:rPr dirty="0"/>
              <a:t>adding</a:t>
            </a:r>
          </a:p>
        </p:txBody>
      </p:sp>
      <p:sp>
        <p:nvSpPr>
          <p:cNvPr id="52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523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524" name="Compilation can introduce padding inside structur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2800" dirty="0"/>
              <a:t>Compilation can introduce padding inside structures </a:t>
            </a:r>
          </a:p>
          <a:p>
            <a:pPr lvl="1"/>
            <a:r>
              <a:rPr lang="en-US" sz="2800" dirty="0"/>
              <a:t>A</a:t>
            </a:r>
            <a:r>
              <a:rPr sz="2800" dirty="0"/>
              <a:t>ffect the structure si</a:t>
            </a:r>
            <a:r>
              <a:rPr lang="en-US" sz="2800" dirty="0"/>
              <a:t>z</a:t>
            </a:r>
            <a:r>
              <a:rPr sz="2800" dirty="0"/>
              <a:t>e</a:t>
            </a:r>
            <a:r>
              <a:rPr lang="en-US" sz="2800" dirty="0"/>
              <a:t> and </a:t>
            </a:r>
            <a:r>
              <a:rPr sz="2800" dirty="0"/>
              <a:t>the offset of the fields</a:t>
            </a:r>
          </a:p>
          <a:p>
            <a:pPr lvl="1"/>
            <a:r>
              <a:rPr sz="2800" dirty="0"/>
              <a:t>Important when the two endpoints have different architectures</a:t>
            </a:r>
          </a:p>
          <a:p>
            <a:pPr lvl="2"/>
            <a:r>
              <a:rPr sz="2800" dirty="0"/>
              <a:t>e.g.  32 bit vs. 64 bit even if both are </a:t>
            </a:r>
            <a:r>
              <a:rPr lang="en-US" sz="2800" dirty="0"/>
              <a:t>I</a:t>
            </a:r>
            <a:r>
              <a:rPr sz="2800" dirty="0"/>
              <a:t>ntel</a:t>
            </a:r>
          </a:p>
          <a:p>
            <a:r>
              <a:rPr sz="2800" dirty="0"/>
              <a:t>How to deal </a:t>
            </a:r>
            <a:r>
              <a:rPr lang="en-US" sz="2800" dirty="0"/>
              <a:t>with the issue</a:t>
            </a:r>
            <a:r>
              <a:rPr sz="2800" dirty="0"/>
              <a:t>?</a:t>
            </a:r>
          </a:p>
          <a:p>
            <a:pPr lvl="1"/>
            <a:r>
              <a:rPr sz="2800" dirty="0"/>
              <a:t>Use explicit padding! (or reorder fields)</a:t>
            </a:r>
            <a:endParaRPr lang="en-US" sz="2800" dirty="0"/>
          </a:p>
          <a:p>
            <a:pPr lvl="1"/>
            <a:r>
              <a:rPr lang="en-US" sz="2800" dirty="0"/>
              <a:t>Do not use any language/machine dependent data/structure</a:t>
            </a:r>
            <a:endParaRPr sz="2800" dirty="0"/>
          </a:p>
        </p:txBody>
      </p:sp>
      <p:sp>
        <p:nvSpPr>
          <p:cNvPr id="526" name="struct RecTag {…"/>
          <p:cNvSpPr txBox="1"/>
          <p:nvPr/>
        </p:nvSpPr>
        <p:spPr>
          <a:xfrm>
            <a:off x="647700" y="7094321"/>
            <a:ext cx="2932960" cy="1949252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struct </a:t>
            </a:r>
            <a:r>
              <a:rPr dirty="0" err="1">
                <a:solidFill>
                  <a:schemeClr val="accent1"/>
                </a:solidFill>
                <a:latin typeface="Consolas" panose="020B0609020204030204" pitchFamily="49" charset="0"/>
              </a:rPr>
              <a:t>RecTag</a:t>
            </a: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 {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	</a:t>
            </a:r>
            <a:r>
              <a:rPr dirty="0" err="1">
                <a:solidFill>
                  <a:schemeClr val="accent1"/>
                </a:solidFill>
                <a:latin typeface="Consolas" panose="020B0609020204030204" pitchFamily="49" charset="0"/>
              </a:rPr>
              <a:t>int</a:t>
            </a: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   a;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	short b;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	</a:t>
            </a:r>
            <a:r>
              <a:rPr dirty="0" err="1">
                <a:solidFill>
                  <a:schemeClr val="accent1"/>
                </a:solidFill>
                <a:latin typeface="Consolas" panose="020B0609020204030204" pitchFamily="49" charset="0"/>
              </a:rPr>
              <a:t>int</a:t>
            </a: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   c;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27" name="struct RecTag {…"/>
          <p:cNvSpPr txBox="1"/>
          <p:nvPr/>
        </p:nvSpPr>
        <p:spPr>
          <a:xfrm>
            <a:off x="5686504" y="7094321"/>
            <a:ext cx="3372750" cy="2311401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struct </a:t>
            </a:r>
            <a:r>
              <a:rPr sz="24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RecTag</a:t>
            </a: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 {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	</a:t>
            </a:r>
            <a:r>
              <a:rPr sz="24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int</a:t>
            </a: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   a;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	short b;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	char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 </a:t>
            </a: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unused[2];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	</a:t>
            </a:r>
            <a:r>
              <a:rPr sz="24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int</a:t>
            </a: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   c;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</a:rPr>
              <a:t>}</a:t>
            </a:r>
          </a:p>
        </p:txBody>
      </p:sp>
      <p:sp>
        <p:nvSpPr>
          <p:cNvPr id="528" name="Arrow"/>
          <p:cNvSpPr/>
          <p:nvPr/>
        </p:nvSpPr>
        <p:spPr>
          <a:xfrm>
            <a:off x="3927692" y="7757572"/>
            <a:ext cx="1447800" cy="622749"/>
          </a:xfrm>
          <a:prstGeom prst="rightArrow">
            <a:avLst>
              <a:gd name="adj1" fmla="val 32000"/>
              <a:gd name="adj2" fmla="val 59767"/>
            </a:avLst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207218" y="7094321"/>
            <a:ext cx="3573114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Remember to 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change byte order for a, b, and c !</a:t>
            </a:r>
          </a:p>
        </p:txBody>
      </p:sp>
    </p:spTree>
    <p:extLst>
      <p:ext uri="{BB962C8B-B14F-4D97-AF65-F5344CB8AC3E}">
        <p14:creationId xmlns:p14="http://schemas.microsoft.com/office/powerpoint/2010/main" val="345064959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arrays?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 each element to bytes individually</a:t>
            </a:r>
          </a:p>
          <a:p>
            <a:endParaRPr lang="en-US" dirty="0"/>
          </a:p>
          <a:p>
            <a:r>
              <a:rPr lang="en-US" dirty="0"/>
              <a:t>How about arrays of structures that have array members?</a:t>
            </a:r>
          </a:p>
          <a:p>
            <a:pPr lvl="1"/>
            <a:r>
              <a:rPr lang="en-US" dirty="0"/>
              <a:t>You can see it is becoming very tedious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JSON: JavaScript Object Notation is an open-standard file format that uses human-readable text to transmit data objects consisting of attribute–value pairs and array data types (from Wikipedia)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6763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SMTP(Simple Mail Transfer Protocol)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S: 220 smtp.example.com ESMTP Postfix</a:t>
            </a:r>
          </a:p>
          <a:p>
            <a:pPr marL="0" indent="0">
              <a:buNone/>
            </a:pPr>
            <a:r>
              <a:rPr lang="en-US" sz="2400" dirty="0"/>
              <a:t>C: HELO relay.example.com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S: 250 smtp.example.com, I am glad to meet you</a:t>
            </a:r>
          </a:p>
          <a:p>
            <a:pPr marL="0" indent="0">
              <a:buNone/>
            </a:pPr>
            <a:r>
              <a:rPr lang="en-US" sz="2400" dirty="0"/>
              <a:t>C: MAIL FROM:&lt;bob@example.com&gt;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S: 250 Ok</a:t>
            </a:r>
          </a:p>
          <a:p>
            <a:pPr marL="0" indent="0">
              <a:buNone/>
            </a:pPr>
            <a:r>
              <a:rPr lang="en-US" sz="2400" dirty="0"/>
              <a:t>C: RCPT TO:&lt;alice@example.com&gt;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S: 250 Ok</a:t>
            </a:r>
          </a:p>
          <a:p>
            <a:pPr marL="0" indent="0">
              <a:buNone/>
            </a:pPr>
            <a:r>
              <a:rPr lang="en-US" sz="2400" dirty="0"/>
              <a:t>C: DATA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S: 354 End data with </a:t>
            </a:r>
            <a:r>
              <a:rPr lang="en-US" sz="2400" dirty="0">
                <a:solidFill>
                  <a:schemeClr val="accent6"/>
                </a:solidFill>
              </a:rPr>
              <a:t>&lt;CR&gt;&lt;LF&gt;.&lt;CR&gt;&lt;LF&gt;</a:t>
            </a:r>
          </a:p>
          <a:p>
            <a:pPr marL="0" indent="0">
              <a:buNone/>
            </a:pPr>
            <a:r>
              <a:rPr lang="en-US" sz="2400" dirty="0"/>
              <a:t>C: From: "Bob Example" &lt;bob@example.com&gt;</a:t>
            </a:r>
          </a:p>
          <a:p>
            <a:pPr marL="0" indent="0">
              <a:buNone/>
            </a:pPr>
            <a:r>
              <a:rPr lang="en-US" sz="2400" dirty="0"/>
              <a:t>C: To: Alice Example &lt;alice@example.com&gt;</a:t>
            </a:r>
          </a:p>
          <a:p>
            <a:pPr marL="0" indent="0">
              <a:buNone/>
            </a:pPr>
            <a:r>
              <a:rPr lang="en-US" sz="2400" dirty="0"/>
              <a:t>C: Date: Tue, 15 Jan 2008 16:02:43 -0500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0" y="4313456"/>
            <a:ext cx="5575300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Each line ends with</a:t>
            </a:r>
            <a:r>
              <a:rPr kumimoji="0" lang="en-US" sz="2400" b="0" i="0" u="none" strike="noStrike" cap="none" spc="0" normalizeH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 &lt;CR&gt;&lt;LF&gt;, </a:t>
            </a:r>
            <a:r>
              <a:rPr lang="en-US" sz="2400" baseline="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"\r\n"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400" baseline="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l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 may respond with many lines,</a:t>
            </a:r>
          </a:p>
          <a:p>
            <a:pPr algn="l"/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for example, to</a:t>
            </a:r>
            <a:r>
              <a:rPr kumimoji="0" lang="en-US" sz="2400" b="0" i="0" u="none" strike="noStrike" cap="none" spc="0" normalizeH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 EHLO command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FillTx/>
              <a:latin typeface="Consolas" panose="020B0609020204030204" pitchFamily="49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04452" y="8479631"/>
            <a:ext cx="4353842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Based on an</a:t>
            </a:r>
            <a:r>
              <a:rPr kumimoji="0" lang="en-US" sz="2000" b="0" i="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 example on Wikipedia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Consolas" panose="020B0609020204030204" pitchFamily="49" charset="0"/>
              <a:cs typeface="Arial" panose="020B0604020202020204" pitchFamily="34" charset="0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28660185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SMTP - 2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C: Subject: Test message</a:t>
            </a:r>
          </a:p>
          <a:p>
            <a:pPr marL="0" indent="0">
              <a:buNone/>
            </a:pPr>
            <a:r>
              <a:rPr lang="en-US" sz="2400" dirty="0"/>
              <a:t>C: </a:t>
            </a:r>
          </a:p>
          <a:p>
            <a:pPr marL="0" indent="0">
              <a:buNone/>
            </a:pPr>
            <a:r>
              <a:rPr lang="en-US" sz="2400" dirty="0"/>
              <a:t>C: Hello, Alice,</a:t>
            </a:r>
          </a:p>
          <a:p>
            <a:pPr marL="0" indent="0">
              <a:buNone/>
            </a:pPr>
            <a:r>
              <a:rPr lang="en-US" sz="2400" dirty="0"/>
              <a:t>C: This is a test message.</a:t>
            </a:r>
          </a:p>
          <a:p>
            <a:pPr marL="0" indent="0">
              <a:buNone/>
            </a:pPr>
            <a:r>
              <a:rPr lang="en-US" sz="2400" dirty="0"/>
              <a:t>C: Bob</a:t>
            </a:r>
          </a:p>
          <a:p>
            <a:pPr marL="0" indent="0">
              <a:buNone/>
            </a:pPr>
            <a:r>
              <a:rPr lang="en-US" sz="2400" dirty="0"/>
              <a:t>C: 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S: 250 Ok: queued as 12345</a:t>
            </a:r>
          </a:p>
          <a:p>
            <a:pPr marL="0" indent="0">
              <a:buNone/>
            </a:pPr>
            <a:r>
              <a:rPr lang="en-US" sz="2400" dirty="0"/>
              <a:t>C: QUIT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S: 221 Bye</a:t>
            </a:r>
          </a:p>
          <a:p>
            <a:pPr marL="0" indent="0">
              <a:buNone/>
            </a:pPr>
            <a:r>
              <a:rPr lang="en-US" sz="2400" dirty="0"/>
              <a:t>{The server closes the connection}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104452" y="8479631"/>
            <a:ext cx="4353842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Based on an</a:t>
            </a:r>
            <a:r>
              <a:rPr kumimoji="0" lang="en-US" sz="2000" b="0" i="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 example on Wikipedia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Consolas" panose="020B0609020204030204" pitchFamily="49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98520" y="4623812"/>
            <a:ext cx="5897880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sz="2400" dirty="0">
                <a:solidFill>
                  <a:schemeClr val="accent6"/>
                </a:solidFill>
              </a:rPr>
              <a:t>Here is the line indicating the end of DATA</a:t>
            </a:r>
          </a:p>
          <a:p>
            <a:pPr algn="l"/>
            <a:r>
              <a:rPr lang="en-US" sz="2400" dirty="0">
                <a:solidFill>
                  <a:schemeClr val="accent6"/>
                </a:solidFill>
              </a:rPr>
              <a:t>&lt;CR&gt;&lt;LF&gt;.&lt;CR&gt;&lt;LF&gt;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FillTx/>
              <a:latin typeface="Consolas" panose="020B0609020204030204" pitchFamily="49" charset="0"/>
              <a:cs typeface="Arial" panose="020B0604020202020204" pitchFamily="34" charset="0"/>
              <a:sym typeface="Helvetica Neue Light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1554480" y="5044440"/>
            <a:ext cx="1554480" cy="289560"/>
          </a:xfrm>
          <a:prstGeom prst="straightConnector1">
            <a:avLst/>
          </a:prstGeom>
          <a:noFill/>
          <a:ln w="25400" cap="flat">
            <a:solidFill>
              <a:srgbClr val="7030A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791248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Example: TFTP-style applications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TFTP-style applications</a:t>
            </a:r>
          </a:p>
        </p:txBody>
      </p:sp>
      <p:sp>
        <p:nvSpPr>
          <p:cNvPr id="437" name="Trivial File Transfer Protocol…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Trivial File Transfer Protocol (TFTP)</a:t>
            </a:r>
          </a:p>
          <a:p>
            <a:r>
              <a:rPr lang="en-US" dirty="0"/>
              <a:t>Server waits for commands and performs operations accordingly</a:t>
            </a:r>
          </a:p>
          <a:p>
            <a:r>
              <a:rPr lang="en-US" dirty="0"/>
              <a:t>Client sends a command to the server and waits for the response</a:t>
            </a:r>
          </a:p>
          <a:p>
            <a:endParaRPr lang="en-US" dirty="0"/>
          </a:p>
          <a:p>
            <a:r>
              <a:rPr lang="en-US" dirty="0"/>
              <a:t>Three commands are supported</a:t>
            </a:r>
          </a:p>
          <a:p>
            <a:pPr lvl="2"/>
            <a:r>
              <a:rPr lang="en-US" dirty="0"/>
              <a:t>LS  			List files in the directory on the server side </a:t>
            </a:r>
          </a:p>
          <a:p>
            <a:pPr lvl="2"/>
            <a:r>
              <a:rPr lang="en-US" dirty="0"/>
              <a:t>GET </a:t>
            </a:r>
            <a:r>
              <a:rPr lang="en-US" dirty="0" err="1"/>
              <a:t>fn</a:t>
            </a:r>
            <a:r>
              <a:rPr lang="en-US" dirty="0"/>
              <a:t> 		Download a file named “</a:t>
            </a:r>
            <a:r>
              <a:rPr lang="en-US" dirty="0" err="1"/>
              <a:t>fn</a:t>
            </a:r>
            <a:r>
              <a:rPr lang="en-US" dirty="0"/>
              <a:t>” from the server</a:t>
            </a:r>
          </a:p>
          <a:p>
            <a:pPr lvl="2"/>
            <a:r>
              <a:rPr lang="en-US" dirty="0"/>
              <a:t>EXIT			End the session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pPr/>
              <a:t>14</a:t>
            </a:fld>
            <a:endParaRPr lang="en-US"/>
          </a:p>
        </p:txBody>
      </p:sp>
      <p:sp>
        <p:nvSpPr>
          <p:cNvPr id="43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36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0DB73D-B653-48A4-8886-8269E7EC6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505816-A573-47A2-9D96-9B8ABF086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Client sends a command </a:t>
            </a:r>
          </a:p>
          <a:p>
            <a:pPr marL="0" indent="0">
              <a:buNone/>
            </a:pPr>
            <a:r>
              <a:rPr lang="en-US" dirty="0"/>
              <a:t>Server responds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to encode the command, messages, and files?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79CA8A-C010-4E18-83B8-4E63AF827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510468"/>
              </p:ext>
            </p:extLst>
          </p:nvPr>
        </p:nvGraphicFramePr>
        <p:xfrm>
          <a:off x="571500" y="3839394"/>
          <a:ext cx="11731336" cy="30276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1097">
                  <a:extLst>
                    <a:ext uri="{9D8B030D-6E8A-4147-A177-3AD203B41FA5}">
                      <a16:colId xmlns:a16="http://schemas.microsoft.com/office/drawing/2014/main" val="2186699546"/>
                    </a:ext>
                  </a:extLst>
                </a:gridCol>
                <a:gridCol w="8740239">
                  <a:extLst>
                    <a:ext uri="{9D8B030D-6E8A-4147-A177-3AD203B41FA5}">
                      <a16:colId xmlns:a16="http://schemas.microsoft.com/office/drawing/2014/main" val="2922884840"/>
                    </a:ext>
                  </a:extLst>
                </a:gridCol>
              </a:tblGrid>
              <a:tr h="75691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5"/>
                          </a:solidFill>
                        </a:rPr>
                        <a:t>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473525"/>
                  </a:ext>
                </a:extLst>
              </a:tr>
              <a:tr h="75691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A list of file names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630423"/>
                  </a:ext>
                </a:extLst>
              </a:tr>
              <a:tr h="75691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GET </a:t>
                      </a:r>
                      <a:r>
                        <a:rPr lang="en-US" sz="2800" dirty="0" err="1"/>
                        <a:t>fn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A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17217"/>
                  </a:ext>
                </a:extLst>
              </a:tr>
              <a:tr h="75691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EXIT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Nothing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914082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6200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Messaging Op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Command </a:t>
            </a:r>
            <a:r>
              <a:rPr dirty="0"/>
              <a:t>Options</a:t>
            </a:r>
            <a:r>
              <a:rPr lang="en-US" dirty="0"/>
              <a:t>: Text</a:t>
            </a:r>
            <a:endParaRPr dirty="0"/>
          </a:p>
        </p:txBody>
      </p:sp>
      <p:sp>
        <p:nvSpPr>
          <p:cNvPr id="451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52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53" name="Example command: GET(fn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 command is an ASCII string ending with a delimiter, e.g., '\n'</a:t>
            </a:r>
          </a:p>
          <a:p>
            <a:pPr lvl="1"/>
            <a:r>
              <a:rPr lang="en-US" dirty="0"/>
              <a:t>Both parties have to agree on the delimiter</a:t>
            </a:r>
          </a:p>
          <a:p>
            <a:pPr marL="0" indent="0">
              <a:buNone/>
            </a:pPr>
            <a:r>
              <a:rPr lang="en-US" dirty="0"/>
              <a:t>Example: GET(</a:t>
            </a:r>
            <a:r>
              <a:rPr lang="en-US" dirty="0" err="1"/>
              <a:t>fn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send_str</a:t>
            </a:r>
            <a:r>
              <a:rPr lang="en-US" dirty="0">
                <a:latin typeface="Consolas" panose="020B0609020204030204" pitchFamily="49" charset="0"/>
              </a:rPr>
              <a:t>("get hello.txt\n");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// no need to send NUL</a:t>
            </a:r>
          </a:p>
        </p:txBody>
      </p:sp>
      <p:graphicFrame>
        <p:nvGraphicFramePr>
          <p:cNvPr id="455" name="Table"/>
          <p:cNvGraphicFramePr/>
          <p:nvPr>
            <p:extLst>
              <p:ext uri="{D42A27DB-BD31-4B8C-83A1-F6EECF244321}">
                <p14:modId xmlns:p14="http://schemas.microsoft.com/office/powerpoint/2010/main" val="1338718197"/>
              </p:ext>
            </p:extLst>
          </p:nvPr>
        </p:nvGraphicFramePr>
        <p:xfrm>
          <a:off x="973777" y="5229109"/>
          <a:ext cx="10611416" cy="3526108"/>
        </p:xfrm>
        <a:graphic>
          <a:graphicData uri="http://schemas.openxmlformats.org/drawingml/2006/table">
            <a:tbl>
              <a:tblPr firstRow="1">
                <a:tableStyleId>{8F44A2F1-9E1F-4B54-A3A2-5F16C0AD49E2}</a:tableStyleId>
              </a:tblPr>
              <a:tblGrid>
                <a:gridCol w="5305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5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152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 dirty="0">
                          <a:solidFill>
                            <a:schemeClr val="accent5"/>
                          </a:solidFill>
                          <a:sym typeface="Helvetica Neue Light"/>
                        </a:rPr>
                        <a:t>Pro</a:t>
                      </a:r>
                    </a:p>
                  </a:txBody>
                  <a:tcPr marL="25400" marR="25400" marT="25400" marB="254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 dirty="0">
                          <a:solidFill>
                            <a:schemeClr val="accent5"/>
                          </a:solidFill>
                          <a:sym typeface="Helvetica Neue Light"/>
                        </a:rPr>
                        <a:t>Cons</a:t>
                      </a:r>
                    </a:p>
                  </a:txBody>
                  <a:tcPr marL="25400" marR="25400" marT="25400" marB="2540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152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2500" dirty="0">
                          <a:sym typeface="Helvetica Neue Light"/>
                        </a:rPr>
                        <a:t>Easy for humans to read</a:t>
                      </a: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2500" dirty="0">
                          <a:sym typeface="Helvetica Neue Light"/>
                        </a:rPr>
                        <a:t>R</a:t>
                      </a:r>
                      <a:r>
                        <a:rPr sz="2500" dirty="0">
                          <a:sym typeface="Helvetica Neue Light"/>
                        </a:rPr>
                        <a:t>equire parsing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152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2500" dirty="0">
                          <a:sym typeface="Helvetica Neue Light"/>
                        </a:rPr>
                        <a:t>Flexible and compatible</a:t>
                      </a:r>
                      <a:endParaRPr sz="2500" dirty="0"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2500" dirty="0">
                          <a:sym typeface="Helvetica Neue Light"/>
                        </a:rPr>
                        <a:t>Variable length. Check of the delimiter</a:t>
                      </a:r>
                      <a:endParaRPr sz="2500" dirty="0"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52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2500" dirty="0"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2500" dirty="0">
                          <a:sym typeface="Helvetica Neue Light"/>
                        </a:rPr>
                        <a:t>Not compact for long commands</a:t>
                      </a:r>
                      <a:endParaRPr sz="2500" dirty="0"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3247531017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Messaging Op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Command</a:t>
            </a:r>
            <a:r>
              <a:rPr dirty="0"/>
              <a:t> Options</a:t>
            </a:r>
            <a:r>
              <a:rPr lang="en-US" dirty="0"/>
              <a:t>: Binary, fixed size</a:t>
            </a:r>
            <a:endParaRPr dirty="0"/>
          </a:p>
        </p:txBody>
      </p:sp>
      <p:sp>
        <p:nvSpPr>
          <p:cNvPr id="460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61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62" name="Example command: GET(fn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 command is represented by a structure</a:t>
            </a:r>
          </a:p>
          <a:p>
            <a:pPr lvl="1"/>
            <a:r>
              <a:rPr lang="en-US" dirty="0"/>
              <a:t>All commands have the same size </a:t>
            </a:r>
            <a:r>
              <a:rPr lang="en-US" dirty="0">
                <a:solidFill>
                  <a:schemeClr val="accent5"/>
                </a:solidFill>
              </a:rPr>
              <a:t>(good or bad?)</a:t>
            </a:r>
          </a:p>
          <a:p>
            <a:r>
              <a:rPr lang="en-US" dirty="0"/>
              <a:t>Example:</a:t>
            </a:r>
            <a:endParaRPr dirty="0"/>
          </a:p>
        </p:txBody>
      </p:sp>
      <p:graphicFrame>
        <p:nvGraphicFramePr>
          <p:cNvPr id="464" name="Table"/>
          <p:cNvGraphicFramePr/>
          <p:nvPr>
            <p:extLst>
              <p:ext uri="{D42A27DB-BD31-4B8C-83A1-F6EECF244321}">
                <p14:modId xmlns:p14="http://schemas.microsoft.com/office/powerpoint/2010/main" val="2560319418"/>
              </p:ext>
            </p:extLst>
          </p:nvPr>
        </p:nvGraphicFramePr>
        <p:xfrm>
          <a:off x="6614160" y="5098307"/>
          <a:ext cx="5700826" cy="3482780"/>
        </p:xfrm>
        <a:graphic>
          <a:graphicData uri="http://schemas.openxmlformats.org/drawingml/2006/table">
            <a:tbl>
              <a:tblPr firstRow="1">
                <a:tableStyleId>{8F44A2F1-9E1F-4B54-A3A2-5F16C0AD49E2}</a:tableStyleId>
              </a:tblPr>
              <a:tblGrid>
                <a:gridCol w="2850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114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 dirty="0">
                          <a:solidFill>
                            <a:schemeClr val="accent5"/>
                          </a:solidFill>
                          <a:sym typeface="Helvetica Neue Light"/>
                        </a:rPr>
                        <a:t>Pro</a:t>
                      </a:r>
                    </a:p>
                  </a:txBody>
                  <a:tcPr marL="25400" marR="25400" marT="25400" marB="254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 dirty="0">
                          <a:solidFill>
                            <a:schemeClr val="accent5"/>
                          </a:solidFill>
                          <a:sym typeface="Helvetica Neue Light"/>
                        </a:rPr>
                        <a:t>Cons</a:t>
                      </a:r>
                    </a:p>
                  </a:txBody>
                  <a:tcPr marL="25400" marR="25400" marT="25400" marB="2540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14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500" dirty="0">
                          <a:sym typeface="Helvetica Neue Light"/>
                        </a:rPr>
                        <a:t>Nothing to parse</a:t>
                      </a: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2500" dirty="0">
                          <a:sym typeface="Helvetica Neue Light"/>
                        </a:rPr>
                        <a:t>Hard to read and maintain</a:t>
                      </a:r>
                      <a:endParaRPr sz="2500" dirty="0"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14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500" dirty="0">
                          <a:sym typeface="Helvetica Neue Light"/>
                        </a:rPr>
                        <a:t>Fixed size</a:t>
                      </a: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500" dirty="0">
                          <a:sym typeface="Helvetica Neue Light"/>
                        </a:rPr>
                        <a:t>Fixed size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145">
                <a:tc>
                  <a:txBody>
                    <a:bodyPr/>
                    <a:lstStyle/>
                    <a:p>
                      <a:pPr algn="l">
                        <a:defRPr sz="2500">
                          <a:sym typeface="Helvetica Neue Light"/>
                        </a:defRPr>
                      </a:pPr>
                      <a:endParaRPr/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500" dirty="0">
                          <a:sym typeface="Helvetica Neue Light"/>
                        </a:rPr>
                        <a:t>Endianness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145">
                <a:tc>
                  <a:txBody>
                    <a:bodyPr/>
                    <a:lstStyle/>
                    <a:p>
                      <a:pPr algn="l">
                        <a:defRPr sz="2500">
                          <a:sym typeface="Helvetica Neue Light"/>
                        </a:defRPr>
                      </a:pPr>
                      <a:endParaRPr dirty="0"/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2500" dirty="0">
                          <a:sym typeface="Helvetica Neue Light"/>
                        </a:rPr>
                        <a:t>Padding</a:t>
                      </a:r>
                      <a:endParaRPr sz="2500" dirty="0"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2544157893"/>
                  </a:ext>
                </a:extLst>
              </a:tr>
            </a:tbl>
          </a:graphicData>
        </a:graphic>
      </p:graphicFrame>
      <p:sp>
        <p:nvSpPr>
          <p:cNvPr id="465" name="#define LS    0…"/>
          <p:cNvSpPr txBox="1"/>
          <p:nvPr/>
        </p:nvSpPr>
        <p:spPr>
          <a:xfrm>
            <a:off x="571500" y="4231178"/>
            <a:ext cx="5798820" cy="4534575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#define LS 	 	0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#define GET	 	1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#define PUT	 	2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#define EXIT		3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 dirty="0">
              <a:solidFill>
                <a:schemeClr val="accent1"/>
              </a:solidFill>
              <a:latin typeface="Consolas" panose="020B0609020204030204" pitchFamily="49" charset="0"/>
              <a:ea typeface="Courier"/>
              <a:cs typeface="Courier"/>
              <a:sym typeface="Helvetica Neue"/>
            </a:endParaRP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struct Command {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	int code;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	char </a:t>
            </a:r>
            <a:r>
              <a:rPr sz="24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fileName</a:t>
            </a: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[25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2</a:t>
            </a: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];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}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cmd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400" dirty="0">
              <a:solidFill>
                <a:srgbClr val="941100"/>
              </a:solidFill>
              <a:latin typeface="Consolas" panose="020B0609020204030204" pitchFamily="49" charset="0"/>
              <a:ea typeface="+mn-ea"/>
              <a:cs typeface="+mn-cs"/>
              <a:sym typeface="Helvetica Neue"/>
            </a:endParaRP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cmd.code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 =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htonl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ea typeface="Courier"/>
                <a:cs typeface="Courier"/>
                <a:sym typeface="Helvetica Neue"/>
              </a:rPr>
              <a:t>(GET);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  <a:sym typeface="Helvetica Neue"/>
              </a:rPr>
              <a:t>send_all</a:t>
            </a:r>
            <a:r>
              <a:rPr lang="en-US"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  <a:sym typeface="Helvetica Neue"/>
              </a:rPr>
              <a:t>(</a:t>
            </a:r>
            <a:r>
              <a:rPr lang="en-US"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  <a:sym typeface="Helvetica Neue"/>
              </a:rPr>
              <a:t>sid</a:t>
            </a:r>
            <a:r>
              <a:rPr lang="en-US"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  <a:sym typeface="Helvetica Neue"/>
              </a:rPr>
              <a:t>, &amp;</a:t>
            </a:r>
            <a:r>
              <a:rPr lang="en-US"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  <a:sym typeface="Helvetica Neue"/>
              </a:rPr>
              <a:t>cmd</a:t>
            </a:r>
            <a:r>
              <a:rPr lang="en-US"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  <a:sym typeface="Helvetica Neue"/>
              </a:rPr>
              <a:t>, </a:t>
            </a:r>
            <a:r>
              <a:rPr lang="en-US"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  <a:sym typeface="Helvetica Neue"/>
              </a:rPr>
              <a:t>sizeof</a:t>
            </a:r>
            <a:r>
              <a:rPr lang="en-US"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  <a:sym typeface="Helvetica Neue"/>
              </a:rPr>
              <a:t>(</a:t>
            </a:r>
            <a:r>
              <a:rPr lang="en-US"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  <a:sym typeface="Helvetica Neue"/>
              </a:rPr>
              <a:t>cmd</a:t>
            </a:r>
            <a:r>
              <a:rPr lang="en-US"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  <a:sym typeface="Helvetica Neue"/>
              </a:rPr>
              <a:t>));</a:t>
            </a:r>
            <a:endParaRPr sz="2400" dirty="0">
              <a:solidFill>
                <a:srgbClr val="941100"/>
              </a:solidFill>
              <a:latin typeface="Consolas" panose="020B0609020204030204" pitchFamily="49" charset="0"/>
              <a:ea typeface="+mn-ea"/>
              <a:cs typeface="+mn-cs"/>
              <a:sym typeface="Helvetica Neue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Messaging Op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Command Options: Dynamic size</a:t>
            </a:r>
            <a:endParaRPr dirty="0"/>
          </a:p>
        </p:txBody>
      </p:sp>
      <p:sp>
        <p:nvSpPr>
          <p:cNvPr id="470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71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72" name="Example command: GET(fn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LS and EXIT need only 4 bytes (or we can use only one byte)</a:t>
            </a:r>
          </a:p>
          <a:p>
            <a:r>
              <a:rPr lang="en-US" dirty="0"/>
              <a:t>GET needs to send additional (filename length + 4) bytes</a:t>
            </a:r>
          </a:p>
          <a:p>
            <a:endParaRPr dirty="0"/>
          </a:p>
        </p:txBody>
      </p:sp>
      <p:sp>
        <p:nvSpPr>
          <p:cNvPr id="475" name="#define LS    0…"/>
          <p:cNvSpPr txBox="1"/>
          <p:nvPr/>
        </p:nvSpPr>
        <p:spPr>
          <a:xfrm>
            <a:off x="710389" y="3857922"/>
            <a:ext cx="6086651" cy="4534575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#define LS 	 	0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#define GET	 	1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#define PUT	 	2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#define EXIT		3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>
                <a:solidFill>
                  <a:schemeClr val="accent1"/>
                </a:solidFill>
                <a:latin typeface="Consolas" panose="020B0609020204030204" pitchFamily="49" charset="0"/>
              </a:rPr>
              <a:t>int</a:t>
            </a: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 code =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htonl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)</a:t>
            </a: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>
                <a:solidFill>
                  <a:schemeClr val="accent1"/>
                </a:solidFill>
                <a:latin typeface="Consolas" panose="020B0609020204030204" pitchFamily="49" charset="0"/>
              </a:rPr>
              <a:t>int</a:t>
            </a: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dirty="0" err="1">
                <a:solidFill>
                  <a:schemeClr val="accent1"/>
                </a:solidFill>
                <a:latin typeface="Consolas" panose="020B0609020204030204" pitchFamily="49" charset="0"/>
              </a:rPr>
              <a:t>f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n</a:t>
            </a:r>
            <a:r>
              <a:rPr dirty="0" err="1">
                <a:solidFill>
                  <a:schemeClr val="accent1"/>
                </a:solidFill>
                <a:latin typeface="Consolas" panose="020B0609020204030204" pitchFamily="49" charset="0"/>
              </a:rPr>
              <a:t>len</a:t>
            </a: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 = </a:t>
            </a:r>
            <a:r>
              <a:rPr dirty="0" err="1">
                <a:solidFill>
                  <a:schemeClr val="accent1"/>
                </a:solidFill>
                <a:latin typeface="Consolas" panose="020B0609020204030204" pitchFamily="49" charset="0"/>
              </a:rPr>
              <a:t>strlen</a:t>
            </a: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dirty="0" err="1">
                <a:solidFill>
                  <a:schemeClr val="accent1"/>
                </a:solidFill>
                <a:latin typeface="Consolas" panose="020B0609020204030204" pitchFamily="49" charset="0"/>
              </a:rPr>
              <a:t>fname</a:t>
            </a:r>
            <a:r>
              <a:rPr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nlen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htonl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fnlen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);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send</a:t>
            </a:r>
            <a:r>
              <a:rPr lang="en-US"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_all</a:t>
            </a:r>
            <a:r>
              <a:rPr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fd</a:t>
            </a:r>
            <a:r>
              <a:rPr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,&amp;</a:t>
            </a:r>
            <a:r>
              <a:rPr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code,sizeof</a:t>
            </a:r>
            <a:r>
              <a:rPr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));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send</a:t>
            </a:r>
            <a:r>
              <a:rPr lang="en-US"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_all</a:t>
            </a:r>
            <a:r>
              <a:rPr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fd</a:t>
            </a:r>
            <a:r>
              <a:rPr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,&amp;</a:t>
            </a:r>
            <a:r>
              <a:rPr lang="en-US"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len,sizeof</a:t>
            </a:r>
            <a:r>
              <a:rPr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));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send</a:t>
            </a:r>
            <a:r>
              <a:rPr lang="en-US"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_all</a:t>
            </a:r>
            <a:r>
              <a:rPr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fd,fname,</a:t>
            </a:r>
            <a:r>
              <a:rPr lang="en-US" sz="2400" dirty="0" err="1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fnlen</a:t>
            </a:r>
            <a:r>
              <a:rPr sz="2400" dirty="0">
                <a:solidFill>
                  <a:srgbClr val="941100"/>
                </a:solidFill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graphicFrame>
        <p:nvGraphicFramePr>
          <p:cNvPr id="9" name="Table">
            <a:extLst>
              <a:ext uri="{FF2B5EF4-FFF2-40B4-BE49-F238E27FC236}">
                <a16:creationId xmlns:a16="http://schemas.microsoft.com/office/drawing/2014/main" id="{6AB7CDB3-EB74-46B0-B2C1-61F346980E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8046025"/>
              </p:ext>
            </p:extLst>
          </p:nvPr>
        </p:nvGraphicFramePr>
        <p:xfrm>
          <a:off x="7202958" y="5386196"/>
          <a:ext cx="5230342" cy="2821635"/>
        </p:xfrm>
        <a:graphic>
          <a:graphicData uri="http://schemas.openxmlformats.org/drawingml/2006/table">
            <a:tbl>
              <a:tblPr firstRow="1">
                <a:tableStyleId>{8F44A2F1-9E1F-4B54-A3A2-5F16C0AD49E2}</a:tableStyleId>
              </a:tblPr>
              <a:tblGrid>
                <a:gridCol w="2615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5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114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 b="0" i="0" u="none" strike="noStrike" cap="none" spc="0" baseline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uFillTx/>
                          <a:latin typeface="+mj-lt"/>
                          <a:ea typeface="+mj-ea"/>
                          <a:cs typeface="+mj-cs"/>
                          <a:sym typeface="Helvetica Neue Light"/>
                        </a:rPr>
                        <a:t>Pro</a:t>
                      </a:r>
                    </a:p>
                  </a:txBody>
                  <a:tcPr marL="25400" marR="25400" marT="25400" marB="254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 b="0" i="0" u="none" strike="noStrike" cap="none" spc="0" baseline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uFillTx/>
                          <a:latin typeface="+mj-lt"/>
                          <a:ea typeface="+mj-ea"/>
                          <a:cs typeface="+mj-cs"/>
                          <a:sym typeface="Helvetica Neue Light"/>
                        </a:rPr>
                        <a:t>Cons</a:t>
                      </a:r>
                    </a:p>
                  </a:txBody>
                  <a:tcPr marL="25400" marR="25400" marT="25400" marB="25400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14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500">
                          <a:sym typeface="Helvetica Neue Light"/>
                        </a:rPr>
                        <a:t>Nothing to parse</a:t>
                      </a: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2500" dirty="0">
                          <a:sym typeface="Helvetica Neue Light"/>
                        </a:rPr>
                        <a:t>Hard to read and maintain</a:t>
                      </a:r>
                      <a:endParaRPr sz="2500" dirty="0"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14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2500" dirty="0">
                          <a:sym typeface="Helvetica Neue Light"/>
                        </a:rPr>
                        <a:t>Dynamic sizing</a:t>
                      </a:r>
                      <a:endParaRPr sz="2500" dirty="0"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2500" dirty="0">
                          <a:sym typeface="Helvetica Neue Light"/>
                        </a:rPr>
                        <a:t>Endianness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145">
                <a:tc>
                  <a:txBody>
                    <a:bodyPr/>
                    <a:lstStyle/>
                    <a:p>
                      <a:pPr algn="l">
                        <a:defRPr sz="2500">
                          <a:sym typeface="Helvetica Neue Light"/>
                        </a:defRPr>
                      </a:pPr>
                      <a:endParaRPr dirty="0"/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2500">
                          <a:sym typeface="Helvetica Neue Light"/>
                        </a:defRPr>
                      </a:pPr>
                      <a:r>
                        <a:rPr lang="en-US" sz="2500" dirty="0">
                          <a:sym typeface="Helvetica Neue Light"/>
                        </a:rPr>
                        <a:t>More brittle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5510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ending the file in response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Sending the </a:t>
            </a:r>
            <a:r>
              <a:rPr lang="en-US" dirty="0"/>
              <a:t>response</a:t>
            </a:r>
            <a:endParaRPr dirty="0"/>
          </a:p>
        </p:txBody>
      </p:sp>
      <p:sp>
        <p:nvSpPr>
          <p:cNvPr id="480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81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82" name="Quite simpl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typedef </a:t>
            </a:r>
            <a:r>
              <a:rPr lang="en-US" sz="2800" dirty="0" err="1">
                <a:latin typeface="Consolas" panose="020B0609020204030204" pitchFamily="49" charset="0"/>
              </a:rPr>
              <a:t>struct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ResponseHeader_tag</a:t>
            </a:r>
            <a:r>
              <a:rPr lang="en-US" sz="28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        int code;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        int length;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} </a:t>
            </a:r>
            <a:r>
              <a:rPr lang="en-US" sz="2800" dirty="0" err="1">
                <a:latin typeface="Consolas" panose="020B0609020204030204" pitchFamily="49" charset="0"/>
              </a:rPr>
              <a:t>ResponseHeader</a:t>
            </a:r>
            <a:r>
              <a:rPr lang="en-US" sz="2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code</a:t>
            </a:r>
            <a:r>
              <a:rPr lang="en-US" dirty="0"/>
              <a:t>: type of the payload: text message or file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length</a:t>
            </a:r>
            <a:r>
              <a:rPr lang="en-US" dirty="0"/>
              <a:t>: the number of bytes in the text message or file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payload is followed by </a:t>
            </a:r>
            <a:r>
              <a:rPr lang="en-US" dirty="0">
                <a:solidFill>
                  <a:schemeClr val="accent1"/>
                </a:solidFill>
              </a:rPr>
              <a:t>length</a:t>
            </a:r>
            <a:r>
              <a:rPr lang="en-US" dirty="0"/>
              <a:t> bytes of message or file contents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Remember the byte ordering of code and length!</a:t>
            </a:r>
            <a:endParaRPr sz="28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Recapping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return value</a:t>
            </a:r>
          </a:p>
          <a:p>
            <a:r>
              <a:rPr lang="en-US" dirty="0"/>
              <a:t>Validate input </a:t>
            </a:r>
          </a:p>
          <a:p>
            <a:r>
              <a:rPr lang="en-US" dirty="0"/>
              <a:t>Understand strings in C</a:t>
            </a:r>
          </a:p>
          <a:p>
            <a:pPr lvl="1"/>
            <a:r>
              <a:rPr lang="en-US" dirty="0"/>
              <a:t>Always </a:t>
            </a:r>
            <a:r>
              <a:rPr lang="en-US"/>
              <a:t>think about if </a:t>
            </a:r>
            <a:r>
              <a:rPr lang="en-US" dirty="0"/>
              <a:t>you have enough space for strings</a:t>
            </a:r>
          </a:p>
          <a:p>
            <a:pPr lvl="2"/>
            <a:r>
              <a:rPr lang="en-US" dirty="0" err="1"/>
              <a:t>strcpy</a:t>
            </a:r>
            <a:r>
              <a:rPr lang="en-US" dirty="0"/>
              <a:t>(), </a:t>
            </a:r>
            <a:r>
              <a:rPr lang="en-US" dirty="0" err="1"/>
              <a:t>strcat</a:t>
            </a:r>
            <a:r>
              <a:rPr lang="en-US" dirty="0"/>
              <a:t>(), 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013598"/>
              </p:ext>
            </p:extLst>
          </p:nvPr>
        </p:nvGraphicFramePr>
        <p:xfrm>
          <a:off x="1286086" y="6048375"/>
          <a:ext cx="11147214" cy="2376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7656">
                  <a:extLst>
                    <a:ext uri="{9D8B030D-6E8A-4147-A177-3AD203B41FA5}">
                      <a16:colId xmlns:a16="http://schemas.microsoft.com/office/drawing/2014/main" val="1396441111"/>
                    </a:ext>
                  </a:extLst>
                </a:gridCol>
                <a:gridCol w="6639558">
                  <a:extLst>
                    <a:ext uri="{9D8B030D-6E8A-4147-A177-3AD203B41FA5}">
                      <a16:colId xmlns:a16="http://schemas.microsoft.com/office/drawing/2014/main" val="2997062978"/>
                    </a:ext>
                  </a:extLst>
                </a:gridCol>
              </a:tblGrid>
              <a:tr h="594106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u="none" strike="noStrike" cap="none" spc="0" baseline="0" dirty="0">
                          <a:ln>
                            <a:noFill/>
                          </a:ln>
                          <a:solidFill>
                            <a:srgbClr val="941100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Don'ts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u="none" strike="noStrike" cap="none" spc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Do's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84474"/>
                  </a:ext>
                </a:extLst>
              </a:tr>
              <a:tr h="594106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9411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sym typeface="Helvetica Neue"/>
                        </a:rPr>
                        <a:t>scanf</a:t>
                      </a:r>
                      <a:r>
                        <a: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9411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sym typeface="Helvetica Neue"/>
                        </a:rPr>
                        <a:t>("%s", </a:t>
                      </a:r>
                      <a:r>
                        <a:rPr kumimoji="0" lang="en-US" sz="2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9411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sym typeface="Helvetica Neue"/>
                        </a:rPr>
                        <a:t>buf</a:t>
                      </a:r>
                      <a:r>
                        <a: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9411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sym typeface="Helvetica Neue"/>
                        </a:rPr>
                        <a:t>);</a:t>
                      </a:r>
                      <a:endParaRPr lang="en-US" sz="2400" b="0" i="0" u="none" strike="noStrike" cap="none" spc="0" baseline="0" dirty="0">
                        <a:ln>
                          <a:noFill/>
                        </a:ln>
                        <a:solidFill>
                          <a:srgbClr val="941100"/>
                        </a:solidFill>
                        <a:uFillTx/>
                        <a:latin typeface="Consolas" panose="020B0609020204030204" pitchFamily="49" charset="0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sym typeface="Helvetica Neue"/>
                        </a:rPr>
                        <a:t>scanf</a:t>
                      </a:r>
                      <a:r>
                        <a: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sym typeface="Helvetica Neue"/>
                        </a:rPr>
                        <a:t>("%10s", &amp;</a:t>
                      </a:r>
                      <a:r>
                        <a:rPr kumimoji="0" lang="en-US" sz="2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sym typeface="Helvetica Neue"/>
                        </a:rPr>
                        <a:t>buf</a:t>
                      </a:r>
                      <a:r>
                        <a: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sym typeface="Helvetica Neue"/>
                        </a:rPr>
                        <a:t>);</a:t>
                      </a:r>
                      <a:endParaRPr lang="en-US" sz="2400" b="0" i="0" u="none" strike="noStrike" cap="none" spc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uFillTx/>
                        <a:latin typeface="Consolas" panose="020B0609020204030204" pitchFamily="49" charset="0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660008"/>
                  </a:ext>
                </a:extLst>
              </a:tr>
              <a:tr h="594106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u="none" strike="noStrike" cap="none" spc="0" baseline="0" dirty="0">
                          <a:ln>
                            <a:noFill/>
                          </a:ln>
                          <a:solidFill>
                            <a:srgbClr val="941100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gets(</a:t>
                      </a:r>
                      <a:r>
                        <a:rPr lang="en-US" sz="2400" b="0" i="0" u="none" strike="noStrike" cap="none" spc="0" baseline="0" dirty="0" err="1">
                          <a:ln>
                            <a:noFill/>
                          </a:ln>
                          <a:solidFill>
                            <a:srgbClr val="941100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buf</a:t>
                      </a:r>
                      <a:r>
                        <a:rPr lang="en-US" sz="2400" b="0" i="0" u="none" strike="noStrike" cap="none" spc="0" baseline="0" dirty="0">
                          <a:ln>
                            <a:noFill/>
                          </a:ln>
                          <a:solidFill>
                            <a:srgbClr val="941100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u="none" strike="noStrike" cap="none" spc="0" baseline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fgets</a:t>
                      </a:r>
                      <a:r>
                        <a:rPr lang="en-US" sz="2400" b="0" i="0" u="none" strike="noStrike" cap="none" spc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(</a:t>
                      </a:r>
                      <a:r>
                        <a:rPr lang="en-US" sz="2400" b="0" i="0" u="none" strike="noStrike" cap="none" spc="0" baseline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buf</a:t>
                      </a:r>
                      <a:r>
                        <a:rPr lang="en-US" sz="2400" b="0" i="0" u="none" strike="noStrike" cap="none" spc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, BUF_SIZE, </a:t>
                      </a:r>
                      <a:r>
                        <a:rPr lang="en-US" sz="2400" b="0" i="0" u="none" strike="noStrike" cap="none" spc="0" baseline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stdin</a:t>
                      </a:r>
                      <a:r>
                        <a:rPr lang="en-US" sz="2400" b="0" i="0" u="none" strike="noStrike" cap="none" spc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09861"/>
                  </a:ext>
                </a:extLst>
              </a:tr>
              <a:tr h="594106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u="none" strike="noStrike" cap="none" spc="0" baseline="0" dirty="0">
                          <a:ln>
                            <a:noFill/>
                          </a:ln>
                          <a:solidFill>
                            <a:srgbClr val="941100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sprint(</a:t>
                      </a:r>
                      <a:r>
                        <a:rPr lang="en-US" sz="2400" b="0" i="0" u="none" strike="noStrike" cap="none" spc="0" baseline="0" dirty="0" err="1">
                          <a:ln>
                            <a:noFill/>
                          </a:ln>
                          <a:solidFill>
                            <a:srgbClr val="941100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buf</a:t>
                      </a:r>
                      <a:r>
                        <a:rPr lang="en-US" sz="2400" b="0" i="0" u="none" strike="noStrike" cap="none" spc="0" baseline="0" dirty="0">
                          <a:ln>
                            <a:noFill/>
                          </a:ln>
                          <a:solidFill>
                            <a:srgbClr val="941100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, "%s", s);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u="none" strike="noStrike" cap="none" spc="0" baseline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snprintf</a:t>
                      </a:r>
                      <a:r>
                        <a:rPr lang="en-US" sz="2400" b="0" i="0" u="none" strike="noStrike" cap="none" spc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(</a:t>
                      </a:r>
                      <a:r>
                        <a:rPr lang="en-US" sz="2400" b="0" i="0" u="none" strike="noStrike" cap="none" spc="0" baseline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buf</a:t>
                      </a:r>
                      <a:r>
                        <a:rPr lang="en-US" sz="2400" b="0" i="0" u="none" strike="noStrike" cap="none" spc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  <a:sym typeface="Helvetica Neue"/>
                        </a:rPr>
                        <a:t>, BUF_SIZE, "%s", s);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397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19089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3A40-D82D-45F9-B180-522D04722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Safer String Handling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A4C2DE-67F5-4899-B9DD-2EC6A47D7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manual for the storage requirement and NUL handling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C55E2C-9E91-4CD1-901F-53222650142C}"/>
              </a:ext>
            </a:extLst>
          </p:cNvPr>
          <p:cNvGraphicFramePr>
            <a:graphicFrameLocks noGrp="1"/>
          </p:cNvGraphicFramePr>
          <p:nvPr/>
        </p:nvGraphicFramePr>
        <p:xfrm>
          <a:off x="670339" y="3629584"/>
          <a:ext cx="11762961" cy="5793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8257">
                  <a:extLst>
                    <a:ext uri="{9D8B030D-6E8A-4147-A177-3AD203B41FA5}">
                      <a16:colId xmlns:a16="http://schemas.microsoft.com/office/drawing/2014/main" val="3846371585"/>
                    </a:ext>
                  </a:extLst>
                </a:gridCol>
                <a:gridCol w="7184704">
                  <a:extLst>
                    <a:ext uri="{9D8B030D-6E8A-4147-A177-3AD203B41FA5}">
                      <a16:colId xmlns:a16="http://schemas.microsoft.com/office/drawing/2014/main" val="3092256712"/>
                    </a:ext>
                  </a:extLst>
                </a:gridCol>
              </a:tblGrid>
              <a:tr h="827688">
                <a:tc>
                  <a:txBody>
                    <a:bodyPr/>
                    <a:lstStyle/>
                    <a:p>
                      <a:pPr algn="l"/>
                      <a:endParaRPr lang="en-US" sz="28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Consolas" panose="020B0609020204030204" pitchFamily="49" charset="0"/>
                        </a:rPr>
                        <a:t>Better?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471375"/>
                  </a:ext>
                </a:extLst>
              </a:tr>
              <a:tr h="827688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gets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buf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fgets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buf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buf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, stdin)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67806"/>
                  </a:ext>
                </a:extLst>
              </a:tr>
              <a:tr h="827688">
                <a:tc>
                  <a:txBody>
                    <a:bodyPr/>
                    <a:lstStyle/>
                    <a:p>
                      <a:pPr algn="l"/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strcpy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dst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src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strncpy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dst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src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, n) // missing NUL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893277"/>
                  </a:ext>
                </a:extLst>
              </a:tr>
              <a:tr h="827688">
                <a:tc>
                  <a:txBody>
                    <a:bodyPr/>
                    <a:lstStyle/>
                    <a:p>
                      <a:pPr algn="l"/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strcat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dst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src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strncat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dst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src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,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209199"/>
                  </a:ext>
                </a:extLst>
              </a:tr>
              <a:tr h="827688">
                <a:tc>
                  <a:txBody>
                    <a:bodyPr/>
                    <a:lstStyle/>
                    <a:p>
                      <a:pPr algn="l"/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strlen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strnlen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(s,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016367"/>
                  </a:ext>
                </a:extLst>
              </a:tr>
              <a:tr h="827688">
                <a:tc>
                  <a:txBody>
                    <a:bodyPr/>
                    <a:lstStyle/>
                    <a:p>
                      <a:pPr algn="l"/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("</a:t>
                      </a:r>
                      <a:r>
                        <a:rPr lang="en-US" sz="2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%s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", 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buf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("%10s", 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buf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694893"/>
                  </a:ext>
                </a:extLst>
              </a:tr>
              <a:tr h="827688">
                <a:tc>
                  <a:txBody>
                    <a:bodyPr/>
                    <a:lstStyle/>
                    <a:p>
                      <a:pPr algn="l"/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sprintf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buf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,"%s", 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snprintf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buf,sizeof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800" dirty="0" err="1">
                          <a:latin typeface="Consolas" panose="020B0609020204030204" pitchFamily="49" charset="0"/>
                        </a:rPr>
                        <a:t>buf</a:t>
                      </a:r>
                      <a:r>
                        <a:rPr lang="en-US" sz="2800" dirty="0">
                          <a:latin typeface="Consolas" panose="020B0609020204030204" pitchFamily="49" charset="0"/>
                        </a:rPr>
                        <a:t>),"%s", 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756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47951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0CA27-C69F-C5D2-FD48-F11CD812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49A3C2-CC03-1380-FD25-82FE59613B16}"/>
              </a:ext>
            </a:extLst>
          </p:cNvPr>
          <p:cNvSpPr txBox="1"/>
          <p:nvPr/>
        </p:nvSpPr>
        <p:spPr>
          <a:xfrm>
            <a:off x="3731664" y="1848910"/>
            <a:ext cx="9273136" cy="1939268"/>
          </a:xfrm>
          <a:prstGeom prst="rect">
            <a:avLst/>
          </a:prstGeom>
        </p:spPr>
        <p:txBody>
          <a:bodyPr vert="horz" lIns="97536" tIns="48768" rIns="97536" bIns="48768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40"/>
              </a:spcAft>
            </a:pPr>
            <a:r>
              <a:rPr lang="en-US" sz="2560" b="1" kern="1200" dirty="0">
                <a:solidFill>
                  <a:schemeClr val="tx1"/>
                </a:solidFill>
              </a:rPr>
              <a:t>SET</a:t>
            </a:r>
            <a:r>
              <a:rPr lang="en-US" sz="2560" kern="1200" dirty="0">
                <a:solidFill>
                  <a:schemeClr val="tx1"/>
                </a:solidFill>
              </a:rPr>
              <a:t>: </a:t>
            </a:r>
            <a:r>
              <a:rPr lang="en-US" sz="2560" dirty="0"/>
              <a:t>check email</a:t>
            </a:r>
            <a:endParaRPr lang="en-US" sz="2560" kern="1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40"/>
              </a:spcAft>
            </a:pPr>
            <a:r>
              <a:rPr lang="en-US" sz="2560" b="1" kern="1200" dirty="0">
                <a:solidFill>
                  <a:schemeClr val="tx1"/>
                </a:solidFill>
              </a:rPr>
              <a:t>Rate my professor: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40"/>
              </a:spcAft>
            </a:pPr>
            <a:r>
              <a:rPr lang="en-US" sz="2560" kern="1200" dirty="0">
                <a:solidFill>
                  <a:schemeClr val="tx1"/>
                </a:solidFill>
                <a:hlinkClick r:id="rId3"/>
              </a:rPr>
              <a:t>https://www.ratemyprofessors.com/professor/3044671</a:t>
            </a:r>
            <a:endParaRPr lang="en-US" sz="2560" kern="12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878D4-BD7C-1FB7-F4A9-B5D98D428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7666" y="3788178"/>
            <a:ext cx="6794785" cy="3215890"/>
          </a:xfrm>
        </p:spPr>
        <p:txBody>
          <a:bodyPr vert="horz" lIns="97536" tIns="48768" rIns="97536" bIns="48768" rtlCol="0" anchor="ctr">
            <a:normAutofit/>
          </a:bodyPr>
          <a:lstStyle/>
          <a:p>
            <a:r>
              <a:rPr lang="en-US" sz="2133" dirty="0"/>
              <a:t>SET helps instructors to improve their teaching and adapt to the needs of the students.</a:t>
            </a:r>
          </a:p>
          <a:p>
            <a:r>
              <a:rPr lang="en-US" sz="2133" dirty="0"/>
              <a:t>Your feedback matters and can make a difference in the quality of education for future students.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737A0-E1D4-F6F3-6936-5531803A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630" y="551543"/>
            <a:ext cx="9753600" cy="1297367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Course feedback! 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F0EDBC-05D1-54EB-2B76-6DF52CDAA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465" y="3788178"/>
            <a:ext cx="32512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476288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6D6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5624</TotalTime>
  <Words>1715</Words>
  <Application>Microsoft Macintosh PowerPoint</Application>
  <PresentationFormat>Custom</PresentationFormat>
  <Paragraphs>293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Consolas</vt:lpstr>
      <vt:lpstr>Helvetica</vt:lpstr>
      <vt:lpstr>Helvetica Neue</vt:lpstr>
      <vt:lpstr>Helvetica Neue Light</vt:lpstr>
      <vt:lpstr>Lucida Grande</vt:lpstr>
      <vt:lpstr>White</vt:lpstr>
      <vt:lpstr>(S3) Sockets Programming: Protocol</vt:lpstr>
      <vt:lpstr>Network Protocols</vt:lpstr>
      <vt:lpstr>Byte stream in sockets</vt:lpstr>
      <vt:lpstr>XML</vt:lpstr>
      <vt:lpstr>JSON</vt:lpstr>
      <vt:lpstr>JSON as XML</vt:lpstr>
      <vt:lpstr>Endianness</vt:lpstr>
      <vt:lpstr>Change byte ordering for 16-bit or 32-bit integers</vt:lpstr>
      <vt:lpstr>Sending a string</vt:lpstr>
      <vt:lpstr>Issues with structure: alignment and padding</vt:lpstr>
      <vt:lpstr>How about arrays?</vt:lpstr>
      <vt:lpstr>Example: SMTP(Simple Mail Transfer Protocol)</vt:lpstr>
      <vt:lpstr>Example: SMTP - 2</vt:lpstr>
      <vt:lpstr>Example: TFTP-style applications</vt:lpstr>
      <vt:lpstr>Commands</vt:lpstr>
      <vt:lpstr>Command Options: Text</vt:lpstr>
      <vt:lpstr>Command Options: Binary, fixed size</vt:lpstr>
      <vt:lpstr>Command Options: Dynamic size</vt:lpstr>
      <vt:lpstr>Sending the response</vt:lpstr>
      <vt:lpstr>Recapping</vt:lpstr>
      <vt:lpstr>Safer String Handling</vt:lpstr>
      <vt:lpstr>Course feedback!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Sockets Programming</dc:title>
  <dc:creator>zshi</dc:creator>
  <cp:lastModifiedBy>SWAMY NARAYAN JIGNAAS PATTIPATI</cp:lastModifiedBy>
  <cp:revision>593</cp:revision>
  <dcterms:modified xsi:type="dcterms:W3CDTF">2026-04-22T15:09:59Z</dcterms:modified>
</cp:coreProperties>
</file>