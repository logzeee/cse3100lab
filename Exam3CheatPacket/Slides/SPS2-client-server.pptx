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2"/>
  </p:notesMasterIdLst>
  <p:sldIdLst>
    <p:sldId id="256" r:id="rId2"/>
    <p:sldId id="320" r:id="rId3"/>
    <p:sldId id="274" r:id="rId4"/>
    <p:sldId id="275" r:id="rId5"/>
    <p:sldId id="327" r:id="rId6"/>
    <p:sldId id="313" r:id="rId7"/>
    <p:sldId id="311" r:id="rId8"/>
    <p:sldId id="321" r:id="rId9"/>
    <p:sldId id="322" r:id="rId10"/>
    <p:sldId id="316" r:id="rId11"/>
    <p:sldId id="317" r:id="rId12"/>
    <p:sldId id="328" r:id="rId13"/>
    <p:sldId id="318" r:id="rId14"/>
    <p:sldId id="324" r:id="rId15"/>
    <p:sldId id="277" r:id="rId16"/>
    <p:sldId id="325" r:id="rId17"/>
    <p:sldId id="326" r:id="rId18"/>
    <p:sldId id="282" r:id="rId19"/>
    <p:sldId id="329" r:id="rId20"/>
    <p:sldId id="281" r:id="rId21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1pPr>
    <a:lvl2pPr marL="0" marR="0" indent="2667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2pPr>
    <a:lvl3pPr marL="0" marR="0" indent="533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3pPr>
    <a:lvl4pPr marL="0" marR="0" indent="8001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4pPr>
    <a:lvl5pPr marL="0" marR="0" indent="1066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5pPr>
    <a:lvl6pPr marL="0" marR="0" indent="13335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6pPr>
    <a:lvl7pPr marL="0" marR="0" indent="16129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7pPr>
    <a:lvl8pPr marL="0" marR="0" indent="1879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8pPr>
    <a:lvl9pPr marL="0" marR="0" indent="21463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9pPr>
  </p:defaultTextStyle>
  <p:extLst>
    <p:ext uri="{EFAFB233-063F-42B5-8137-9DF3F51BA10A}">
      <p15:sldGuideLst xmlns:p15="http://schemas.microsoft.com/office/powerpoint/2012/main">
        <p15:guide id="1" orient="horz" pos="3072">
          <p15:clr>
            <a:srgbClr val="A4A3A4"/>
          </p15:clr>
        </p15:guide>
        <p15:guide id="2" pos="409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aifi" initials="m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8F44A2F1-9E1F-4B54-A3A2-5F16C0AD49E2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FF1F3"/>
          </a:solidFill>
        </a:fill>
      </a:tcStyle>
    </a:band2H>
    <a:firstCol>
      <a:tcTxStyle b="off" i="off">
        <a:fontRef idx="major">
          <a:srgbClr val="000000"/>
        </a:fontRef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CBCBCB"/>
          </a:solidFill>
        </a:fill>
      </a:tcStyle>
    </a:firstCol>
    <a:lastRow>
      <a:tcTxStyle b="off" i="off">
        <a:fontRef idx="major">
          <a:srgbClr val="000000"/>
        </a:fontRef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CBCBCB"/>
          </a:solidFill>
        </a:fill>
      </a:tcStyle>
    </a:lastRow>
    <a:firstRow>
      <a:tcTxStyle b="off" i="off">
        <a:fontRef idx="major">
          <a:srgbClr val="000000"/>
        </a:fontRef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CBCBCB"/>
          </a:solidFill>
        </a:fill>
      </a:tcStyle>
    </a:firstRow>
  </a:tblStyle>
  <a:tblStyle styleId="{C7B018BB-80A7-4F77-B60F-C8B233D01FF8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4C3C2611-4C71-4FC5-86AE-919BDF0F9419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3"/>
    <p:restoredTop sz="80526" autoAdjust="0"/>
  </p:normalViewPr>
  <p:slideViewPr>
    <p:cSldViewPr snapToGrid="0">
      <p:cViewPr varScale="1">
        <p:scale>
          <a:sx n="102" d="100"/>
          <a:sy n="102" d="100"/>
        </p:scale>
        <p:origin x="2512" y="192"/>
      </p:cViewPr>
      <p:guideLst>
        <p:guide orient="horz" pos="3072"/>
        <p:guide pos="40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20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06" name="Shape 20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14362225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584200" latinLnBrk="0">
      <a:defRPr sz="2000">
        <a:latin typeface="Lucida Grande"/>
        <a:ea typeface="Lucida Grande"/>
        <a:cs typeface="Lucida Grande"/>
        <a:sym typeface="Lucida Grande"/>
      </a:defRPr>
    </a:lvl1pPr>
    <a:lvl2pPr indent="228600" defTabSz="584200" latinLnBrk="0">
      <a:defRPr sz="2000">
        <a:latin typeface="Lucida Grande"/>
        <a:ea typeface="Lucida Grande"/>
        <a:cs typeface="Lucida Grande"/>
        <a:sym typeface="Lucida Grande"/>
      </a:defRPr>
    </a:lvl2pPr>
    <a:lvl3pPr indent="457200" defTabSz="584200" latinLnBrk="0">
      <a:defRPr sz="2000">
        <a:latin typeface="Lucida Grande"/>
        <a:ea typeface="Lucida Grande"/>
        <a:cs typeface="Lucida Grande"/>
        <a:sym typeface="Lucida Grande"/>
      </a:defRPr>
    </a:lvl3pPr>
    <a:lvl4pPr indent="685800" defTabSz="584200" latinLnBrk="0">
      <a:defRPr sz="2000">
        <a:latin typeface="Lucida Grande"/>
        <a:ea typeface="Lucida Grande"/>
        <a:cs typeface="Lucida Grande"/>
        <a:sym typeface="Lucida Grande"/>
      </a:defRPr>
    </a:lvl4pPr>
    <a:lvl5pPr indent="914400" defTabSz="584200" latinLnBrk="0">
      <a:defRPr sz="2000">
        <a:latin typeface="Lucida Grande"/>
        <a:ea typeface="Lucida Grande"/>
        <a:cs typeface="Lucida Grande"/>
        <a:sym typeface="Lucida Grande"/>
      </a:defRPr>
    </a:lvl5pPr>
    <a:lvl6pPr indent="1143000" defTabSz="584200" latinLnBrk="0">
      <a:defRPr sz="2000">
        <a:latin typeface="Lucida Grande"/>
        <a:ea typeface="Lucida Grande"/>
        <a:cs typeface="Lucida Grande"/>
        <a:sym typeface="Lucida Grande"/>
      </a:defRPr>
    </a:lvl6pPr>
    <a:lvl7pPr indent="1371600" defTabSz="584200" latinLnBrk="0">
      <a:defRPr sz="2000">
        <a:latin typeface="Lucida Grande"/>
        <a:ea typeface="Lucida Grande"/>
        <a:cs typeface="Lucida Grande"/>
        <a:sym typeface="Lucida Grande"/>
      </a:defRPr>
    </a:lvl7pPr>
    <a:lvl8pPr indent="1600200" defTabSz="584200" latinLnBrk="0">
      <a:defRPr sz="2000">
        <a:latin typeface="Lucida Grande"/>
        <a:ea typeface="Lucida Grande"/>
        <a:cs typeface="Lucida Grande"/>
        <a:sym typeface="Lucida Grande"/>
      </a:defRPr>
    </a:lvl8pPr>
    <a:lvl9pPr indent="1828800" defTabSz="584200" latinLnBrk="0">
      <a:defRPr sz="2000">
        <a:latin typeface="Lucida Grande"/>
        <a:ea typeface="Lucida Grande"/>
        <a:cs typeface="Lucida Grande"/>
        <a:sym typeface="Lucida Grand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584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Fundamentally active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44195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584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Conversation ends with client via a </a:t>
            </a:r>
            <a:r>
              <a:rPr lang="en-US" b="1" dirty="0">
                <a:solidFill>
                  <a:schemeClr val="accent6">
                    <a:satOff val="24555"/>
                    <a:lumOff val="22232"/>
                  </a:schemeClr>
                </a:solidFill>
              </a:rPr>
              <a:t>close</a:t>
            </a:r>
          </a:p>
          <a:p>
            <a:pPr marL="0" marR="0" lvl="0" indent="0" defTabSz="584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>
              <a:solidFill>
                <a:schemeClr val="accent6">
                  <a:satOff val="24555"/>
                  <a:lumOff val="22232"/>
                </a:schemeClr>
              </a:solidFill>
            </a:endParaRPr>
          </a:p>
          <a:p>
            <a:pPr>
              <a:spcBef>
                <a:spcPts val="900"/>
              </a:spcBef>
            </a:pPr>
            <a:r>
              <a:rPr lang="en-US" dirty="0"/>
              <a:t>UDP</a:t>
            </a:r>
          </a:p>
          <a:p>
            <a:pPr lvl="1">
              <a:spcBef>
                <a:spcPts val="900"/>
              </a:spcBef>
            </a:pPr>
            <a:r>
              <a:rPr lang="en-US" dirty="0"/>
              <a:t>Very similar but no </a:t>
            </a:r>
            <a:r>
              <a:rPr lang="en-US" b="1" dirty="0">
                <a:solidFill>
                  <a:schemeClr val="accent6">
                    <a:satOff val="24555"/>
                    <a:lumOff val="22232"/>
                  </a:schemeClr>
                </a:solidFill>
              </a:rPr>
              <a:t>accept</a:t>
            </a:r>
            <a:r>
              <a:rPr lang="en-US" dirty="0"/>
              <a:t>.</a:t>
            </a:r>
          </a:p>
          <a:p>
            <a:pPr marL="0" marR="0" lvl="0" indent="0" defTabSz="584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>
              <a:solidFill>
                <a:schemeClr val="accent6">
                  <a:satOff val="24555"/>
                  <a:lumOff val="22232"/>
                </a:schemeClr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3281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900"/>
              </a:spcBef>
            </a:pPr>
            <a:r>
              <a:rPr lang="en-US" dirty="0"/>
              <a:t>UDP</a:t>
            </a:r>
          </a:p>
          <a:p>
            <a:pPr lvl="1">
              <a:spcBef>
                <a:spcPts val="900"/>
              </a:spcBef>
            </a:pPr>
            <a:r>
              <a:rPr lang="en-US" dirty="0"/>
              <a:t>Very similar but no </a:t>
            </a:r>
            <a:r>
              <a:rPr lang="en-US" b="1" dirty="0">
                <a:solidFill>
                  <a:schemeClr val="accent6">
                    <a:satOff val="24555"/>
                    <a:lumOff val="22232"/>
                  </a:schemeClr>
                </a:solidFill>
              </a:rPr>
              <a:t>accept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09541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b="0" i="0" dirty="0">
                <a:effectLst/>
                <a:latin typeface="Lucida Grande"/>
                <a:ea typeface="Lucida Grande"/>
                <a:cs typeface="Lucida Grande"/>
                <a:sym typeface="Lucida Grande"/>
              </a:rPr>
              <a:t>For localhost only.</a:t>
            </a:r>
          </a:p>
          <a:p>
            <a:endParaRPr lang="en-US" sz="2000" b="0" i="0" dirty="0">
              <a:effectLst/>
              <a:latin typeface="Lucida Grande"/>
              <a:ea typeface="Lucida Grande"/>
              <a:cs typeface="Lucida Grande"/>
              <a:sym typeface="Lucida Grande"/>
            </a:endParaRPr>
          </a:p>
          <a:p>
            <a:r>
              <a:rPr lang="en-US" sz="2000" b="0" i="0" dirty="0">
                <a:effectLst/>
                <a:latin typeface="Lucida Grande"/>
                <a:ea typeface="Lucida Grande"/>
                <a:cs typeface="Lucida Grande"/>
                <a:sym typeface="Lucida Grande"/>
              </a:rPr>
              <a:t>.</a:t>
            </a:r>
            <a:r>
              <a:rPr lang="en-US" sz="2000" b="0" i="0" dirty="0" err="1">
                <a:effectLst/>
                <a:latin typeface="Lucida Grande"/>
                <a:ea typeface="Lucida Grande"/>
                <a:cs typeface="Lucida Grande"/>
                <a:sym typeface="Lucida Grande"/>
              </a:rPr>
              <a:t>sin_addr.s_addr</a:t>
            </a:r>
            <a:r>
              <a:rPr lang="en-US" sz="2000" b="0" i="0" dirty="0">
                <a:effectLst/>
                <a:latin typeface="Lucida Grande"/>
                <a:ea typeface="Lucida Grande"/>
                <a:cs typeface="Lucida Grande"/>
                <a:sym typeface="Lucida Grande"/>
              </a:rPr>
              <a:t> = </a:t>
            </a:r>
            <a:r>
              <a:rPr lang="en-US" sz="2000" b="0" i="0" dirty="0" err="1">
                <a:effectLst/>
                <a:latin typeface="Lucida Grande"/>
                <a:ea typeface="Lucida Grande"/>
                <a:cs typeface="Lucida Grande"/>
                <a:sym typeface="Lucida Grande"/>
              </a:rPr>
              <a:t>inet_addr</a:t>
            </a:r>
            <a:r>
              <a:rPr lang="en-US" sz="2000" b="0" i="0" dirty="0">
                <a:effectLst/>
                <a:latin typeface="Lucida Grande"/>
                <a:ea typeface="Lucida Grande"/>
                <a:cs typeface="Lucida Grande"/>
                <a:sym typeface="Lucida Grande"/>
              </a:rPr>
              <a:t>("127.0.0.1");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2342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2680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Overall</a:t>
            </a:r>
          </a:p>
          <a:p>
            <a:pPr lvl="1"/>
            <a:r>
              <a:rPr lang="en-US" dirty="0"/>
              <a:t>Trivial to adapt from ipv4 to ipv6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7772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0689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Line"/>
          <p:cNvSpPr/>
          <p:nvPr/>
        </p:nvSpPr>
        <p:spPr>
          <a:xfrm>
            <a:off x="647700" y="47498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14" name="Seal 3 SPOT281.jpg" descr="Seal 3 SPOT281.jpg"/>
          <p:cNvPicPr>
            <a:picLocks noChangeAspect="1"/>
          </p:cNvPicPr>
          <p:nvPr/>
        </p:nvPicPr>
        <p:blipFill>
          <a:blip r:embed="rId2"/>
          <a:srcRect l="3469" t="3249" r="3360" b="3533"/>
          <a:stretch>
            <a:fillRect/>
          </a:stretch>
        </p:blipFill>
        <p:spPr>
          <a:xfrm>
            <a:off x="12017002" y="166113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14"/>
                  <a:pt x="560" y="13813"/>
                </a:cubicBezTo>
                <a:cubicBezTo>
                  <a:pt x="1344" y="16446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7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571500" y="1320800"/>
            <a:ext cx="11861800" cy="3175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71500" y="5029200"/>
            <a:ext cx="11861800" cy="3175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2400">
                <a:solidFill>
                  <a:srgbClr val="747474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2400"/>
            </a:lvl2pPr>
            <a:lvl3pPr marL="0" indent="0">
              <a:spcBef>
                <a:spcPts val="0"/>
              </a:spcBef>
              <a:buSzTx/>
              <a:buNone/>
              <a:defRPr sz="2400"/>
            </a:lvl3pPr>
            <a:lvl4pPr marL="0" indent="0">
              <a:spcBef>
                <a:spcPts val="0"/>
              </a:spcBef>
              <a:buSzTx/>
              <a:buNone/>
              <a:defRPr sz="2400"/>
            </a:lvl4pPr>
            <a:lvl5pPr marL="0" indent="0">
              <a:spcBef>
                <a:spcPts val="0"/>
              </a:spcBef>
              <a:buSz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268200" y="9258300"/>
            <a:ext cx="258369" cy="249733"/>
          </a:xfrm>
          <a:prstGeom prst="rect">
            <a:avLst/>
          </a:prstGeom>
        </p:spPr>
        <p:txBody>
          <a:bodyPr/>
          <a:lstStyle>
            <a:lvl1pPr algn="l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5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4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35" name="Seal 3 SPOT281.jpg" descr="Seal 3 SPOT281.jpg"/>
          <p:cNvPicPr>
            <a:picLocks noChangeAspect="1"/>
          </p:cNvPicPr>
          <p:nvPr/>
        </p:nvPicPr>
        <p:blipFill>
          <a:blip r:embed="rId2"/>
          <a:srcRect l="3953" t="3727" r="4037" b="3957"/>
          <a:stretch>
            <a:fillRect/>
          </a:stretch>
        </p:blipFill>
        <p:spPr>
          <a:xfrm>
            <a:off x="11652633" y="843096"/>
            <a:ext cx="747854" cy="7503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2" h="21361" extrusionOk="0">
                <a:moveTo>
                  <a:pt x="11422" y="16"/>
                </a:moveTo>
                <a:cubicBezTo>
                  <a:pt x="7331" y="-203"/>
                  <a:pt x="3227" y="1854"/>
                  <a:pt x="1122" y="5835"/>
                </a:cubicBezTo>
                <a:cubicBezTo>
                  <a:pt x="406" y="7190"/>
                  <a:pt x="27" y="8923"/>
                  <a:pt x="2" y="10637"/>
                </a:cubicBezTo>
                <a:cubicBezTo>
                  <a:pt x="-23" y="12351"/>
                  <a:pt x="307" y="14046"/>
                  <a:pt x="985" y="15337"/>
                </a:cubicBezTo>
                <a:cubicBezTo>
                  <a:pt x="2583" y="18378"/>
                  <a:pt x="4999" y="20320"/>
                  <a:pt x="8244" y="21167"/>
                </a:cubicBezTo>
                <a:cubicBezTo>
                  <a:pt x="8700" y="21286"/>
                  <a:pt x="9272" y="21346"/>
                  <a:pt x="9902" y="21359"/>
                </a:cubicBezTo>
                <a:cubicBezTo>
                  <a:pt x="11791" y="21397"/>
                  <a:pt x="14195" y="20985"/>
                  <a:pt x="15560" y="20308"/>
                </a:cubicBezTo>
                <a:cubicBezTo>
                  <a:pt x="17837" y="19180"/>
                  <a:pt x="19258" y="17799"/>
                  <a:pt x="20453" y="15529"/>
                </a:cubicBezTo>
                <a:cubicBezTo>
                  <a:pt x="21226" y="14062"/>
                  <a:pt x="21577" y="12337"/>
                  <a:pt x="21539" y="10603"/>
                </a:cubicBezTo>
                <a:cubicBezTo>
                  <a:pt x="21476" y="7712"/>
                  <a:pt x="20339" y="4789"/>
                  <a:pt x="18327" y="2942"/>
                </a:cubicBezTo>
                <a:cubicBezTo>
                  <a:pt x="16323" y="1103"/>
                  <a:pt x="13877" y="148"/>
                  <a:pt x="11422" y="16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6" name="Body Level One…"/>
          <p:cNvSpPr txBox="1">
            <a:spLocks noGrp="1"/>
          </p:cNvSpPr>
          <p:nvPr>
            <p:ph type="body" idx="1"/>
          </p:nvPr>
        </p:nvSpPr>
        <p:spPr>
          <a:xfrm>
            <a:off x="571500" y="2324100"/>
            <a:ext cx="11709400" cy="6565900"/>
          </a:xfrm>
          <a:prstGeom prst="rect">
            <a:avLst/>
          </a:prstGeom>
        </p:spPr>
        <p:txBody>
          <a:bodyPr numCol="2" spcCol="585470"/>
          <a:lstStyle>
            <a:lvl1pPr>
              <a:spcBef>
                <a:spcPts val="4900"/>
              </a:spcBef>
              <a:defRPr sz="2400">
                <a:solidFill>
                  <a:srgbClr val="747474"/>
                </a:solidFill>
              </a:defRPr>
            </a:lvl1pPr>
            <a:lvl2pPr>
              <a:spcBef>
                <a:spcPts val="4900"/>
              </a:spcBef>
              <a:defRPr sz="2400"/>
            </a:lvl2pPr>
            <a:lvl3pPr>
              <a:spcBef>
                <a:spcPts val="4900"/>
              </a:spcBef>
              <a:defRPr sz="2400"/>
            </a:lvl3pPr>
            <a:lvl4pPr>
              <a:spcBef>
                <a:spcPts val="4900"/>
              </a:spcBef>
              <a:defRPr sz="2400"/>
            </a:lvl4pPr>
            <a:lvl5pPr>
              <a:spcBef>
                <a:spcPts val="4900"/>
              </a:spcBef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Seal 3 SPOT281.jpg" descr="Seal 3 SPOT2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0" y="812800"/>
            <a:ext cx="812800" cy="812800"/>
          </a:xfrm>
          <a:prstGeom prst="rect">
            <a:avLst/>
          </a:prstGeom>
          <a:ln w="12700">
            <a:miter lim="400000"/>
          </a:ln>
        </p:spPr>
      </p:pic>
      <p:sp>
        <p:nvSpPr>
          <p:cNvPr id="45" name="Body Level One…"/>
          <p:cNvSpPr txBox="1">
            <a:spLocks noGrp="1"/>
          </p:cNvSpPr>
          <p:nvPr>
            <p:ph type="body" idx="1"/>
          </p:nvPr>
        </p:nvSpPr>
        <p:spPr>
          <a:xfrm>
            <a:off x="571500" y="863600"/>
            <a:ext cx="11861800" cy="8026400"/>
          </a:xfrm>
          <a:prstGeom prst="rect">
            <a:avLst/>
          </a:prstGeom>
        </p:spPr>
        <p:txBody>
          <a:bodyPr/>
          <a:lstStyle>
            <a:lvl1pPr>
              <a:spcBef>
                <a:spcPts val="7200"/>
              </a:spcBef>
              <a:defRPr sz="2400">
                <a:solidFill>
                  <a:srgbClr val="747474"/>
                </a:solidFill>
              </a:defRPr>
            </a:lvl1pPr>
            <a:lvl2pPr>
              <a:spcBef>
                <a:spcPts val="7200"/>
              </a:spcBef>
              <a:defRPr sz="2400"/>
            </a:lvl2pPr>
            <a:lvl3pPr>
              <a:spcBef>
                <a:spcPts val="7200"/>
              </a:spcBef>
              <a:defRPr sz="2400"/>
            </a:lvl3pPr>
            <a:lvl4pPr>
              <a:spcBef>
                <a:spcPts val="7200"/>
              </a:spcBef>
              <a:defRPr sz="2400"/>
            </a:lvl4pPr>
            <a:lvl5pPr>
              <a:spcBef>
                <a:spcPts val="7200"/>
              </a:spcBef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Seal 3 SPOT281.jpg" descr="Seal 3 SPOT2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0" y="812800"/>
            <a:ext cx="812800" cy="812800"/>
          </a:xfrm>
          <a:prstGeom prst="rect">
            <a:avLst/>
          </a:prstGeom>
          <a:ln w="12700">
            <a:miter lim="400000"/>
          </a:ln>
        </p:spPr>
      </p:pic>
      <p:sp>
        <p:nvSpPr>
          <p:cNvPr id="5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62" name="Seal 3 SPOT281.jpg" descr="Seal 3 SPOT2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0" y="812800"/>
            <a:ext cx="812800" cy="812800"/>
          </a:xfrm>
          <a:prstGeom prst="rect">
            <a:avLst/>
          </a:prstGeom>
          <a:ln w="12700">
            <a:miter lim="400000"/>
          </a:ln>
        </p:spPr>
      </p:pic>
      <p:sp>
        <p:nvSpPr>
          <p:cNvPr id="6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le Text"/>
          <p:cNvSpPr txBox="1">
            <a:spLocks noGrp="1"/>
          </p:cNvSpPr>
          <p:nvPr>
            <p:ph type="title"/>
          </p:nvPr>
        </p:nvSpPr>
        <p:spPr>
          <a:xfrm>
            <a:off x="571500" y="3708400"/>
            <a:ext cx="11861800" cy="2336800"/>
          </a:xfrm>
          <a:prstGeom prst="rect">
            <a:avLst/>
          </a:prstGeom>
        </p:spPr>
        <p:txBody>
          <a:bodyPr anchor="ctr"/>
          <a:lstStyle/>
          <a:p>
            <a:r>
              <a:t>Title Text</a:t>
            </a:r>
          </a:p>
        </p:txBody>
      </p:sp>
      <p:sp>
        <p:nvSpPr>
          <p:cNvPr id="7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268200" y="9258300"/>
            <a:ext cx="258369" cy="249733"/>
          </a:xfrm>
          <a:prstGeom prst="rect">
            <a:avLst/>
          </a:prstGeom>
        </p:spPr>
        <p:txBody>
          <a:bodyPr/>
          <a:lstStyle>
            <a:lvl1pPr algn="l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Horizontal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ModernPortfolio_photo-h-2.pdf" descr="ModernPortfolio_photo-h-2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80" name="Line"/>
          <p:cNvSpPr/>
          <p:nvPr/>
        </p:nvSpPr>
        <p:spPr>
          <a:xfrm>
            <a:off x="7543800" y="7975599"/>
            <a:ext cx="1" cy="1422529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81" name="Title Text"/>
          <p:cNvSpPr txBox="1">
            <a:spLocks noGrp="1"/>
          </p:cNvSpPr>
          <p:nvPr>
            <p:ph type="title"/>
          </p:nvPr>
        </p:nvSpPr>
        <p:spPr>
          <a:xfrm>
            <a:off x="1409700" y="7785100"/>
            <a:ext cx="5791200" cy="1701800"/>
          </a:xfrm>
          <a:prstGeom prst="rect">
            <a:avLst/>
          </a:prstGeom>
        </p:spPr>
        <p:txBody>
          <a:bodyPr anchor="ctr"/>
          <a:lstStyle>
            <a:lvl1pPr algn="r"/>
          </a:lstStyle>
          <a:p>
            <a:r>
              <a:t>Title Text</a:t>
            </a:r>
          </a:p>
        </p:txBody>
      </p:sp>
      <p:sp>
        <p:nvSpPr>
          <p:cNvPr id="8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848600" y="8470900"/>
            <a:ext cx="4953000" cy="508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2400">
                <a:solidFill>
                  <a:srgbClr val="A9A9A9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2400">
                <a:solidFill>
                  <a:srgbClr val="A9A9A9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2400">
                <a:solidFill>
                  <a:srgbClr val="A9A9A9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2400">
                <a:solidFill>
                  <a:srgbClr val="A9A9A9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2400">
                <a:solidFill>
                  <a:srgbClr val="A9A9A9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Vertical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ModernPortfolio_photo-v-1.pdf" descr="ModernPortfolio_photo-v-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Line"/>
          <p:cNvSpPr/>
          <p:nvPr/>
        </p:nvSpPr>
        <p:spPr>
          <a:xfrm>
            <a:off x="647700" y="4749800"/>
            <a:ext cx="4882122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92" name="Title Text"/>
          <p:cNvSpPr txBox="1">
            <a:spLocks noGrp="1"/>
          </p:cNvSpPr>
          <p:nvPr>
            <p:ph type="title"/>
          </p:nvPr>
        </p:nvSpPr>
        <p:spPr>
          <a:xfrm>
            <a:off x="571500" y="1320800"/>
            <a:ext cx="5092700" cy="3175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9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571500" y="5029200"/>
            <a:ext cx="5092700" cy="3175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2400">
                <a:solidFill>
                  <a:srgbClr val="747474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2400"/>
            </a:lvl2pPr>
            <a:lvl3pPr marL="0" indent="0">
              <a:spcBef>
                <a:spcPts val="0"/>
              </a:spcBef>
              <a:buSzTx/>
              <a:buNone/>
              <a:defRPr sz="2400"/>
            </a:lvl3pPr>
            <a:lvl4pPr marL="0" indent="0">
              <a:spcBef>
                <a:spcPts val="0"/>
              </a:spcBef>
              <a:buSzTx/>
              <a:buNone/>
              <a:defRPr sz="2400"/>
            </a:lvl4pPr>
            <a:lvl5pPr marL="0" indent="0">
              <a:spcBef>
                <a:spcPts val="0"/>
              </a:spcBef>
              <a:buSz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08000" y="9258300"/>
            <a:ext cx="258369" cy="249733"/>
          </a:xfrm>
          <a:prstGeom prst="rect">
            <a:avLst/>
          </a:prstGeom>
        </p:spPr>
        <p:txBody>
          <a:bodyPr/>
          <a:lstStyle>
            <a:lvl1pPr algn="l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Bullets &amp; Photo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ModernPortfolio_photo-v-1.pdf" descr="ModernPortfolio_photo-v-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02" name="Line"/>
          <p:cNvSpPr/>
          <p:nvPr/>
        </p:nvSpPr>
        <p:spPr>
          <a:xfrm>
            <a:off x="647700" y="1968500"/>
            <a:ext cx="48768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03" name="Title Text"/>
          <p:cNvSpPr txBox="1">
            <a:spLocks noGrp="1"/>
          </p:cNvSpPr>
          <p:nvPr>
            <p:ph type="title"/>
          </p:nvPr>
        </p:nvSpPr>
        <p:spPr>
          <a:xfrm>
            <a:off x="571500" y="330200"/>
            <a:ext cx="5092700" cy="1397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04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71500" y="2324100"/>
            <a:ext cx="5092700" cy="6565900"/>
          </a:xfrm>
          <a:prstGeom prst="rect">
            <a:avLst/>
          </a:prstGeom>
        </p:spPr>
        <p:txBody>
          <a:bodyPr/>
          <a:lstStyle>
            <a:lvl1pPr>
              <a:spcBef>
                <a:spcPts val="4900"/>
              </a:spcBef>
              <a:defRPr sz="2400">
                <a:solidFill>
                  <a:srgbClr val="747474"/>
                </a:solidFill>
              </a:defRPr>
            </a:lvl1pPr>
            <a:lvl2pPr>
              <a:spcBef>
                <a:spcPts val="4900"/>
              </a:spcBef>
              <a:defRPr sz="2400"/>
            </a:lvl2pPr>
            <a:lvl3pPr>
              <a:spcBef>
                <a:spcPts val="4900"/>
              </a:spcBef>
              <a:defRPr sz="2400"/>
            </a:lvl3pPr>
            <a:lvl4pPr>
              <a:spcBef>
                <a:spcPts val="4900"/>
              </a:spcBef>
              <a:defRPr sz="2400"/>
            </a:lvl4pPr>
            <a:lvl5pPr>
              <a:spcBef>
                <a:spcPts val="4900"/>
              </a:spcBef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10743" y="9258300"/>
            <a:ext cx="258370" cy="249733"/>
          </a:xfrm>
          <a:prstGeom prst="rect">
            <a:avLst/>
          </a:prstGeom>
        </p:spPr>
        <p:txBody>
          <a:bodyPr/>
          <a:lstStyle>
            <a:lvl1pPr algn="l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2 Up Landscape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ModernPortfolio_2-up-h.pdf" descr="ModernPortfolio_2-up-h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1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44500" y="8813800"/>
            <a:ext cx="8255000" cy="812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2 Up Portrait &amp; Landscape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ModernPortfolio_2-up-vh.pdf" descr="ModernPortfolio_2-up-vh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44500" y="8813800"/>
            <a:ext cx="8255000" cy="812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2 Up Portrait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ModernPortfolio_2-up-v-2.pdf" descr="ModernPortfolio_2-up-v-2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3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44500" y="8813800"/>
            <a:ext cx="8255000" cy="812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3 Up Portrait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ModernPortfolio_3-up-v-2.pdf" descr="ModernPortfolio_3-up-v-2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44500" y="8813800"/>
            <a:ext cx="8255000" cy="812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Big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ModernPortfolio_photo-big-2.pdf" descr="ModernPortfolio_photo-big-2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4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44500" y="8813800"/>
            <a:ext cx="8255000" cy="812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3 Up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ModernPortfolio_3-up.pdf" descr="ModernPortfolio_3-up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5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44500" y="8813800"/>
            <a:ext cx="8255000" cy="812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4 Up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ModernPortfolio_4-up-2.pdf" descr="ModernPortfolio_4-up-2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6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44500" y="8813800"/>
            <a:ext cx="8255000" cy="812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-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7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7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71500" y="2324100"/>
            <a:ext cx="5092700" cy="6565900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2400"/>
            </a:lvl1pPr>
            <a:lvl2pPr>
              <a:spcBef>
                <a:spcPts val="1000"/>
              </a:spcBef>
              <a:defRPr sz="2400">
                <a:solidFill>
                  <a:srgbClr val="941100"/>
                </a:solidFill>
              </a:defRPr>
            </a:lvl2pPr>
            <a:lvl3pPr>
              <a:spcBef>
                <a:spcPts val="1000"/>
              </a:spcBef>
              <a:defRPr sz="2400">
                <a:solidFill>
                  <a:srgbClr val="941100"/>
                </a:solidFill>
              </a:defRPr>
            </a:lvl3pPr>
            <a:lvl4pPr>
              <a:spcBef>
                <a:spcPts val="1000"/>
              </a:spcBef>
              <a:defRPr sz="2400">
                <a:solidFill>
                  <a:srgbClr val="941100"/>
                </a:solidFill>
              </a:defRPr>
            </a:lvl4pPr>
            <a:lvl5pPr>
              <a:spcBef>
                <a:spcPts val="1000"/>
              </a:spcBef>
              <a:defRPr sz="2400">
                <a:solidFill>
                  <a:srgbClr val="9411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-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8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8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69300" y="2324100"/>
            <a:ext cx="4064000" cy="6565900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2400"/>
            </a:lvl1pPr>
            <a:lvl2pPr>
              <a:spcBef>
                <a:spcPts val="1000"/>
              </a:spcBef>
              <a:defRPr sz="2400">
                <a:solidFill>
                  <a:srgbClr val="941100"/>
                </a:solidFill>
              </a:defRPr>
            </a:lvl2pPr>
            <a:lvl3pPr marL="901700">
              <a:spcBef>
                <a:spcPts val="1000"/>
              </a:spcBef>
              <a:defRPr sz="2400">
                <a:solidFill>
                  <a:srgbClr val="941100"/>
                </a:solidFill>
              </a:defRPr>
            </a:lvl3pPr>
            <a:lvl4pPr>
              <a:spcBef>
                <a:spcPts val="1000"/>
              </a:spcBef>
              <a:defRPr sz="2400">
                <a:solidFill>
                  <a:srgbClr val="941100"/>
                </a:solidFill>
              </a:defRPr>
            </a:lvl4pPr>
            <a:lvl5pPr>
              <a:spcBef>
                <a:spcPts val="1000"/>
              </a:spcBef>
              <a:defRPr sz="2400">
                <a:solidFill>
                  <a:srgbClr val="9411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96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197" name="Seal 3 SPOT281.jpg" descr="Seal 3 SPOT281.jpg"/>
          <p:cNvPicPr>
            <a:picLocks noChangeAspect="1"/>
          </p:cNvPicPr>
          <p:nvPr/>
        </p:nvPicPr>
        <p:blipFill>
          <a:blip r:embed="rId2"/>
          <a:srcRect l="4069" t="4341" r="4032" b="3948"/>
          <a:stretch>
            <a:fillRect/>
          </a:stretch>
        </p:blipFill>
        <p:spPr>
          <a:xfrm>
            <a:off x="11653573" y="848089"/>
            <a:ext cx="746954" cy="7454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0" h="21564" extrusionOk="0">
                <a:moveTo>
                  <a:pt x="10791" y="0"/>
                </a:moveTo>
                <a:cubicBezTo>
                  <a:pt x="6286" y="0"/>
                  <a:pt x="3129" y="1889"/>
                  <a:pt x="1079" y="5832"/>
                </a:cubicBezTo>
                <a:cubicBezTo>
                  <a:pt x="380" y="7176"/>
                  <a:pt x="22" y="8927"/>
                  <a:pt x="1" y="10666"/>
                </a:cubicBezTo>
                <a:cubicBezTo>
                  <a:pt x="-20" y="12405"/>
                  <a:pt x="298" y="14141"/>
                  <a:pt x="964" y="15442"/>
                </a:cubicBezTo>
                <a:cubicBezTo>
                  <a:pt x="2541" y="18521"/>
                  <a:pt x="4983" y="20504"/>
                  <a:pt x="8245" y="21366"/>
                </a:cubicBezTo>
                <a:cubicBezTo>
                  <a:pt x="8703" y="21487"/>
                  <a:pt x="9276" y="21548"/>
                  <a:pt x="9908" y="21561"/>
                </a:cubicBezTo>
                <a:cubicBezTo>
                  <a:pt x="11802" y="21600"/>
                  <a:pt x="14214" y="21181"/>
                  <a:pt x="15583" y="20494"/>
                </a:cubicBezTo>
                <a:cubicBezTo>
                  <a:pt x="17867" y="19348"/>
                  <a:pt x="19292" y="17944"/>
                  <a:pt x="20491" y="15637"/>
                </a:cubicBezTo>
                <a:cubicBezTo>
                  <a:pt x="21218" y="14239"/>
                  <a:pt x="21580" y="12485"/>
                  <a:pt x="21580" y="10735"/>
                </a:cubicBezTo>
                <a:cubicBezTo>
                  <a:pt x="21580" y="8985"/>
                  <a:pt x="21218" y="7231"/>
                  <a:pt x="20491" y="5832"/>
                </a:cubicBezTo>
                <a:cubicBezTo>
                  <a:pt x="18441" y="1889"/>
                  <a:pt x="15295" y="0"/>
                  <a:pt x="10791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198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2400"/>
            </a:lvl1pPr>
            <a:lvl2pPr>
              <a:spcBef>
                <a:spcPts val="1000"/>
              </a:spcBef>
              <a:defRPr sz="2400"/>
            </a:lvl2pPr>
            <a:lvl3pPr marL="901700">
              <a:spcBef>
                <a:spcPts val="1000"/>
              </a:spcBef>
              <a:defRPr sz="2400"/>
            </a:lvl3pPr>
            <a:lvl4pPr marL="1244600">
              <a:spcBef>
                <a:spcPts val="1000"/>
              </a:spcBef>
              <a:defRPr sz="2400"/>
            </a:lvl4pPr>
            <a:lvl5pPr marL="1587500">
              <a:spcBef>
                <a:spcPts val="1000"/>
              </a:spcBef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571500" y="330200"/>
            <a:ext cx="11861800" cy="139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8100" tIns="38100" rIns="38100" bIns="38100" anchor="b"/>
          <a:lstStyle/>
          <a:p>
            <a:r>
              <a:t>Title Text</a:t>
            </a:r>
          </a:p>
        </p:txBody>
      </p:sp>
      <p:sp>
        <p:nvSpPr>
          <p:cNvPr id="3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4" name="Seal 3 SPOT281.jpg" descr="Seal 3 SPOT281.jpg"/>
          <p:cNvPicPr>
            <a:picLocks noChangeAspect="1"/>
          </p:cNvPicPr>
          <p:nvPr/>
        </p:nvPicPr>
        <p:blipFill>
          <a:blip r:embed="rId2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5" name="Body Level One…"/>
          <p:cNvSpPr txBox="1">
            <a:spLocks noGrp="1"/>
          </p:cNvSpPr>
          <p:nvPr>
            <p:ph type="body" idx="1"/>
          </p:nvPr>
        </p:nvSpPr>
        <p:spPr>
          <a:xfrm>
            <a:off x="571500" y="2324100"/>
            <a:ext cx="11861800" cy="6565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8100" tIns="38100" rIns="38100" bIns="38100"/>
          <a:lstStyle>
            <a:lvl2pPr>
              <a:defRPr>
                <a:solidFill>
                  <a:srgbClr val="747474"/>
                </a:solidFill>
              </a:defRPr>
            </a:lvl2pPr>
            <a:lvl3pPr>
              <a:defRPr>
                <a:solidFill>
                  <a:srgbClr val="747474"/>
                </a:solidFill>
              </a:defRPr>
            </a:lvl3pPr>
            <a:lvl4pPr>
              <a:defRPr>
                <a:solidFill>
                  <a:srgbClr val="747474"/>
                </a:solidFill>
              </a:defRPr>
            </a:lvl4pPr>
            <a:lvl5pPr>
              <a:defRPr>
                <a:solidFill>
                  <a:srgbClr val="747474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171679" y="9131300"/>
            <a:ext cx="286615" cy="274422"/>
          </a:xfrm>
          <a:prstGeom prst="rect">
            <a:avLst/>
          </a:prstGeom>
          <a:ln w="12700">
            <a:miter lim="400000"/>
          </a:ln>
        </p:spPr>
        <p:txBody>
          <a:bodyPr wrap="none" lIns="38100" tIns="38100" rIns="38100" bIns="38100">
            <a:spAutoFit/>
          </a:bodyPr>
          <a:lstStyle>
            <a:lvl1pPr algn="r">
              <a:defRPr sz="14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transition spd="med"/>
  <p:hf hdr="0" ftr="0" dt="0"/>
  <p:txStyles>
    <p:titleStyle>
      <a:lvl1pPr marL="0" marR="0" indent="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1pPr>
      <a:lvl2pPr marL="0" marR="0" indent="2286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2pPr>
      <a:lvl3pPr marL="0" marR="0" indent="4572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3pPr>
      <a:lvl4pPr marL="0" marR="0" indent="6858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4pPr>
      <a:lvl5pPr marL="0" marR="0" indent="9144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5pPr>
      <a:lvl6pPr marL="0" marR="0" indent="11430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6pPr>
      <a:lvl7pPr marL="0" marR="0" indent="13716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7pPr>
      <a:lvl8pPr marL="0" marR="0" indent="16002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8pPr>
      <a:lvl9pPr marL="0" marR="0" indent="18288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9pPr>
    </p:titleStyle>
    <p:bodyStyle>
      <a:lvl1pPr marL="2032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1pPr>
      <a:lvl2pPr marL="5461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2pPr>
      <a:lvl3pPr marL="8890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3pPr>
      <a:lvl4pPr marL="12319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4pPr>
      <a:lvl5pPr marL="15748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5pPr>
      <a:lvl6pPr marL="19177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6pPr>
      <a:lvl7pPr marL="22606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7pPr>
      <a:lvl8pPr marL="26035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8pPr>
      <a:lvl9pPr marL="29464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2286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4572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6858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9144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11430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3716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6002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8288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Line"/>
          <p:cNvSpPr/>
          <p:nvPr/>
        </p:nvSpPr>
        <p:spPr>
          <a:xfrm>
            <a:off x="647700" y="47498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209" name="Seal 3 SPOT281.jpg" descr="Seal 3 SPOT281.jpg"/>
          <p:cNvPicPr>
            <a:picLocks noChangeAspect="1"/>
          </p:cNvPicPr>
          <p:nvPr/>
        </p:nvPicPr>
        <p:blipFill>
          <a:blip r:embed="rId2"/>
          <a:srcRect l="3469" t="3249" r="3360" b="3533"/>
          <a:stretch>
            <a:fillRect/>
          </a:stretch>
        </p:blipFill>
        <p:spPr>
          <a:xfrm>
            <a:off x="12017002" y="166113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14"/>
                  <a:pt x="560" y="13813"/>
                </a:cubicBezTo>
                <a:cubicBezTo>
                  <a:pt x="1344" y="16446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7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210" name="Sockets Programming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(S2) </a:t>
            </a:r>
            <a:r>
              <a:rPr dirty="0"/>
              <a:t>Sockets Programming</a:t>
            </a:r>
            <a:r>
              <a:rPr lang="en-US" dirty="0"/>
              <a:t>: Client and Server</a:t>
            </a:r>
            <a:endParaRPr dirty="0"/>
          </a:p>
        </p:txBody>
      </p:sp>
      <p:sp>
        <p:nvSpPr>
          <p:cNvPr id="211" name="Ion Mandoiu…"/>
          <p:cNvSpPr txBox="1">
            <a:spLocks noGrp="1"/>
          </p:cNvSpPr>
          <p:nvPr>
            <p:ph type="subTitle" sz="half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Ion </a:t>
            </a:r>
            <a:r>
              <a:rPr dirty="0" err="1"/>
              <a:t>Mandoiu</a:t>
            </a:r>
            <a:endParaRPr dirty="0"/>
          </a:p>
          <a:p>
            <a:r>
              <a:rPr dirty="0"/>
              <a:t>Laurent Michel</a:t>
            </a:r>
            <a:endParaRPr lang="en-US" dirty="0"/>
          </a:p>
          <a:p>
            <a:r>
              <a:rPr lang="en-US" dirty="0"/>
              <a:t>Revised by M. Khan, J. Shi and W. </a:t>
            </a:r>
            <a:r>
              <a:rPr lang="en-US"/>
              <a:t>Wei</a:t>
            </a:r>
            <a:endParaRPr lang="en-US" dirty="0"/>
          </a:p>
          <a:p>
            <a:endParaRPr dirty="0"/>
          </a:p>
        </p:txBody>
      </p:sp>
      <p:pic>
        <p:nvPicPr>
          <p:cNvPr id="212" name="Image" descr="Image"/>
          <p:cNvPicPr>
            <a:picLocks noChangeAspect="1"/>
          </p:cNvPicPr>
          <p:nvPr/>
        </p:nvPicPr>
        <p:blipFill>
          <a:blip r:embed="rId3"/>
          <a:srcRect l="21856" t="7266" r="18812" b="6749"/>
          <a:stretch>
            <a:fillRect/>
          </a:stretch>
        </p:blipFill>
        <p:spPr>
          <a:xfrm>
            <a:off x="7943195" y="5488799"/>
            <a:ext cx="3677101" cy="36691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9" h="21597" extrusionOk="0">
                <a:moveTo>
                  <a:pt x="10809" y="0"/>
                </a:moveTo>
                <a:cubicBezTo>
                  <a:pt x="9508" y="-1"/>
                  <a:pt x="9254" y="24"/>
                  <a:pt x="8398" y="243"/>
                </a:cubicBezTo>
                <a:cubicBezTo>
                  <a:pt x="6709" y="676"/>
                  <a:pt x="5526" y="1266"/>
                  <a:pt x="4048" y="2413"/>
                </a:cubicBezTo>
                <a:cubicBezTo>
                  <a:pt x="1511" y="4383"/>
                  <a:pt x="-12" y="7596"/>
                  <a:pt x="0" y="10772"/>
                </a:cubicBezTo>
                <a:cubicBezTo>
                  <a:pt x="2" y="11226"/>
                  <a:pt x="34" y="11681"/>
                  <a:pt x="100" y="12129"/>
                </a:cubicBezTo>
                <a:cubicBezTo>
                  <a:pt x="303" y="13513"/>
                  <a:pt x="604" y="14506"/>
                  <a:pt x="1164" y="15643"/>
                </a:cubicBezTo>
                <a:cubicBezTo>
                  <a:pt x="2463" y="18276"/>
                  <a:pt x="4647" y="20145"/>
                  <a:pt x="7560" y="21114"/>
                </a:cubicBezTo>
                <a:cubicBezTo>
                  <a:pt x="7904" y="21229"/>
                  <a:pt x="8571" y="21375"/>
                  <a:pt x="9575" y="21558"/>
                </a:cubicBezTo>
                <a:cubicBezTo>
                  <a:pt x="9719" y="21584"/>
                  <a:pt x="9967" y="21597"/>
                  <a:pt x="10269" y="21598"/>
                </a:cubicBezTo>
                <a:cubicBezTo>
                  <a:pt x="11174" y="21599"/>
                  <a:pt x="12571" y="21496"/>
                  <a:pt x="13152" y="21362"/>
                </a:cubicBezTo>
                <a:cubicBezTo>
                  <a:pt x="16431" y="20601"/>
                  <a:pt x="19089" y="18499"/>
                  <a:pt x="20495" y="15556"/>
                </a:cubicBezTo>
                <a:cubicBezTo>
                  <a:pt x="21313" y="13847"/>
                  <a:pt x="21588" y="12587"/>
                  <a:pt x="21578" y="10602"/>
                </a:cubicBezTo>
                <a:cubicBezTo>
                  <a:pt x="21572" y="9310"/>
                  <a:pt x="21547" y="9094"/>
                  <a:pt x="21294" y="8132"/>
                </a:cubicBezTo>
                <a:cubicBezTo>
                  <a:pt x="20484" y="5044"/>
                  <a:pt x="18384" y="2462"/>
                  <a:pt x="15549" y="1068"/>
                </a:cubicBezTo>
                <a:cubicBezTo>
                  <a:pt x="13900" y="257"/>
                  <a:pt x="12769" y="2"/>
                  <a:pt x="10809" y="0"/>
                </a:cubicBezTo>
                <a:close/>
              </a:path>
            </a:pathLst>
          </a:cu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2F447-BCAA-45A4-A26F-AF7AABBF7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90D565-B3B1-4FEE-A8A9-A03CDA8D65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TCP/IP</a:t>
            </a:r>
          </a:p>
          <a:p>
            <a:pPr lvl="1"/>
            <a:r>
              <a:rPr lang="en-US" dirty="0"/>
              <a:t>Name/IP and port number</a:t>
            </a:r>
          </a:p>
          <a:p>
            <a:endParaRPr lang="en-US" dirty="0"/>
          </a:p>
          <a:p>
            <a:r>
              <a:rPr lang="en-US" dirty="0"/>
              <a:t>Socket</a:t>
            </a:r>
          </a:p>
          <a:p>
            <a:pPr lvl="1"/>
            <a:r>
              <a:rPr lang="en-US" dirty="0"/>
              <a:t>We get a file descriptor and we can send and </a:t>
            </a:r>
            <a:r>
              <a:rPr lang="en-US" dirty="0" err="1"/>
              <a:t>recv</a:t>
            </a:r>
            <a:endParaRPr lang="en-US" dirty="0"/>
          </a:p>
          <a:p>
            <a:pPr lvl="2"/>
            <a:r>
              <a:rPr lang="en-US" dirty="0"/>
              <a:t>Place send() and </a:t>
            </a:r>
            <a:r>
              <a:rPr lang="en-US" dirty="0" err="1"/>
              <a:t>recv</a:t>
            </a:r>
            <a:r>
              <a:rPr lang="en-US" dirty="0"/>
              <a:t>() in a loop!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BE738D-CF31-448D-A884-272CC8B6F9EA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727931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A Client-Server World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 Client-Server World</a:t>
            </a:r>
          </a:p>
        </p:txBody>
      </p:sp>
      <p:sp>
        <p:nvSpPr>
          <p:cNvPr id="346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347" name="Seal 3 SPOT281.jpg" descr="Seal 3 SPOT281.jpg"/>
          <p:cNvPicPr>
            <a:picLocks noChangeAspect="1"/>
          </p:cNvPicPr>
          <p:nvPr/>
        </p:nvPicPr>
        <p:blipFill>
          <a:blip r:embed="rId3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48" name="Server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dirty="0"/>
              <a:t>Establish a connection between a server and a client</a:t>
            </a:r>
          </a:p>
          <a:p>
            <a:r>
              <a:rPr dirty="0"/>
              <a:t>Server</a:t>
            </a:r>
          </a:p>
          <a:p>
            <a:pPr lvl="1"/>
            <a:r>
              <a:rPr dirty="0"/>
              <a:t>Listen</a:t>
            </a:r>
            <a:r>
              <a:rPr lang="en-US" dirty="0"/>
              <a:t>s</a:t>
            </a:r>
            <a:r>
              <a:rPr dirty="0"/>
              <a:t> on a port for inbound “let’s talk” requests</a:t>
            </a:r>
            <a:endParaRPr lang="en-US" dirty="0"/>
          </a:p>
          <a:p>
            <a:pPr lvl="1"/>
            <a:r>
              <a:rPr lang="en-US" dirty="0"/>
              <a:t>Can talk to many clients at the same time</a:t>
            </a:r>
            <a:endParaRPr dirty="0"/>
          </a:p>
          <a:p>
            <a:r>
              <a:rPr dirty="0"/>
              <a:t>Client</a:t>
            </a:r>
          </a:p>
          <a:p>
            <a:pPr lvl="1"/>
            <a:r>
              <a:rPr dirty="0">
                <a:solidFill>
                  <a:srgbClr val="FF0000"/>
                </a:solidFill>
              </a:rPr>
              <a:t>Initiate</a:t>
            </a:r>
            <a:r>
              <a:rPr lang="en-US" dirty="0">
                <a:solidFill>
                  <a:srgbClr val="FF0000"/>
                </a:solidFill>
              </a:rPr>
              <a:t>s</a:t>
            </a:r>
            <a:r>
              <a:rPr dirty="0"/>
              <a:t> the communication with the server</a:t>
            </a:r>
          </a:p>
          <a:p>
            <a:pPr lvl="1"/>
            <a:r>
              <a:rPr dirty="0"/>
              <a:t>Must know</a:t>
            </a:r>
          </a:p>
          <a:p>
            <a:pPr lvl="2"/>
            <a:r>
              <a:rPr dirty="0"/>
              <a:t>Server name</a:t>
            </a:r>
            <a:r>
              <a:rPr lang="en-US" dirty="0"/>
              <a:t> (which is used to find the IP address)</a:t>
            </a:r>
          </a:p>
          <a:p>
            <a:pPr lvl="2"/>
            <a:r>
              <a:rPr lang="en-US" dirty="0"/>
              <a:t>Protocol to use (TCP or UDP)</a:t>
            </a:r>
            <a:endParaRPr dirty="0"/>
          </a:p>
          <a:p>
            <a:pPr lvl="2"/>
            <a:r>
              <a:rPr lang="en-US" dirty="0"/>
              <a:t>P</a:t>
            </a:r>
            <a:r>
              <a:rPr dirty="0"/>
              <a:t>ort number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67776E-0F3F-4881-832D-312E16FDC39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Server sid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Server side</a:t>
            </a:r>
            <a:r>
              <a:rPr lang="en-US" dirty="0"/>
              <a:t> (TCP)</a:t>
            </a:r>
            <a:endParaRPr dirty="0"/>
          </a:p>
        </p:txBody>
      </p:sp>
      <p:sp>
        <p:nvSpPr>
          <p:cNvPr id="352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353" name="Seal 3 SPOT281.jpg" descr="Seal 3 SPOT281.jpg"/>
          <p:cNvPicPr>
            <a:picLocks noChangeAspect="1"/>
          </p:cNvPicPr>
          <p:nvPr/>
        </p:nvPicPr>
        <p:blipFill>
          <a:blip r:embed="rId3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54" name="Use case  (TCP)…"/>
          <p:cNvSpPr txBox="1">
            <a:spLocks noGrp="1"/>
          </p:cNvSpPr>
          <p:nvPr>
            <p:ph type="body" idx="1"/>
          </p:nvPr>
        </p:nvSpPr>
        <p:spPr>
          <a:xfrm>
            <a:off x="571500" y="2330450"/>
            <a:ext cx="11861800" cy="6978592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dirty="0"/>
              <a:t>After creating a socket</a:t>
            </a:r>
            <a:endParaRPr dirty="0"/>
          </a:p>
          <a:p>
            <a:pPr lvl="1">
              <a:spcBef>
                <a:spcPts val="900"/>
              </a:spcBef>
            </a:pPr>
            <a:r>
              <a:rPr lang="en-US" b="1" dirty="0">
                <a:solidFill>
                  <a:srgbClr val="FF0000"/>
                </a:solidFill>
              </a:rPr>
              <a:t>bind()</a:t>
            </a:r>
            <a:r>
              <a:rPr lang="en-US" b="1" dirty="0">
                <a:solidFill>
                  <a:schemeClr val="accent6">
                    <a:satOff val="24555"/>
                    <a:lumOff val="22232"/>
                  </a:schemeClr>
                </a:solidFill>
              </a:rPr>
              <a:t> </a:t>
            </a:r>
            <a:r>
              <a:rPr dirty="0"/>
              <a:t>Server </a:t>
            </a:r>
            <a:r>
              <a:rPr b="1" dirty="0">
                <a:solidFill>
                  <a:srgbClr val="FF0000"/>
                </a:solidFill>
              </a:rPr>
              <a:t>binds</a:t>
            </a:r>
            <a:r>
              <a:rPr dirty="0"/>
              <a:t> (reserves</a:t>
            </a:r>
            <a:r>
              <a:rPr lang="en-US" dirty="0"/>
              <a:t>)</a:t>
            </a:r>
            <a:r>
              <a:rPr dirty="0"/>
              <a:t> a port for chatting</a:t>
            </a:r>
          </a:p>
          <a:p>
            <a:pPr lvl="1">
              <a:spcBef>
                <a:spcPts val="900"/>
              </a:spcBef>
            </a:pPr>
            <a:r>
              <a:rPr lang="en-US" b="1" dirty="0">
                <a:solidFill>
                  <a:srgbClr val="FF0000"/>
                </a:solidFill>
              </a:rPr>
              <a:t>listen()</a:t>
            </a:r>
            <a:r>
              <a:rPr lang="en-US" b="1" dirty="0">
                <a:solidFill>
                  <a:schemeClr val="accent6">
                    <a:satOff val="24555"/>
                    <a:lumOff val="22232"/>
                  </a:schemeClr>
                </a:solidFill>
              </a:rPr>
              <a:t> </a:t>
            </a:r>
            <a:r>
              <a:rPr dirty="0"/>
              <a:t>Server </a:t>
            </a:r>
            <a:r>
              <a:rPr b="1" dirty="0">
                <a:solidFill>
                  <a:srgbClr val="FF0000"/>
                </a:solidFill>
              </a:rPr>
              <a:t>listens</a:t>
            </a:r>
            <a:r>
              <a:rPr dirty="0"/>
              <a:t> on port for “Let’s talk” requests</a:t>
            </a:r>
          </a:p>
          <a:p>
            <a:pPr lvl="1">
              <a:spcBef>
                <a:spcPts val="900"/>
              </a:spcBef>
            </a:pPr>
            <a:r>
              <a:rPr lang="en-US" b="1" dirty="0">
                <a:solidFill>
                  <a:srgbClr val="FF0000"/>
                </a:solidFill>
              </a:rPr>
              <a:t>accept()</a:t>
            </a:r>
            <a:r>
              <a:rPr lang="en-US" b="1" dirty="0">
                <a:solidFill>
                  <a:schemeClr val="accent6">
                    <a:satOff val="24555"/>
                    <a:lumOff val="22232"/>
                  </a:schemeClr>
                </a:solidFill>
              </a:rPr>
              <a:t> </a:t>
            </a:r>
            <a:r>
              <a:rPr dirty="0"/>
              <a:t>When a request comes in…</a:t>
            </a:r>
          </a:p>
          <a:p>
            <a:pPr lvl="2">
              <a:spcBef>
                <a:spcPts val="900"/>
              </a:spcBef>
            </a:pPr>
            <a:r>
              <a:rPr dirty="0"/>
              <a:t>Server allocate</a:t>
            </a:r>
            <a:r>
              <a:rPr lang="en-US" dirty="0"/>
              <a:t>s</a:t>
            </a:r>
            <a:r>
              <a:rPr dirty="0"/>
              <a:t> a </a:t>
            </a:r>
            <a:r>
              <a:rPr b="1" dirty="0">
                <a:solidFill>
                  <a:schemeClr val="accent1"/>
                </a:solidFill>
              </a:rPr>
              <a:t>separate socket</a:t>
            </a:r>
            <a:r>
              <a:rPr dirty="0"/>
              <a:t> to </a:t>
            </a:r>
            <a:r>
              <a:rPr b="1" dirty="0">
                <a:solidFill>
                  <a:srgbClr val="FF0000"/>
                </a:solidFill>
              </a:rPr>
              <a:t>accept</a:t>
            </a:r>
            <a:r>
              <a:rPr dirty="0"/>
              <a:t> private communication with the client (same host, different port)</a:t>
            </a:r>
          </a:p>
          <a:p>
            <a:pPr lvl="3">
              <a:spcBef>
                <a:spcPts val="900"/>
              </a:spcBef>
            </a:pPr>
            <a:r>
              <a:rPr dirty="0"/>
              <a:t>The original socket remains available for future “Let’s talk”</a:t>
            </a:r>
            <a:endParaRPr lang="en-US" dirty="0"/>
          </a:p>
          <a:p>
            <a:pPr lvl="3">
              <a:spcBef>
                <a:spcPts val="900"/>
              </a:spcBef>
            </a:pPr>
            <a:r>
              <a:rPr lang="en-US" dirty="0"/>
              <a:t>The new socket is bound to </a:t>
            </a:r>
            <a:r>
              <a:rPr lang="en-US" dirty="0">
                <a:solidFill>
                  <a:srgbClr val="0070C0"/>
                </a:solidFill>
              </a:rPr>
              <a:t>an ephemeral port</a:t>
            </a:r>
            <a:endParaRPr dirty="0">
              <a:solidFill>
                <a:srgbClr val="0070C0"/>
              </a:solidFill>
            </a:endParaRPr>
          </a:p>
          <a:p>
            <a:pPr lvl="2">
              <a:spcBef>
                <a:spcPts val="900"/>
              </a:spcBef>
            </a:pPr>
            <a:r>
              <a:rPr dirty="0"/>
              <a:t>Communication goes on </a:t>
            </a:r>
            <a:r>
              <a:rPr dirty="0" err="1"/>
              <a:t>on</a:t>
            </a:r>
            <a:r>
              <a:rPr dirty="0"/>
              <a:t> separate socket</a:t>
            </a:r>
            <a:r>
              <a:rPr lang="en-US" dirty="0"/>
              <a:t>s</a:t>
            </a:r>
            <a:r>
              <a:rPr dirty="0"/>
              <a:t> with </a:t>
            </a:r>
          </a:p>
          <a:p>
            <a:pPr lvl="3">
              <a:spcBef>
                <a:spcPts val="900"/>
              </a:spcBef>
            </a:pPr>
            <a:r>
              <a:rPr b="1" dirty="0">
                <a:solidFill>
                  <a:srgbClr val="FF0000"/>
                </a:solidFill>
              </a:rPr>
              <a:t>send</a:t>
            </a:r>
            <a:r>
              <a:rPr lang="en-US" b="1" dirty="0">
                <a:solidFill>
                  <a:srgbClr val="FF0000"/>
                </a:solidFill>
              </a:rPr>
              <a:t>()</a:t>
            </a:r>
            <a:r>
              <a:rPr dirty="0">
                <a:solidFill>
                  <a:srgbClr val="FF0000"/>
                </a:solidFill>
              </a:rPr>
              <a:t> / </a:t>
            </a:r>
            <a:r>
              <a:rPr b="1" dirty="0" err="1">
                <a:solidFill>
                  <a:srgbClr val="FF0000"/>
                </a:solidFill>
              </a:rPr>
              <a:t>recv</a:t>
            </a:r>
            <a:r>
              <a:rPr lang="en-US" b="1" dirty="0">
                <a:solidFill>
                  <a:srgbClr val="FF0000"/>
                </a:solidFill>
              </a:rPr>
              <a:t>()</a:t>
            </a:r>
            <a:endParaRPr dirty="0">
              <a:solidFill>
                <a:srgbClr val="FF0000"/>
              </a:solidFill>
            </a:endParaRPr>
          </a:p>
          <a:p>
            <a:pPr lvl="1">
              <a:spcBef>
                <a:spcPts val="900"/>
              </a:spcBef>
            </a:pPr>
            <a:r>
              <a:rPr lang="en-US" b="1" dirty="0">
                <a:solidFill>
                  <a:srgbClr val="FF0000"/>
                </a:solidFill>
              </a:rPr>
              <a:t>close() </a:t>
            </a:r>
            <a:r>
              <a:rPr dirty="0"/>
              <a:t>Conversation ends via a</a:t>
            </a:r>
            <a:r>
              <a:rPr lang="en-US" dirty="0"/>
              <a:t> close</a:t>
            </a:r>
            <a:endParaRPr b="1" dirty="0">
              <a:solidFill>
                <a:schemeClr val="accent6">
                  <a:satOff val="24555"/>
                  <a:lumOff val="22232"/>
                </a:schemeClr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AF0AAA-E292-42C8-A7D3-FA51298153F2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4E7257-4A72-69CD-8106-790A23DB5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157" y="3246502"/>
            <a:ext cx="10419254" cy="409374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811569-4872-4A31-8A47-98045DBB19E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828572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A8D8A-6D79-4BA9-A5B9-412006EFA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Analogy Between Sockets and Telephone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6DB3B8D-9D6B-4417-BC26-3D90832EA2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7054707"/>
              </p:ext>
            </p:extLst>
          </p:nvPr>
        </p:nvGraphicFramePr>
        <p:xfrm>
          <a:off x="571500" y="3121000"/>
          <a:ext cx="11756407" cy="5328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6618">
                  <a:extLst>
                    <a:ext uri="{9D8B030D-6E8A-4147-A177-3AD203B41FA5}">
                      <a16:colId xmlns:a16="http://schemas.microsoft.com/office/drawing/2014/main" val="4177682593"/>
                    </a:ext>
                  </a:extLst>
                </a:gridCol>
                <a:gridCol w="4067508">
                  <a:extLst>
                    <a:ext uri="{9D8B030D-6E8A-4147-A177-3AD203B41FA5}">
                      <a16:colId xmlns:a16="http://schemas.microsoft.com/office/drawing/2014/main" val="4226447733"/>
                    </a:ext>
                  </a:extLst>
                </a:gridCol>
                <a:gridCol w="4802281">
                  <a:extLst>
                    <a:ext uri="{9D8B030D-6E8A-4147-A177-3AD203B41FA5}">
                      <a16:colId xmlns:a16="http://schemas.microsoft.com/office/drawing/2014/main" val="818925910"/>
                    </a:ext>
                  </a:extLst>
                </a:gridCol>
              </a:tblGrid>
              <a:tr h="710300"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accent5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Sockets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accent1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Telephone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242683"/>
                  </a:ext>
                </a:extLst>
              </a:tr>
              <a:tr h="71030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+mj-lt"/>
                          <a:cs typeface="Times New Roman" panose="02020603050405020304" pitchFamily="18" charset="0"/>
                        </a:rPr>
                        <a:t>socket()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accent5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Create a socket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accent1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Buy a telephone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8096713"/>
                  </a:ext>
                </a:extLst>
              </a:tr>
              <a:tr h="710300">
                <a:tc>
                  <a:txBody>
                    <a:bodyPr/>
                    <a:lstStyle/>
                    <a:p>
                      <a:pPr marL="0" marR="0" lvl="0" indent="0" algn="ctr" defTabSz="584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latin typeface="+mj-lt"/>
                          <a:cs typeface="Times New Roman" panose="02020603050405020304" pitchFamily="18" charset="0"/>
                        </a:rPr>
                        <a:t>bind()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accent5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Bind to a 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accent1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Plug in/Insert a Sim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093416"/>
                  </a:ext>
                </a:extLst>
              </a:tr>
              <a:tr h="710300">
                <a:tc>
                  <a:txBody>
                    <a:bodyPr/>
                    <a:lstStyle/>
                    <a:p>
                      <a:pPr marL="0" marR="0" lvl="0" indent="0" algn="ctr" defTabSz="584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latin typeface="+mj-lt"/>
                          <a:cs typeface="Times New Roman" panose="02020603050405020304" pitchFamily="18" charset="0"/>
                        </a:rPr>
                        <a:t>listen()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accent5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Get ready to respond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accent1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Get ready for ringtone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5339794"/>
                  </a:ext>
                </a:extLst>
              </a:tr>
              <a:tr h="710300">
                <a:tc>
                  <a:txBody>
                    <a:bodyPr/>
                    <a:lstStyle/>
                    <a:p>
                      <a:pPr marL="0" marR="0" lvl="0" indent="0" algn="ctr" defTabSz="584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latin typeface="+mj-lt"/>
                          <a:cs typeface="Times New Roman" panose="02020603050405020304" pitchFamily="18" charset="0"/>
                        </a:rPr>
                        <a:t>accept()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accent5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Accept requests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accent1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Pick up the phone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527896"/>
                  </a:ext>
                </a:extLst>
              </a:tr>
              <a:tr h="710300">
                <a:tc>
                  <a:txBody>
                    <a:bodyPr/>
                    <a:lstStyle/>
                    <a:p>
                      <a:pPr marL="0" marR="0" indent="0" algn="ctr" defTabSz="5842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3200" b="0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+mj-lt"/>
                          <a:ea typeface="+mn-ea"/>
                          <a:cs typeface="Times New Roman" panose="02020603050405020304" pitchFamily="18" charset="0"/>
                          <a:sym typeface="Helvetica Neue"/>
                        </a:rPr>
                        <a:t>send()/</a:t>
                      </a:r>
                      <a:r>
                        <a:rPr lang="en-US" sz="3200" b="0" i="0" u="none" strike="noStrike" cap="none" spc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+mj-lt"/>
                          <a:ea typeface="+mn-ea"/>
                          <a:cs typeface="Times New Roman" panose="02020603050405020304" pitchFamily="18" charset="0"/>
                          <a:sym typeface="Helvetica Neue"/>
                        </a:rPr>
                        <a:t>recv</a:t>
                      </a:r>
                      <a:r>
                        <a:rPr lang="en-US" sz="3200" b="0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+mj-lt"/>
                          <a:ea typeface="+mn-ea"/>
                          <a:cs typeface="Times New Roman" panose="02020603050405020304" pitchFamily="18" charset="0"/>
                          <a:sym typeface="Helvetica Neue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accent5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Communication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accent1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Listen and talk </a:t>
                      </a:r>
                    </a:p>
                    <a:p>
                      <a:pPr algn="ctr"/>
                      <a:r>
                        <a:rPr lang="en-US" sz="3200" dirty="0">
                          <a:solidFill>
                            <a:schemeClr val="accent1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(at</a:t>
                      </a:r>
                      <a:r>
                        <a:rPr lang="en-US" sz="3200" baseline="0" dirty="0">
                          <a:solidFill>
                            <a:schemeClr val="accent1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 an extension)</a:t>
                      </a:r>
                      <a:endParaRPr lang="en-US" sz="3200" dirty="0">
                        <a:solidFill>
                          <a:schemeClr val="accent1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9670451"/>
                  </a:ext>
                </a:extLst>
              </a:tr>
              <a:tr h="710300"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+mj-lt"/>
                          <a:ea typeface="+mn-ea"/>
                          <a:cs typeface="Times New Roman" panose="02020603050405020304" pitchFamily="18" charset="0"/>
                          <a:sym typeface="Helvetica Neue"/>
                        </a:rPr>
                        <a:t>close()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accent5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Close the connection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accent1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Hang 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5810620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38AFFA-06F2-40A9-924D-6D77249AFAE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66081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Server sid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Client</a:t>
            </a:r>
            <a:r>
              <a:rPr dirty="0"/>
              <a:t> side</a:t>
            </a:r>
            <a:r>
              <a:rPr lang="en-US" dirty="0"/>
              <a:t> (TCP)</a:t>
            </a:r>
            <a:endParaRPr dirty="0"/>
          </a:p>
        </p:txBody>
      </p:sp>
      <p:sp>
        <p:nvSpPr>
          <p:cNvPr id="352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353" name="Seal 3 SPOT281.jpg" descr="Seal 3 SPOT281.jpg"/>
          <p:cNvPicPr>
            <a:picLocks noChangeAspect="1"/>
          </p:cNvPicPr>
          <p:nvPr/>
        </p:nvPicPr>
        <p:blipFill>
          <a:blip r:embed="rId3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54" name="Use case  (TCP)…"/>
          <p:cNvSpPr txBox="1">
            <a:spLocks noGrp="1"/>
          </p:cNvSpPr>
          <p:nvPr>
            <p:ph type="body" idx="1"/>
          </p:nvPr>
        </p:nvSpPr>
        <p:spPr>
          <a:xfrm>
            <a:off x="571500" y="2330450"/>
            <a:ext cx="11861800" cy="6978592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dirty="0"/>
              <a:t>After creating a socket</a:t>
            </a:r>
            <a:endParaRPr dirty="0"/>
          </a:p>
          <a:p>
            <a:pPr lvl="1">
              <a:spcBef>
                <a:spcPts val="900"/>
              </a:spcBef>
            </a:pPr>
            <a:r>
              <a:rPr lang="en-US" b="1" dirty="0">
                <a:solidFill>
                  <a:srgbClr val="FF0000"/>
                </a:solidFill>
              </a:rPr>
              <a:t>connect()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Client initiates a session</a:t>
            </a:r>
          </a:p>
          <a:p>
            <a:pPr lvl="2">
              <a:spcBef>
                <a:spcPts val="900"/>
              </a:spcBef>
            </a:pPr>
            <a:r>
              <a:rPr lang="en-US" dirty="0"/>
              <a:t>Need server name, type, and port</a:t>
            </a:r>
          </a:p>
          <a:p>
            <a:pPr lvl="1">
              <a:spcBef>
                <a:spcPts val="900"/>
              </a:spcBef>
            </a:pPr>
            <a:r>
              <a:rPr lang="en-US" dirty="0"/>
              <a:t>Then, communication goes on with </a:t>
            </a:r>
            <a:r>
              <a:rPr lang="en-US" b="1" dirty="0">
                <a:solidFill>
                  <a:srgbClr val="FF0000"/>
                </a:solidFill>
              </a:rPr>
              <a:t>send()</a:t>
            </a:r>
            <a:r>
              <a:rPr lang="en-US" dirty="0">
                <a:solidFill>
                  <a:srgbClr val="FF0000"/>
                </a:solidFill>
              </a:rPr>
              <a:t> / </a:t>
            </a:r>
            <a:r>
              <a:rPr lang="en-US" b="1" dirty="0" err="1">
                <a:solidFill>
                  <a:srgbClr val="FF0000"/>
                </a:solidFill>
              </a:rPr>
              <a:t>recv</a:t>
            </a:r>
            <a:r>
              <a:rPr lang="en-US" b="1" dirty="0">
                <a:solidFill>
                  <a:srgbClr val="FF0000"/>
                </a:solidFill>
              </a:rPr>
              <a:t>()</a:t>
            </a:r>
            <a:endParaRPr lang="en-US" dirty="0">
              <a:solidFill>
                <a:srgbClr val="FF0000"/>
              </a:solidFill>
            </a:endParaRPr>
          </a:p>
          <a:p>
            <a:pPr lvl="1">
              <a:spcBef>
                <a:spcPts val="900"/>
              </a:spcBef>
            </a:pPr>
            <a:r>
              <a:rPr b="1" dirty="0">
                <a:solidFill>
                  <a:srgbClr val="FF0000"/>
                </a:solidFill>
              </a:rPr>
              <a:t>close</a:t>
            </a:r>
            <a:r>
              <a:rPr lang="en-US" b="1" dirty="0">
                <a:solidFill>
                  <a:srgbClr val="FF0000"/>
                </a:solidFill>
              </a:rPr>
              <a:t>() </a:t>
            </a:r>
            <a:r>
              <a:rPr lang="en-US" dirty="0"/>
              <a:t>Client closes a session</a:t>
            </a:r>
          </a:p>
          <a:p>
            <a:pPr>
              <a:spcBef>
                <a:spcPts val="900"/>
              </a:spcBef>
            </a:pPr>
            <a:endParaRPr lang="en-US" dirty="0"/>
          </a:p>
          <a:p>
            <a:pPr>
              <a:spcBef>
                <a:spcPts val="900"/>
              </a:spcBef>
            </a:pPr>
            <a:endParaRPr lang="en-US" dirty="0"/>
          </a:p>
          <a:p>
            <a:pPr marL="0" indent="0">
              <a:spcBef>
                <a:spcPts val="900"/>
              </a:spcBef>
              <a:buNone/>
            </a:pPr>
            <a:r>
              <a:rPr lang="en-US" dirty="0"/>
              <a:t>Note that no bind() is needed on the client side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en-US" dirty="0"/>
              <a:t>OS allocates a port </a:t>
            </a:r>
          </a:p>
          <a:p>
            <a:pPr lvl="1">
              <a:spcBef>
                <a:spcPts val="900"/>
              </a:spcBef>
            </a:pPr>
            <a:endParaRPr b="1" dirty="0">
              <a:solidFill>
                <a:schemeClr val="accent6">
                  <a:satOff val="24555"/>
                  <a:lumOff val="22232"/>
                </a:schemeClr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45816B-3E16-453D-9039-EA9720D3814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89085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222E3-ED52-4522-B7ED-D3FC52AD5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back to server 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3211D5-25F7-4DBB-B107-A06A1E33F8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sz="2800" dirty="0">
                <a:latin typeface="Consolas" panose="020B0609020204030204" pitchFamily="49" charset="0"/>
                <a:sym typeface="Courier"/>
              </a:rPr>
              <a:t>#include &lt;sys/</a:t>
            </a:r>
            <a:r>
              <a:rPr lang="en-US" sz="2800" dirty="0" err="1">
                <a:latin typeface="Consolas" panose="020B0609020204030204" pitchFamily="49" charset="0"/>
                <a:sym typeface="Courier"/>
              </a:rPr>
              <a:t>types.h</a:t>
            </a:r>
            <a:r>
              <a:rPr lang="en-US" sz="2800" dirty="0">
                <a:latin typeface="Consolas" panose="020B0609020204030204" pitchFamily="49" charset="0"/>
                <a:sym typeface="Courier"/>
              </a:rPr>
              <a:t>&gt;</a:t>
            </a:r>
          </a:p>
          <a:p>
            <a:pPr marL="0" lvl="0" indent="0">
              <a:buNone/>
            </a:pPr>
            <a:r>
              <a:rPr lang="en-US" sz="2800" dirty="0">
                <a:latin typeface="Consolas" panose="020B0609020204030204" pitchFamily="49" charset="0"/>
                <a:sym typeface="Courier"/>
              </a:rPr>
              <a:t>#include &lt;sys/</a:t>
            </a:r>
            <a:r>
              <a:rPr lang="en-US" sz="2800" dirty="0" err="1">
                <a:latin typeface="Consolas" panose="020B0609020204030204" pitchFamily="49" charset="0"/>
                <a:sym typeface="Courier"/>
              </a:rPr>
              <a:t>socket.h</a:t>
            </a:r>
            <a:r>
              <a:rPr lang="en-US" sz="2800" dirty="0">
                <a:latin typeface="Consolas" panose="020B0609020204030204" pitchFamily="49" charset="0"/>
                <a:sym typeface="Courier"/>
              </a:rPr>
              <a:t>&gt;</a:t>
            </a:r>
          </a:p>
          <a:p>
            <a:pPr marL="0" lvl="0" indent="0">
              <a:buNone/>
            </a:pPr>
            <a:endParaRPr lang="en-US" sz="2800" dirty="0">
              <a:latin typeface="Consolas" panose="020B0609020204030204" pitchFamily="49" charset="0"/>
              <a:sym typeface="Courier"/>
            </a:endParaRPr>
          </a:p>
          <a:p>
            <a:pPr marL="0" lvl="0" indent="0">
              <a:buNone/>
            </a:pPr>
            <a:r>
              <a:rPr lang="en-US" sz="2800" dirty="0">
                <a:latin typeface="Consolas" panose="020B0609020204030204" pitchFamily="49" charset="0"/>
                <a:sym typeface="Courier"/>
              </a:rPr>
              <a:t>int bind(	int </a:t>
            </a:r>
            <a:r>
              <a:rPr lang="en-US" sz="2800" dirty="0" err="1">
                <a:solidFill>
                  <a:schemeClr val="accent2"/>
                </a:solidFill>
                <a:latin typeface="Consolas" panose="020B0609020204030204" pitchFamily="49" charset="0"/>
                <a:sym typeface="Courier"/>
              </a:rPr>
              <a:t>sockfd</a:t>
            </a:r>
            <a:r>
              <a:rPr lang="en-US" sz="2800" dirty="0">
                <a:latin typeface="Consolas" panose="020B0609020204030204" pitchFamily="49" charset="0"/>
                <a:sym typeface="Courier"/>
              </a:rPr>
              <a:t>, </a:t>
            </a:r>
          </a:p>
          <a:p>
            <a:pPr marL="0" lvl="0" indent="0">
              <a:buNone/>
            </a:pPr>
            <a:r>
              <a:rPr lang="en-US" sz="2800" dirty="0">
                <a:latin typeface="Consolas" panose="020B0609020204030204" pitchFamily="49" charset="0"/>
                <a:sym typeface="Courier"/>
              </a:rPr>
              <a:t>				const struct </a:t>
            </a:r>
            <a:r>
              <a:rPr lang="en-US" sz="2800" dirty="0" err="1">
                <a:latin typeface="Consolas" panose="020B0609020204030204" pitchFamily="49" charset="0"/>
                <a:sym typeface="Courier"/>
              </a:rPr>
              <a:t>sockaddr</a:t>
            </a:r>
            <a:r>
              <a:rPr lang="en-US" sz="2800" dirty="0">
                <a:latin typeface="Consolas" panose="020B0609020204030204" pitchFamily="49" charset="0"/>
                <a:sym typeface="Courier"/>
              </a:rPr>
              <a:t> *</a:t>
            </a:r>
            <a:r>
              <a:rPr lang="en-US" sz="2800" dirty="0" err="1">
                <a:solidFill>
                  <a:schemeClr val="accent2"/>
                </a:solidFill>
                <a:latin typeface="Consolas" panose="020B0609020204030204" pitchFamily="49" charset="0"/>
                <a:sym typeface="Courier"/>
              </a:rPr>
              <a:t>addr</a:t>
            </a:r>
            <a:r>
              <a:rPr lang="en-US" sz="2800" dirty="0">
                <a:latin typeface="Consolas" panose="020B0609020204030204" pitchFamily="49" charset="0"/>
                <a:sym typeface="Courier"/>
              </a:rPr>
              <a:t>,</a:t>
            </a:r>
          </a:p>
          <a:p>
            <a:pPr marL="0" lvl="0" indent="0">
              <a:buNone/>
            </a:pPr>
            <a:r>
              <a:rPr lang="en-US" sz="2800" dirty="0">
                <a:latin typeface="Consolas" panose="020B0609020204030204" pitchFamily="49" charset="0"/>
                <a:sym typeface="Courier"/>
              </a:rPr>
              <a:t>				</a:t>
            </a:r>
            <a:r>
              <a:rPr lang="en-US" sz="2800" dirty="0" err="1">
                <a:latin typeface="Consolas" panose="020B0609020204030204" pitchFamily="49" charset="0"/>
                <a:sym typeface="Courier"/>
              </a:rPr>
              <a:t>socklen_t</a:t>
            </a:r>
            <a:r>
              <a:rPr lang="en-US" sz="2800" dirty="0">
                <a:latin typeface="Consolas" panose="020B0609020204030204" pitchFamily="49" charset="0"/>
                <a:sym typeface="Courier"/>
              </a:rPr>
              <a:t> </a:t>
            </a:r>
            <a:r>
              <a:rPr lang="en-US" sz="2800" dirty="0" err="1">
                <a:solidFill>
                  <a:schemeClr val="accent2"/>
                </a:solidFill>
                <a:latin typeface="Consolas" panose="020B0609020204030204" pitchFamily="49" charset="0"/>
                <a:sym typeface="Courier"/>
              </a:rPr>
              <a:t>addrlen</a:t>
            </a:r>
            <a:r>
              <a:rPr lang="en-US" sz="2800" dirty="0">
                <a:latin typeface="Consolas" panose="020B0609020204030204" pitchFamily="49" charset="0"/>
                <a:sym typeface="Courier"/>
              </a:rPr>
              <a:t>);</a:t>
            </a:r>
          </a:p>
          <a:p>
            <a:endParaRPr lang="en-US" dirty="0">
              <a:sym typeface="Courier"/>
            </a:endParaRPr>
          </a:p>
          <a:p>
            <a:r>
              <a:rPr lang="en-US" dirty="0" err="1">
                <a:solidFill>
                  <a:schemeClr val="accent2"/>
                </a:solidFill>
                <a:sym typeface="Courier"/>
              </a:rPr>
              <a:t>sockfd</a:t>
            </a:r>
            <a:r>
              <a:rPr lang="en-US" dirty="0">
                <a:sym typeface="Courier"/>
              </a:rPr>
              <a:t> is the socket file descriptor. It does not have an address!</a:t>
            </a:r>
          </a:p>
          <a:p>
            <a:r>
              <a:rPr lang="en-US" dirty="0">
                <a:sym typeface="Courier"/>
              </a:rPr>
              <a:t>What is </a:t>
            </a:r>
            <a:r>
              <a:rPr lang="en-US" dirty="0">
                <a:solidFill>
                  <a:schemeClr val="accent1"/>
                </a:solidFill>
                <a:sym typeface="Courier"/>
              </a:rPr>
              <a:t>struct </a:t>
            </a:r>
            <a:r>
              <a:rPr lang="en-US" dirty="0" err="1">
                <a:solidFill>
                  <a:schemeClr val="accent1"/>
                </a:solidFill>
                <a:sym typeface="Courier"/>
              </a:rPr>
              <a:t>sockaddr</a:t>
            </a:r>
            <a:r>
              <a:rPr lang="en-US" dirty="0">
                <a:sym typeface="Courier"/>
              </a:rPr>
              <a:t>?</a:t>
            </a:r>
          </a:p>
          <a:p>
            <a:pPr lvl="1"/>
            <a:r>
              <a:rPr lang="en-US" sz="2800" dirty="0">
                <a:sym typeface="Courier"/>
              </a:rPr>
              <a:t>It holds address information for many types of socket</a:t>
            </a:r>
          </a:p>
          <a:p>
            <a:pPr lvl="1"/>
            <a:r>
              <a:rPr lang="en-US" sz="2800" dirty="0">
                <a:sym typeface="Courier"/>
              </a:rPr>
              <a:t>That is why there is a separate </a:t>
            </a:r>
            <a:r>
              <a:rPr lang="en-US" sz="2800" dirty="0" err="1">
                <a:solidFill>
                  <a:schemeClr val="accent2"/>
                </a:solidFill>
                <a:sym typeface="Courier"/>
              </a:rPr>
              <a:t>addrlen</a:t>
            </a:r>
            <a:r>
              <a:rPr lang="en-US" sz="2800" dirty="0">
                <a:sym typeface="Courier"/>
              </a:rPr>
              <a:t> to indicate its size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193A05-EA53-4E0C-8661-6E674FD4C08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71360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A96A7-CDC2-48ED-872A-D29754014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 address types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8A6B201F-0276-4FA3-ADDD-B4131D671F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alt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// generic socket address</a:t>
            </a:r>
          </a:p>
          <a:p>
            <a:pPr marL="0" lvl="0" indent="0">
              <a:buNone/>
            </a:pPr>
            <a:r>
              <a:rPr lang="en-US" altLang="en-US" sz="2400" dirty="0">
                <a:latin typeface="Consolas" panose="020B0609020204030204" pitchFamily="49" charset="0"/>
              </a:rPr>
              <a:t>struct </a:t>
            </a:r>
            <a:r>
              <a:rPr lang="en-US" altLang="en-US" sz="2400" dirty="0" err="1">
                <a:latin typeface="Consolas" panose="020B0609020204030204" pitchFamily="49" charset="0"/>
              </a:rPr>
              <a:t>sockaddr</a:t>
            </a:r>
            <a:r>
              <a:rPr lang="en-US" altLang="en-US" sz="2400" dirty="0">
                <a:latin typeface="Consolas" panose="020B0609020204030204" pitchFamily="49" charset="0"/>
              </a:rPr>
              <a:t> {</a:t>
            </a:r>
          </a:p>
          <a:p>
            <a:pPr marL="0" lvl="0" indent="0">
              <a:buNone/>
            </a:pPr>
            <a:r>
              <a:rPr lang="en-US" altLang="en-US" sz="2400" dirty="0">
                <a:latin typeface="Consolas" panose="020B0609020204030204" pitchFamily="49" charset="0"/>
              </a:rPr>
              <a:t>  unsigned short    </a:t>
            </a:r>
            <a:r>
              <a:rPr lang="en-US" altLang="en-US" sz="2400" dirty="0" err="1">
                <a:latin typeface="Consolas" panose="020B0609020204030204" pitchFamily="49" charset="0"/>
              </a:rPr>
              <a:t>sa_family</a:t>
            </a:r>
            <a:r>
              <a:rPr lang="en-US" altLang="en-US" sz="2400" dirty="0">
                <a:latin typeface="Consolas" panose="020B0609020204030204" pitchFamily="49" charset="0"/>
              </a:rPr>
              <a:t>;    </a:t>
            </a:r>
            <a:r>
              <a:rPr lang="en-US" alt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// address family, </a:t>
            </a:r>
            <a:r>
              <a:rPr lang="en-US" altLang="en-US" sz="2400" dirty="0" err="1">
                <a:solidFill>
                  <a:schemeClr val="accent1"/>
                </a:solidFill>
                <a:latin typeface="Consolas" panose="020B0609020204030204" pitchFamily="49" charset="0"/>
              </a:rPr>
              <a:t>AF_xxx</a:t>
            </a:r>
            <a:endParaRPr lang="en-US" altLang="en-US" sz="2400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r>
              <a:rPr lang="en-US" altLang="en-US" sz="2400" dirty="0">
                <a:latin typeface="Consolas" panose="020B0609020204030204" pitchFamily="49" charset="0"/>
              </a:rPr>
              <a:t>  char       </a:t>
            </a:r>
            <a:r>
              <a:rPr lang="en-US" altLang="en-US" sz="2400" dirty="0" err="1">
                <a:latin typeface="Consolas" panose="020B0609020204030204" pitchFamily="49" charset="0"/>
              </a:rPr>
              <a:t>sa_data</a:t>
            </a:r>
            <a:r>
              <a:rPr lang="en-US" altLang="en-US" sz="2400" dirty="0">
                <a:latin typeface="Consolas" panose="020B0609020204030204" pitchFamily="49" charset="0"/>
              </a:rPr>
              <a:t>[14];  </a:t>
            </a:r>
            <a:r>
              <a:rPr lang="en-US" alt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// 14 byte protocol address. Place holder</a:t>
            </a:r>
          </a:p>
          <a:p>
            <a:pPr marL="0" lvl="0" indent="0">
              <a:buNone/>
            </a:pPr>
            <a:r>
              <a:rPr lang="en-US" altLang="en-US" sz="2400" dirty="0">
                <a:latin typeface="Consolas" panose="020B0609020204030204" pitchFamily="49" charset="0"/>
              </a:rPr>
              <a:t>};</a:t>
            </a:r>
          </a:p>
          <a:p>
            <a:pPr marL="0" lvl="0" indent="0">
              <a:buNone/>
            </a:pPr>
            <a:endParaRPr lang="en-US" altLang="en-US" sz="2400" dirty="0"/>
          </a:p>
          <a:p>
            <a:pPr marL="0" lvl="0" indent="0">
              <a:buNone/>
            </a:pPr>
            <a:r>
              <a:rPr lang="en-US" alt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// we are using Internet socket address</a:t>
            </a:r>
          </a:p>
          <a:p>
            <a:pPr marL="0" lv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struct </a:t>
            </a:r>
            <a:r>
              <a:rPr lang="en-US" sz="2400" dirty="0" err="1">
                <a:latin typeface="Consolas" panose="020B0609020204030204" pitchFamily="49" charset="0"/>
              </a:rPr>
              <a:t>sockaddr_in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sa</a:t>
            </a:r>
            <a:r>
              <a:rPr lang="en-US" sz="2400" dirty="0">
                <a:latin typeface="Consolas" panose="020B0609020204030204" pitchFamily="49" charset="0"/>
              </a:rPr>
              <a:t>; 	    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// socket address IPv4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struct sockaddr_in6 sa6;    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// socket address IPv6</a:t>
            </a:r>
            <a:endParaRPr lang="en-US" altLang="en-US" sz="2400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r>
              <a:rPr lang="en-US" altLang="en-US" sz="2400" dirty="0">
                <a:solidFill>
                  <a:srgbClr val="0365C0"/>
                </a:solidFill>
                <a:latin typeface="Consolas" panose="020B0609020204030204" pitchFamily="49" charset="0"/>
              </a:rPr>
              <a:t>// </a:t>
            </a:r>
            <a:r>
              <a:rPr lang="en-US" sz="2400" dirty="0">
                <a:solidFill>
                  <a:srgbClr val="0365C0"/>
                </a:solidFill>
                <a:latin typeface="Consolas" panose="020B0609020204030204" pitchFamily="49" charset="0"/>
              </a:rPr>
              <a:t>struct </a:t>
            </a:r>
            <a:r>
              <a:rPr lang="en-US" sz="2400" dirty="0" err="1">
                <a:solidFill>
                  <a:srgbClr val="0365C0"/>
                </a:solidFill>
                <a:latin typeface="Consolas" panose="020B0609020204030204" pitchFamily="49" charset="0"/>
              </a:rPr>
              <a:t>sockaddr_in</a:t>
            </a:r>
            <a:r>
              <a:rPr lang="en-US" sz="2400" dirty="0">
                <a:solidFill>
                  <a:srgbClr val="0365C0"/>
                </a:solidFill>
                <a:latin typeface="Consolas" panose="020B0609020204030204" pitchFamily="49" charset="0"/>
              </a:rPr>
              <a:t> * </a:t>
            </a:r>
            <a:r>
              <a:rPr lang="en-US" altLang="en-US" sz="2400" dirty="0">
                <a:solidFill>
                  <a:srgbClr val="0365C0"/>
                </a:solidFill>
                <a:latin typeface="Consolas" panose="020B0609020204030204" pitchFamily="49" charset="0"/>
              </a:rPr>
              <a:t>can be cast to struct </a:t>
            </a:r>
            <a:r>
              <a:rPr lang="en-US" altLang="en-US" sz="2400" dirty="0" err="1">
                <a:solidFill>
                  <a:srgbClr val="0365C0"/>
                </a:solidFill>
                <a:latin typeface="Consolas" panose="020B0609020204030204" pitchFamily="49" charset="0"/>
              </a:rPr>
              <a:t>sockaddr</a:t>
            </a:r>
            <a:r>
              <a:rPr lang="en-US" altLang="en-US" sz="2400" dirty="0">
                <a:solidFill>
                  <a:srgbClr val="0365C0"/>
                </a:solidFill>
                <a:latin typeface="Consolas" panose="020B0609020204030204" pitchFamily="49" charset="0"/>
              </a:rPr>
              <a:t> *</a:t>
            </a:r>
          </a:p>
          <a:p>
            <a:pPr marL="0" lvl="0" indent="0">
              <a:buNone/>
            </a:pPr>
            <a:r>
              <a:rPr lang="en-US" altLang="en-US" sz="2400" dirty="0">
                <a:solidFill>
                  <a:srgbClr val="0365C0"/>
                </a:solidFill>
                <a:latin typeface="Consolas" panose="020B0609020204030204" pitchFamily="49" charset="0"/>
              </a:rPr>
              <a:t>// </a:t>
            </a:r>
            <a:r>
              <a:rPr lang="en-US" altLang="en-US" sz="2400" dirty="0">
                <a:solidFill>
                  <a:schemeClr val="accent6"/>
                </a:solidFill>
                <a:latin typeface="Consolas" panose="020B0609020204030204" pitchFamily="49" charset="0"/>
              </a:rPr>
              <a:t>Do I really need to learn how to set the fields in </a:t>
            </a:r>
            <a:r>
              <a:rPr lang="en-US" altLang="en-US" sz="2400" dirty="0" err="1">
                <a:solidFill>
                  <a:schemeClr val="accent6"/>
                </a:solidFill>
                <a:latin typeface="Consolas" panose="020B0609020204030204" pitchFamily="49" charset="0"/>
              </a:rPr>
              <a:t>sa</a:t>
            </a:r>
            <a:r>
              <a:rPr lang="en-US" altLang="en-US" sz="2400" dirty="0">
                <a:solidFill>
                  <a:schemeClr val="accent6"/>
                </a:solidFill>
                <a:latin typeface="Consolas" panose="020B0609020204030204" pitchFamily="49" charset="0"/>
              </a:rPr>
              <a:t> and sa6?</a:t>
            </a:r>
            <a:endParaRPr lang="en-US" altLang="en-US" sz="2400" dirty="0">
              <a:solidFill>
                <a:schemeClr val="accent6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9EFEC1-CC5A-47F7-A03C-33FFF80204D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23025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addrinfo</a:t>
            </a:r>
            <a:r>
              <a:rPr lang="en-US" dirty="0"/>
              <a:t> structure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1500" y="2312068"/>
            <a:ext cx="11861800" cy="656590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// A recent invention for preparing the socket address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struct </a:t>
            </a:r>
            <a:r>
              <a:rPr lang="en-US" sz="2400" dirty="0" err="1">
                <a:latin typeface="Consolas" panose="020B0609020204030204" pitchFamily="49" charset="0"/>
              </a:rPr>
              <a:t>addrinfo</a:t>
            </a:r>
            <a:r>
              <a:rPr lang="en-US" sz="2400" dirty="0"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    int       </a:t>
            </a:r>
            <a:r>
              <a:rPr lang="en-US" sz="2400" dirty="0" err="1">
                <a:latin typeface="Consolas" panose="020B0609020204030204" pitchFamily="49" charset="0"/>
              </a:rPr>
              <a:t>ai_flags</a:t>
            </a:r>
            <a:r>
              <a:rPr lang="en-US" sz="2400" dirty="0">
                <a:latin typeface="Consolas" panose="020B0609020204030204" pitchFamily="49" charset="0"/>
              </a:rPr>
              <a:t>;     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// AI_PASSIVE, AI_CANONNAME, etc.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    int       </a:t>
            </a:r>
            <a:r>
              <a:rPr lang="en-US" sz="2400" dirty="0" err="1">
                <a:latin typeface="Consolas" panose="020B0609020204030204" pitchFamily="49" charset="0"/>
              </a:rPr>
              <a:t>ai_family</a:t>
            </a:r>
            <a:r>
              <a:rPr lang="en-US" sz="2400" dirty="0">
                <a:latin typeface="Consolas" panose="020B0609020204030204" pitchFamily="49" charset="0"/>
              </a:rPr>
              <a:t>;    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// AF_INET, AF_INET6, AF_UNSPEC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    int       </a:t>
            </a:r>
            <a:r>
              <a:rPr lang="en-US" sz="2400" dirty="0" err="1">
                <a:latin typeface="Consolas" panose="020B0609020204030204" pitchFamily="49" charset="0"/>
              </a:rPr>
              <a:t>ai_socktype</a:t>
            </a:r>
            <a:r>
              <a:rPr lang="en-US" sz="2400" dirty="0">
                <a:latin typeface="Consolas" panose="020B0609020204030204" pitchFamily="49" charset="0"/>
              </a:rPr>
              <a:t>;  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// SOCK_STREAM, SOCK_DGRAM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    int       </a:t>
            </a:r>
            <a:r>
              <a:rPr lang="en-US" sz="2400" dirty="0" err="1">
                <a:latin typeface="Consolas" panose="020B0609020204030204" pitchFamily="49" charset="0"/>
              </a:rPr>
              <a:t>ai_protocol</a:t>
            </a:r>
            <a:r>
              <a:rPr lang="en-US" sz="2400" dirty="0">
                <a:latin typeface="Consolas" panose="020B0609020204030204" pitchFamily="49" charset="0"/>
              </a:rPr>
              <a:t>;  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// use 0 for "any"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</a:rPr>
              <a:t>size_t</a:t>
            </a:r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</a:rPr>
              <a:t>ai_addrlen</a:t>
            </a:r>
            <a:r>
              <a:rPr lang="en-US" sz="2400" dirty="0">
                <a:latin typeface="Consolas" panose="020B0609020204030204" pitchFamily="49" charset="0"/>
              </a:rPr>
              <a:t>;   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// size of </a:t>
            </a:r>
            <a:r>
              <a:rPr lang="en-US" sz="2400" dirty="0" err="1">
                <a:solidFill>
                  <a:schemeClr val="accent1"/>
                </a:solidFill>
                <a:latin typeface="Consolas" panose="020B0609020204030204" pitchFamily="49" charset="0"/>
              </a:rPr>
              <a:t>ai_addr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 in bytes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</a:rPr>
              <a:t>struct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sockaddr</a:t>
            </a:r>
            <a:r>
              <a:rPr lang="en-US" sz="2400" dirty="0">
                <a:latin typeface="Consolas" panose="020B0609020204030204" pitchFamily="49" charset="0"/>
              </a:rPr>
              <a:t> *</a:t>
            </a:r>
            <a:r>
              <a:rPr lang="en-US" sz="2400" dirty="0" err="1">
                <a:latin typeface="Consolas" panose="020B0609020204030204" pitchFamily="49" charset="0"/>
              </a:rPr>
              <a:t>ai_addr</a:t>
            </a:r>
            <a:r>
              <a:rPr lang="en-US" sz="2400" dirty="0">
                <a:latin typeface="Consolas" panose="020B0609020204030204" pitchFamily="49" charset="0"/>
              </a:rPr>
              <a:t>;      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// </a:t>
            </a:r>
            <a:r>
              <a:rPr lang="en-US" sz="2400" dirty="0" err="1">
                <a:solidFill>
                  <a:schemeClr val="accent1"/>
                </a:solidFill>
                <a:latin typeface="Consolas" panose="020B0609020204030204" pitchFamily="49" charset="0"/>
              </a:rPr>
              <a:t>struct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chemeClr val="accent1"/>
                </a:solidFill>
                <a:latin typeface="Consolas" panose="020B0609020204030204" pitchFamily="49" charset="0"/>
              </a:rPr>
              <a:t>sockaddr_in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 or _in6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    char      *</a:t>
            </a:r>
            <a:r>
              <a:rPr lang="en-US" sz="2400" dirty="0" err="1">
                <a:latin typeface="Consolas" panose="020B0609020204030204" pitchFamily="49" charset="0"/>
              </a:rPr>
              <a:t>ai_canonname</a:t>
            </a:r>
            <a:r>
              <a:rPr lang="en-US" sz="2400" dirty="0">
                <a:latin typeface="Consolas" panose="020B0609020204030204" pitchFamily="49" charset="0"/>
              </a:rPr>
              <a:t>; 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// full canonical hostname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</a:rPr>
              <a:t>struct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addrinfo</a:t>
            </a:r>
            <a:r>
              <a:rPr lang="en-US" sz="2400" dirty="0">
                <a:latin typeface="Consolas" panose="020B0609020204030204" pitchFamily="49" charset="0"/>
              </a:rPr>
              <a:t> *</a:t>
            </a:r>
            <a:r>
              <a:rPr lang="en-US" sz="2400" dirty="0" err="1">
                <a:latin typeface="Consolas" panose="020B0609020204030204" pitchFamily="49" charset="0"/>
              </a:rPr>
              <a:t>ai_next</a:t>
            </a:r>
            <a:r>
              <a:rPr lang="en-US" sz="2400" dirty="0">
                <a:latin typeface="Consolas" panose="020B0609020204030204" pitchFamily="49" charset="0"/>
              </a:rPr>
              <a:t>;      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// </a:t>
            </a:r>
            <a:r>
              <a:rPr lang="en-US" sz="2400" dirty="0">
                <a:solidFill>
                  <a:schemeClr val="accent2"/>
                </a:solidFill>
                <a:latin typeface="Consolas" panose="020B0609020204030204" pitchFamily="49" charset="0"/>
              </a:rPr>
              <a:t>linked list, next node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650231-6E48-4F74-B6EF-DE1228F67AA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192231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getaddrinfo</a:t>
            </a:r>
            <a:r>
              <a:rPr lang="en-US" dirty="0"/>
              <a:t>()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600" dirty="0" err="1">
                <a:solidFill>
                  <a:srgbClr val="C00000"/>
                </a:solidFill>
                <a:latin typeface="Consolas" panose="020B0609020204030204" pitchFamily="49" charset="0"/>
                <a:ea typeface="Courier"/>
                <a:cs typeface="Courier"/>
              </a:rPr>
              <a:t>int</a:t>
            </a:r>
            <a:r>
              <a:rPr lang="en-US" sz="2600" dirty="0">
                <a:solidFill>
                  <a:srgbClr val="C00000"/>
                </a:solidFill>
                <a:latin typeface="Consolas" panose="020B0609020204030204" pitchFamily="49" charset="0"/>
                <a:ea typeface="Courier"/>
                <a:cs typeface="Courier"/>
              </a:rPr>
              <a:t> </a:t>
            </a:r>
            <a:r>
              <a:rPr lang="en-US" sz="2600" dirty="0" err="1">
                <a:solidFill>
                  <a:srgbClr val="C00000"/>
                </a:solidFill>
                <a:latin typeface="Consolas" panose="020B0609020204030204" pitchFamily="49" charset="0"/>
                <a:ea typeface="Courier"/>
                <a:cs typeface="Courier"/>
              </a:rPr>
              <a:t>getaddrinfo</a:t>
            </a:r>
            <a:r>
              <a:rPr lang="en-US" sz="2600" dirty="0">
                <a:solidFill>
                  <a:srgbClr val="C00000"/>
                </a:solidFill>
                <a:latin typeface="Consolas" panose="020B0609020204030204" pitchFamily="49" charset="0"/>
                <a:ea typeface="Courier"/>
                <a:cs typeface="Courier"/>
              </a:rPr>
              <a:t>(</a:t>
            </a:r>
            <a:r>
              <a:rPr lang="en-US" sz="2600" dirty="0" err="1">
                <a:solidFill>
                  <a:srgbClr val="C00000"/>
                </a:solidFill>
                <a:latin typeface="Consolas" panose="020B0609020204030204" pitchFamily="49" charset="0"/>
                <a:ea typeface="Courier"/>
                <a:cs typeface="Courier"/>
              </a:rPr>
              <a:t>const</a:t>
            </a:r>
            <a:r>
              <a:rPr lang="en-US" sz="2600" dirty="0">
                <a:solidFill>
                  <a:srgbClr val="C00000"/>
                </a:solidFill>
                <a:latin typeface="Consolas" panose="020B0609020204030204" pitchFamily="49" charset="0"/>
                <a:ea typeface="Courier"/>
                <a:cs typeface="Courier"/>
              </a:rPr>
              <a:t> char *</a:t>
            </a:r>
            <a:r>
              <a:rPr lang="en-US" sz="2600" dirty="0">
                <a:solidFill>
                  <a:schemeClr val="accent2"/>
                </a:solidFill>
                <a:latin typeface="Consolas" panose="020B0609020204030204" pitchFamily="49" charset="0"/>
                <a:ea typeface="Courier"/>
                <a:cs typeface="Courier"/>
              </a:rPr>
              <a:t>node</a:t>
            </a:r>
            <a:r>
              <a:rPr lang="en-US" sz="2600" dirty="0">
                <a:solidFill>
                  <a:srgbClr val="C00000"/>
                </a:solidFill>
                <a:latin typeface="Consolas" panose="020B0609020204030204" pitchFamily="49" charset="0"/>
                <a:ea typeface="Courier"/>
                <a:cs typeface="Courier"/>
              </a:rPr>
              <a:t>,</a:t>
            </a:r>
            <a:r>
              <a:rPr lang="en-US" sz="2600" dirty="0">
                <a:solidFill>
                  <a:schemeClr val="accent1"/>
                </a:solidFill>
                <a:latin typeface="Consolas" panose="020B0609020204030204" pitchFamily="49" charset="0"/>
                <a:ea typeface="Courier"/>
                <a:cs typeface="Courier"/>
              </a:rPr>
              <a:t>     // "</a:t>
            </a:r>
            <a:r>
              <a:rPr lang="en-US" sz="2600" dirty="0" err="1">
                <a:solidFill>
                  <a:schemeClr val="accent1"/>
                </a:solidFill>
                <a:latin typeface="Consolas" panose="020B0609020204030204" pitchFamily="49" charset="0"/>
                <a:ea typeface="Courier"/>
                <a:cs typeface="Courier"/>
              </a:rPr>
              <a:t>www.example.com</a:t>
            </a:r>
            <a:r>
              <a:rPr lang="en-US" sz="2600" dirty="0">
                <a:solidFill>
                  <a:schemeClr val="accent1"/>
                </a:solidFill>
                <a:latin typeface="Consolas" panose="020B0609020204030204" pitchFamily="49" charset="0"/>
                <a:ea typeface="Courier"/>
                <a:cs typeface="Courier"/>
              </a:rPr>
              <a:t>" or IP</a:t>
            </a:r>
          </a:p>
          <a:p>
            <a:pPr marL="0" indent="0">
              <a:buNone/>
            </a:pPr>
            <a:r>
              <a:rPr lang="en-US" sz="2600" dirty="0">
                <a:solidFill>
                  <a:schemeClr val="accent1"/>
                </a:solidFill>
                <a:latin typeface="Consolas" panose="020B0609020204030204" pitchFamily="49" charset="0"/>
                <a:ea typeface="Courier"/>
                <a:cs typeface="Courier"/>
              </a:rPr>
              <a:t>                </a:t>
            </a:r>
            <a:r>
              <a:rPr lang="en-US" sz="2600" dirty="0" err="1">
                <a:solidFill>
                  <a:srgbClr val="C00000"/>
                </a:solidFill>
                <a:latin typeface="Consolas" panose="020B0609020204030204" pitchFamily="49" charset="0"/>
                <a:ea typeface="Courier"/>
                <a:cs typeface="Courier"/>
              </a:rPr>
              <a:t>const</a:t>
            </a:r>
            <a:r>
              <a:rPr lang="en-US" sz="2600" dirty="0">
                <a:solidFill>
                  <a:srgbClr val="C00000"/>
                </a:solidFill>
                <a:latin typeface="Consolas" panose="020B0609020204030204" pitchFamily="49" charset="0"/>
                <a:ea typeface="Courier"/>
                <a:cs typeface="Courier"/>
              </a:rPr>
              <a:t> char *</a:t>
            </a:r>
            <a:r>
              <a:rPr lang="en-US" sz="2600" dirty="0">
                <a:solidFill>
                  <a:schemeClr val="accent2"/>
                </a:solidFill>
                <a:latin typeface="Consolas" panose="020B0609020204030204" pitchFamily="49" charset="0"/>
                <a:ea typeface="Courier"/>
                <a:cs typeface="Courier"/>
              </a:rPr>
              <a:t>service</a:t>
            </a:r>
            <a:r>
              <a:rPr lang="en-US" sz="2600" dirty="0">
                <a:solidFill>
                  <a:srgbClr val="C00000"/>
                </a:solidFill>
                <a:latin typeface="Consolas" panose="020B0609020204030204" pitchFamily="49" charset="0"/>
                <a:ea typeface="Courier"/>
                <a:cs typeface="Courier"/>
              </a:rPr>
              <a:t>,</a:t>
            </a:r>
            <a:r>
              <a:rPr lang="en-US" sz="2600" dirty="0">
                <a:solidFill>
                  <a:schemeClr val="accent1"/>
                </a:solidFill>
                <a:latin typeface="Consolas" panose="020B0609020204030204" pitchFamily="49" charset="0"/>
                <a:ea typeface="Courier"/>
                <a:cs typeface="Courier"/>
              </a:rPr>
              <a:t>  // "http" or port #</a:t>
            </a:r>
          </a:p>
          <a:p>
            <a:pPr marL="0" indent="0">
              <a:buNone/>
            </a:pPr>
            <a:r>
              <a:rPr lang="en-US" sz="2600" dirty="0">
                <a:solidFill>
                  <a:schemeClr val="accent1"/>
                </a:solidFill>
                <a:latin typeface="Consolas" panose="020B0609020204030204" pitchFamily="49" charset="0"/>
                <a:ea typeface="Courier"/>
                <a:cs typeface="Courier"/>
              </a:rPr>
              <a:t>                </a:t>
            </a:r>
            <a:r>
              <a:rPr lang="en-US" sz="2600" dirty="0" err="1">
                <a:solidFill>
                  <a:srgbClr val="C00000"/>
                </a:solidFill>
                <a:latin typeface="Consolas" panose="020B0609020204030204" pitchFamily="49" charset="0"/>
                <a:ea typeface="Courier"/>
                <a:cs typeface="Courier"/>
              </a:rPr>
              <a:t>const</a:t>
            </a:r>
            <a:r>
              <a:rPr lang="en-US" sz="2600" dirty="0">
                <a:solidFill>
                  <a:srgbClr val="C00000"/>
                </a:solidFill>
                <a:latin typeface="Consolas" panose="020B0609020204030204" pitchFamily="49" charset="0"/>
                <a:ea typeface="Courier"/>
                <a:cs typeface="Courier"/>
              </a:rPr>
              <a:t> </a:t>
            </a:r>
            <a:r>
              <a:rPr lang="en-US" sz="2600" dirty="0" err="1">
                <a:solidFill>
                  <a:srgbClr val="C00000"/>
                </a:solidFill>
                <a:latin typeface="Consolas" panose="020B0609020204030204" pitchFamily="49" charset="0"/>
                <a:ea typeface="Courier"/>
                <a:cs typeface="Courier"/>
              </a:rPr>
              <a:t>struct</a:t>
            </a:r>
            <a:r>
              <a:rPr lang="en-US" sz="2600" dirty="0">
                <a:solidFill>
                  <a:srgbClr val="C00000"/>
                </a:solidFill>
                <a:latin typeface="Consolas" panose="020B0609020204030204" pitchFamily="49" charset="0"/>
                <a:ea typeface="Courier"/>
                <a:cs typeface="Courier"/>
              </a:rPr>
              <a:t> </a:t>
            </a:r>
            <a:r>
              <a:rPr lang="en-US" sz="2600" dirty="0" err="1">
                <a:solidFill>
                  <a:srgbClr val="C00000"/>
                </a:solidFill>
                <a:latin typeface="Consolas" panose="020B0609020204030204" pitchFamily="49" charset="0"/>
                <a:ea typeface="Courier"/>
                <a:cs typeface="Courier"/>
              </a:rPr>
              <a:t>addrinfo</a:t>
            </a:r>
            <a:r>
              <a:rPr lang="en-US" sz="2600" dirty="0">
                <a:solidFill>
                  <a:srgbClr val="C00000"/>
                </a:solidFill>
                <a:latin typeface="Consolas" panose="020B0609020204030204" pitchFamily="49" charset="0"/>
                <a:ea typeface="Courier"/>
                <a:cs typeface="Courier"/>
              </a:rPr>
              <a:t> *</a:t>
            </a:r>
            <a:r>
              <a:rPr lang="en-US" sz="2600" dirty="0">
                <a:solidFill>
                  <a:schemeClr val="accent2"/>
                </a:solidFill>
                <a:latin typeface="Consolas" panose="020B0609020204030204" pitchFamily="49" charset="0"/>
                <a:ea typeface="Courier"/>
                <a:cs typeface="Courier"/>
              </a:rPr>
              <a:t>hints</a:t>
            </a:r>
            <a:r>
              <a:rPr lang="en-US" sz="2600" dirty="0">
                <a:solidFill>
                  <a:schemeClr val="accent1"/>
                </a:solidFill>
                <a:latin typeface="Consolas" panose="020B0609020204030204" pitchFamily="49" charset="0"/>
                <a:ea typeface="Courier"/>
                <a:cs typeface="Courier"/>
              </a:rPr>
              <a:t>,</a:t>
            </a:r>
          </a:p>
          <a:p>
            <a:pPr marL="0" indent="0">
              <a:buNone/>
            </a:pPr>
            <a:r>
              <a:rPr lang="en-US" sz="2600" dirty="0">
                <a:solidFill>
                  <a:schemeClr val="accent1"/>
                </a:solidFill>
                <a:latin typeface="Consolas" panose="020B0609020204030204" pitchFamily="49" charset="0"/>
                <a:ea typeface="Courier"/>
                <a:cs typeface="Courier"/>
              </a:rPr>
              <a:t>                </a:t>
            </a:r>
            <a:r>
              <a:rPr lang="en-US" sz="2600" dirty="0" err="1">
                <a:solidFill>
                  <a:schemeClr val="accent1"/>
                </a:solidFill>
                <a:latin typeface="Consolas" panose="020B0609020204030204" pitchFamily="49" charset="0"/>
                <a:ea typeface="Courier"/>
                <a:cs typeface="Courier"/>
              </a:rPr>
              <a:t>struct</a:t>
            </a:r>
            <a:r>
              <a:rPr lang="en-US" sz="2600" dirty="0">
                <a:solidFill>
                  <a:schemeClr val="accent1"/>
                </a:solidFill>
                <a:latin typeface="Consolas" panose="020B0609020204030204" pitchFamily="49" charset="0"/>
                <a:ea typeface="Courier"/>
                <a:cs typeface="Courier"/>
              </a:rPr>
              <a:t> </a:t>
            </a:r>
            <a:r>
              <a:rPr lang="en-US" sz="2600" dirty="0" err="1">
                <a:solidFill>
                  <a:schemeClr val="accent1"/>
                </a:solidFill>
                <a:latin typeface="Consolas" panose="020B0609020204030204" pitchFamily="49" charset="0"/>
                <a:ea typeface="Courier"/>
                <a:cs typeface="Courier"/>
              </a:rPr>
              <a:t>addrinfo</a:t>
            </a:r>
            <a:r>
              <a:rPr lang="en-US" sz="2600" dirty="0">
                <a:solidFill>
                  <a:schemeClr val="accent1"/>
                </a:solidFill>
                <a:latin typeface="Consolas" panose="020B0609020204030204" pitchFamily="49" charset="0"/>
                <a:ea typeface="Courier"/>
                <a:cs typeface="Courier"/>
              </a:rPr>
              <a:t> **</a:t>
            </a:r>
            <a:r>
              <a:rPr lang="en-US" sz="2600" dirty="0">
                <a:solidFill>
                  <a:schemeClr val="accent2"/>
                </a:solidFill>
                <a:latin typeface="Consolas" panose="020B0609020204030204" pitchFamily="49" charset="0"/>
                <a:ea typeface="Courier"/>
                <a:cs typeface="Courier"/>
              </a:rPr>
              <a:t>res</a:t>
            </a:r>
            <a:r>
              <a:rPr lang="en-US" sz="2600" dirty="0">
                <a:solidFill>
                  <a:srgbClr val="C00000"/>
                </a:solidFill>
                <a:latin typeface="Consolas" panose="020B0609020204030204" pitchFamily="49" charset="0"/>
                <a:ea typeface="Courier"/>
                <a:cs typeface="Courier"/>
              </a:rPr>
              <a:t>);</a:t>
            </a:r>
          </a:p>
          <a:p>
            <a:r>
              <a:rPr lang="en-US" sz="2800" dirty="0"/>
              <a:t>This function finds </a:t>
            </a:r>
            <a:r>
              <a:rPr lang="en-US" sz="2800" dirty="0" err="1"/>
              <a:t>addrinfo</a:t>
            </a:r>
            <a:r>
              <a:rPr lang="en-US" sz="2800" dirty="0"/>
              <a:t> for you! </a:t>
            </a:r>
          </a:p>
          <a:p>
            <a:pPr lvl="1"/>
            <a:r>
              <a:rPr lang="en-US" sz="2800" dirty="0"/>
              <a:t>Provide you a linked-list, </a:t>
            </a:r>
            <a:r>
              <a:rPr lang="en-US" sz="2800" i="1" dirty="0">
                <a:solidFill>
                  <a:schemeClr val="accent2"/>
                </a:solidFill>
              </a:rPr>
              <a:t>res</a:t>
            </a:r>
            <a:r>
              <a:rPr lang="en-US" sz="2800" i="1" dirty="0"/>
              <a:t>.</a:t>
            </a:r>
            <a:r>
              <a:rPr lang="en-US" sz="2800" dirty="0"/>
              <a:t> A list of results! </a:t>
            </a:r>
          </a:p>
          <a:p>
            <a:r>
              <a:rPr lang="en-US" sz="2800" i="1" dirty="0">
                <a:solidFill>
                  <a:schemeClr val="accent2"/>
                </a:solidFill>
              </a:rPr>
              <a:t>node</a:t>
            </a:r>
            <a:r>
              <a:rPr lang="en-US" sz="2800" i="1" dirty="0"/>
              <a:t> </a:t>
            </a:r>
            <a:r>
              <a:rPr lang="en-US" sz="2800" dirty="0"/>
              <a:t>is the host name to connect to, or an IP address.</a:t>
            </a:r>
          </a:p>
          <a:p>
            <a:r>
              <a:rPr lang="en-US" sz="2800" i="1" dirty="0">
                <a:solidFill>
                  <a:schemeClr val="accent2"/>
                </a:solidFill>
              </a:rPr>
              <a:t>service</a:t>
            </a:r>
            <a:r>
              <a:rPr lang="en-US" sz="2800" dirty="0"/>
              <a:t> can be a port number, like “80”, or the name of a particular service  like “http” or “ftp” or “telnet” or “smtp”, etc. </a:t>
            </a:r>
          </a:p>
          <a:p>
            <a:r>
              <a:rPr lang="en-US" sz="2800" i="1" dirty="0">
                <a:solidFill>
                  <a:schemeClr val="accent2"/>
                </a:solidFill>
              </a:rPr>
              <a:t>hints</a:t>
            </a:r>
            <a:r>
              <a:rPr lang="en-US" sz="2800" i="1" dirty="0"/>
              <a:t> </a:t>
            </a:r>
            <a:r>
              <a:rPr lang="en-US" sz="2800" dirty="0"/>
              <a:t>points to a struct </a:t>
            </a:r>
            <a:r>
              <a:rPr lang="en-US" sz="2800" dirty="0" err="1"/>
              <a:t>addrinfo</a:t>
            </a:r>
            <a:r>
              <a:rPr lang="en-US" sz="2800" dirty="0"/>
              <a:t> that you've already filled out with relevant information. 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187E64-1542-42ED-AF57-E1FF4E8BFE7A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05876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B368A35-8E30-1430-A220-D9F7334A42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239" y="2242159"/>
            <a:ext cx="6605251" cy="657540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99C2AE-49BF-D9B7-967A-C725E5D6858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570373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Usage of </a:t>
            </a:r>
            <a:r>
              <a:rPr lang="en-US" dirty="0" err="1"/>
              <a:t>getaddrinfo</a:t>
            </a:r>
            <a:r>
              <a:rPr lang="en-US" dirty="0"/>
              <a:t>() for server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struct </a:t>
            </a:r>
            <a:r>
              <a:rPr lang="en-US" sz="2400" dirty="0" err="1">
                <a:latin typeface="Consolas" panose="020B0609020204030204" pitchFamily="49" charset="0"/>
              </a:rPr>
              <a:t>addrinfo</a:t>
            </a:r>
            <a:r>
              <a:rPr lang="en-US" sz="2400" dirty="0">
                <a:latin typeface="Consolas" panose="020B0609020204030204" pitchFamily="49" charset="0"/>
              </a:rPr>
              <a:t> hints, *</a:t>
            </a:r>
            <a:r>
              <a:rPr lang="en-US" sz="2400" dirty="0" err="1">
                <a:latin typeface="Consolas" panose="020B0609020204030204" pitchFamily="49" charset="0"/>
              </a:rPr>
              <a:t>servinfo</a:t>
            </a:r>
            <a:r>
              <a:rPr lang="en-US" sz="2400" dirty="0">
                <a:latin typeface="Consolas" panose="020B0609020204030204" pitchFamily="49" charset="0"/>
              </a:rPr>
              <a:t>; 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// res will point to the results</a:t>
            </a:r>
          </a:p>
          <a:p>
            <a:pPr marL="0" indent="0">
              <a:buNone/>
            </a:pPr>
            <a:endParaRPr lang="en-US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 err="1">
                <a:latin typeface="Consolas" panose="020B0609020204030204" pitchFamily="49" charset="0"/>
              </a:rPr>
              <a:t>memset</a:t>
            </a:r>
            <a:r>
              <a:rPr lang="en-US" sz="2400" dirty="0">
                <a:latin typeface="Consolas" panose="020B0609020204030204" pitchFamily="49" charset="0"/>
              </a:rPr>
              <a:t>(&amp;hints, 0, </a:t>
            </a:r>
            <a:r>
              <a:rPr lang="en-US" sz="2400" dirty="0" err="1">
                <a:latin typeface="Consolas" panose="020B0609020204030204" pitchFamily="49" charset="0"/>
              </a:rPr>
              <a:t>sizeof</a:t>
            </a:r>
            <a:r>
              <a:rPr lang="en-US" sz="2400" dirty="0">
                <a:latin typeface="Consolas" panose="020B0609020204030204" pitchFamily="49" charset="0"/>
              </a:rPr>
              <a:t> hints); 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// make sure the struct is empty</a:t>
            </a:r>
          </a:p>
          <a:p>
            <a:pPr marL="0" indent="0">
              <a:buNone/>
            </a:pPr>
            <a:r>
              <a:rPr lang="en-US" sz="2400" dirty="0" err="1">
                <a:latin typeface="Consolas" panose="020B0609020204030204" pitchFamily="49" charset="0"/>
              </a:rPr>
              <a:t>hints.ai_family</a:t>
            </a:r>
            <a:r>
              <a:rPr lang="en-US" sz="2400" dirty="0">
                <a:latin typeface="Consolas" panose="020B0609020204030204" pitchFamily="49" charset="0"/>
              </a:rPr>
              <a:t> = AF_UNSPEC;     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// don't care IPv4 or IPv6</a:t>
            </a:r>
          </a:p>
          <a:p>
            <a:pPr marL="0" indent="0">
              <a:buNone/>
            </a:pPr>
            <a:r>
              <a:rPr lang="en-US" sz="2400" dirty="0" err="1">
                <a:latin typeface="Consolas" panose="020B0609020204030204" pitchFamily="49" charset="0"/>
              </a:rPr>
              <a:t>hints.ai_socktype</a:t>
            </a:r>
            <a:r>
              <a:rPr lang="en-US" sz="2400" dirty="0">
                <a:latin typeface="Consolas" panose="020B0609020204030204" pitchFamily="49" charset="0"/>
              </a:rPr>
              <a:t> = SOCK_STREAM; 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// TCP stream sockets</a:t>
            </a:r>
          </a:p>
          <a:p>
            <a:pPr marL="0" indent="0">
              <a:buNone/>
            </a:pPr>
            <a:r>
              <a:rPr lang="en-US" sz="2400" dirty="0" err="1">
                <a:latin typeface="Consolas" panose="020B0609020204030204" pitchFamily="49" charset="0"/>
              </a:rPr>
              <a:t>hints.ai_flags</a:t>
            </a:r>
            <a:r>
              <a:rPr lang="en-US" sz="2400" dirty="0">
                <a:latin typeface="Consolas" panose="020B0609020204030204" pitchFamily="49" charset="0"/>
              </a:rPr>
              <a:t> = AI_PASSIVE;     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// fill in my IP for me</a:t>
            </a:r>
          </a:p>
          <a:p>
            <a:pPr marL="0" indent="0">
              <a:buNone/>
            </a:pPr>
            <a:endParaRPr lang="en-US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if (</a:t>
            </a:r>
            <a:r>
              <a:rPr lang="en-US" sz="2400" dirty="0" err="1">
                <a:latin typeface="Consolas" panose="020B0609020204030204" pitchFamily="49" charset="0"/>
              </a:rPr>
              <a:t>getaddrinfo</a:t>
            </a:r>
            <a:r>
              <a:rPr lang="en-US" sz="2400" dirty="0">
                <a:latin typeface="Consolas" panose="020B0609020204030204" pitchFamily="49" charset="0"/>
              </a:rPr>
              <a:t>(NULL, "3490", &amp;hints, </a:t>
            </a:r>
            <a:r>
              <a:rPr lang="en-US" sz="2400" dirty="0">
                <a:solidFill>
                  <a:schemeClr val="accent2"/>
                </a:solidFill>
                <a:latin typeface="Consolas" panose="020B0609020204030204" pitchFamily="49" charset="0"/>
              </a:rPr>
              <a:t>&amp;</a:t>
            </a:r>
            <a:r>
              <a:rPr lang="en-US" sz="2400" dirty="0" err="1">
                <a:solidFill>
                  <a:schemeClr val="accent2"/>
                </a:solidFill>
                <a:latin typeface="Consolas" panose="020B0609020204030204" pitchFamily="49" charset="0"/>
              </a:rPr>
              <a:t>servinfo</a:t>
            </a:r>
            <a:r>
              <a:rPr lang="en-US" sz="2400" dirty="0">
                <a:latin typeface="Consolas" panose="020B0609020204030204" pitchFamily="49" charset="0"/>
              </a:rPr>
              <a:t>) != 0)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    die("Error");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  <a:ea typeface="Courier"/>
                <a:cs typeface="Courier"/>
              </a:rPr>
              <a:t>// </a:t>
            </a:r>
            <a:r>
              <a:rPr lang="en-US" sz="2400" dirty="0" err="1">
                <a:solidFill>
                  <a:schemeClr val="accent1"/>
                </a:solidFill>
                <a:latin typeface="Consolas" panose="020B0609020204030204" pitchFamily="49" charset="0"/>
                <a:ea typeface="Courier"/>
                <a:cs typeface="Courier"/>
              </a:rPr>
              <a:t>servinfo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  <a:ea typeface="Courier"/>
                <a:cs typeface="Courier"/>
              </a:rPr>
              <a:t> now points to a linked list of 1 or more struct </a:t>
            </a:r>
            <a:r>
              <a:rPr lang="en-US" sz="2400" dirty="0" err="1">
                <a:solidFill>
                  <a:schemeClr val="accent1"/>
                </a:solidFill>
                <a:latin typeface="Consolas" panose="020B0609020204030204" pitchFamily="49" charset="0"/>
                <a:ea typeface="Courier"/>
                <a:cs typeface="Courier"/>
              </a:rPr>
              <a:t>addrinfos</a:t>
            </a:r>
            <a:endParaRPr lang="en-US" sz="2400" dirty="0">
              <a:solidFill>
                <a:schemeClr val="accent1"/>
              </a:solidFill>
              <a:latin typeface="Consolas" panose="020B0609020204030204" pitchFamily="49" charset="0"/>
              <a:ea typeface="Courier"/>
              <a:cs typeface="Courier"/>
            </a:endParaRPr>
          </a:p>
          <a:p>
            <a:pPr marL="0" indent="0">
              <a:buNone/>
            </a:pPr>
            <a:endParaRPr lang="en-US" sz="2400" dirty="0">
              <a:solidFill>
                <a:schemeClr val="accent1"/>
              </a:solidFill>
              <a:latin typeface="Consolas" panose="020B0609020204030204" pitchFamily="49" charset="0"/>
              <a:ea typeface="Courier"/>
              <a:cs typeface="Courier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  <a:ea typeface="Courier"/>
                <a:cs typeface="Courier"/>
              </a:rPr>
              <a:t>// continue on the next page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E6CB67-67D8-4F07-B234-D5C28C4E9A1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447307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B2F3A-F922-49B5-B4BC-308E1425A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Now, let us create socket and then bind!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CC9C96-2C96-4A8F-8705-5D84CEAB3C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int </a:t>
            </a:r>
            <a:r>
              <a:rPr lang="en-US" sz="2400" dirty="0" err="1">
                <a:latin typeface="Consolas" panose="020B0609020204030204" pitchFamily="49" charset="0"/>
              </a:rPr>
              <a:t>sockfd</a:t>
            </a:r>
            <a:r>
              <a:rPr lang="en-US" sz="2400" dirty="0">
                <a:latin typeface="Consolas" panose="020B0609020204030204" pitchFamily="49" charset="0"/>
              </a:rPr>
              <a:t>, yes = 1;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struct </a:t>
            </a:r>
            <a:r>
              <a:rPr lang="en-US" sz="2400" dirty="0" err="1">
                <a:latin typeface="Consolas" panose="020B0609020204030204" pitchFamily="49" charset="0"/>
              </a:rPr>
              <a:t>addrinfo</a:t>
            </a:r>
            <a:r>
              <a:rPr lang="en-US" sz="2400" dirty="0">
                <a:latin typeface="Consolas" panose="020B0609020204030204" pitchFamily="49" charset="0"/>
              </a:rPr>
              <a:t> *p;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// use socket(); </a:t>
            </a:r>
            <a:r>
              <a:rPr lang="en-US" sz="2400" dirty="0" err="1">
                <a:solidFill>
                  <a:schemeClr val="accent1"/>
                </a:solidFill>
                <a:latin typeface="Consolas" panose="020B0609020204030204" pitchFamily="49" charset="0"/>
              </a:rPr>
              <a:t>setsockopt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(); bind(); to try each address on the list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// continue if any of them fails. Check return values!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/>
                </a:solidFill>
                <a:latin typeface="Consolas" panose="020B0609020204030204" pitchFamily="49" charset="0"/>
              </a:rPr>
              <a:t>for (p = </a:t>
            </a:r>
            <a:r>
              <a:rPr lang="en-US" sz="2400" dirty="0" err="1">
                <a:solidFill>
                  <a:schemeClr val="accent6"/>
                </a:solidFill>
                <a:latin typeface="Consolas" panose="020B0609020204030204" pitchFamily="49" charset="0"/>
              </a:rPr>
              <a:t>servinfo</a:t>
            </a:r>
            <a:r>
              <a:rPr lang="en-US" sz="2400" dirty="0">
                <a:solidFill>
                  <a:schemeClr val="accent6"/>
                </a:solidFill>
                <a:latin typeface="Consolas" panose="020B0609020204030204" pitchFamily="49" charset="0"/>
              </a:rPr>
              <a:t>; p != NULL; p = p-&gt;</a:t>
            </a:r>
            <a:r>
              <a:rPr lang="en-US" sz="2400" dirty="0" err="1">
                <a:solidFill>
                  <a:schemeClr val="accent6"/>
                </a:solidFill>
                <a:latin typeface="Consolas" panose="020B0609020204030204" pitchFamily="49" charset="0"/>
              </a:rPr>
              <a:t>ai_next</a:t>
            </a:r>
            <a:r>
              <a:rPr lang="en-US" sz="2400" dirty="0">
                <a:solidFill>
                  <a:schemeClr val="accent6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sz="2400" dirty="0" err="1">
                <a:latin typeface="Consolas" panose="020B0609020204030204" pitchFamily="49" charset="0"/>
              </a:rPr>
              <a:t>sockfd</a:t>
            </a:r>
            <a:r>
              <a:rPr lang="en-US" sz="2400" dirty="0">
                <a:latin typeface="Consolas" panose="020B0609020204030204" pitchFamily="49" charset="0"/>
              </a:rPr>
              <a:t> = socket(p-&gt;</a:t>
            </a:r>
            <a:r>
              <a:rPr lang="en-US" sz="2400" dirty="0" err="1">
                <a:latin typeface="Consolas" panose="020B0609020204030204" pitchFamily="49" charset="0"/>
              </a:rPr>
              <a:t>ai_family</a:t>
            </a:r>
            <a:r>
              <a:rPr lang="en-US" sz="2400" dirty="0">
                <a:latin typeface="Consolas" panose="020B0609020204030204" pitchFamily="49" charset="0"/>
              </a:rPr>
              <a:t>, p-&gt;</a:t>
            </a:r>
            <a:r>
              <a:rPr lang="en-US" sz="2400" dirty="0" err="1">
                <a:latin typeface="Consolas" panose="020B0609020204030204" pitchFamily="49" charset="0"/>
              </a:rPr>
              <a:t>ai_socktype</a:t>
            </a:r>
            <a:r>
              <a:rPr lang="en-US" sz="2400" dirty="0">
                <a:latin typeface="Consolas" panose="020B0609020204030204" pitchFamily="49" charset="0"/>
              </a:rPr>
              <a:t>, p-&gt;</a:t>
            </a:r>
            <a:r>
              <a:rPr lang="en-US" sz="2400" dirty="0" err="1">
                <a:latin typeface="Consolas" panose="020B0609020204030204" pitchFamily="49" charset="0"/>
              </a:rPr>
              <a:t>ai_protocol</a:t>
            </a:r>
            <a:r>
              <a:rPr lang="en-US" sz="24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400" dirty="0" err="1">
                <a:latin typeface="Consolas" panose="020B0609020204030204" pitchFamily="49" charset="0"/>
              </a:rPr>
              <a:t>setsockopt</a:t>
            </a:r>
            <a:r>
              <a:rPr lang="en-US" sz="2400" dirty="0">
                <a:latin typeface="Consolas" panose="020B0609020204030204" pitchFamily="49" charset="0"/>
              </a:rPr>
              <a:t>(</a:t>
            </a:r>
            <a:r>
              <a:rPr lang="en-US" sz="2400" dirty="0" err="1">
                <a:latin typeface="Consolas" panose="020B0609020204030204" pitchFamily="49" charset="0"/>
              </a:rPr>
              <a:t>sockfd</a:t>
            </a:r>
            <a:r>
              <a:rPr lang="en-US" sz="2400" dirty="0">
                <a:latin typeface="Consolas" panose="020B0609020204030204" pitchFamily="49" charset="0"/>
              </a:rPr>
              <a:t>, SOL_SOCKET, SO_REUSEADDR, &amp;yes, </a:t>
            </a:r>
            <a:r>
              <a:rPr lang="en-US" sz="2400" dirty="0" err="1">
                <a:latin typeface="Consolas" panose="020B0609020204030204" pitchFamily="49" charset="0"/>
              </a:rPr>
              <a:t>sizeof</a:t>
            </a:r>
            <a:r>
              <a:rPr lang="en-US" sz="2400" dirty="0">
                <a:latin typeface="Consolas" panose="020B0609020204030204" pitchFamily="49" charset="0"/>
              </a:rPr>
              <a:t>(int));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// bind it to the port we passed in to </a:t>
            </a:r>
            <a:r>
              <a:rPr lang="en-US" sz="2400" dirty="0" err="1">
                <a:solidFill>
                  <a:schemeClr val="accent1"/>
                </a:solidFill>
                <a:latin typeface="Consolas" panose="020B0609020204030204" pitchFamily="49" charset="0"/>
              </a:rPr>
              <a:t>getaddrinfo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():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bind(</a:t>
            </a:r>
            <a:r>
              <a:rPr lang="en-US" sz="2400" dirty="0" err="1">
                <a:latin typeface="Consolas" panose="020B0609020204030204" pitchFamily="49" charset="0"/>
              </a:rPr>
              <a:t>sockfd</a:t>
            </a:r>
            <a:r>
              <a:rPr lang="en-US" sz="2400" dirty="0">
                <a:latin typeface="Consolas" panose="020B0609020204030204" pitchFamily="49" charset="0"/>
              </a:rPr>
              <a:t>, p-&gt;</a:t>
            </a:r>
            <a:r>
              <a:rPr lang="en-US" sz="2400" dirty="0" err="1">
                <a:latin typeface="Consolas" panose="020B0609020204030204" pitchFamily="49" charset="0"/>
              </a:rPr>
              <a:t>ai_addr</a:t>
            </a:r>
            <a:r>
              <a:rPr lang="en-US" sz="2400" dirty="0">
                <a:latin typeface="Consolas" panose="020B0609020204030204" pitchFamily="49" charset="0"/>
              </a:rPr>
              <a:t>, p-&gt;</a:t>
            </a:r>
            <a:r>
              <a:rPr lang="en-US" sz="2400" dirty="0" err="1">
                <a:latin typeface="Consolas" panose="020B0609020204030204" pitchFamily="49" charset="0"/>
              </a:rPr>
              <a:t>ai_addrlen</a:t>
            </a:r>
            <a:r>
              <a:rPr lang="en-US" sz="24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break; 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// we have an usable address, stop trying</a:t>
            </a:r>
            <a:endParaRPr lang="en-US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2400" dirty="0" err="1">
                <a:solidFill>
                  <a:schemeClr val="accent2"/>
                </a:solidFill>
                <a:latin typeface="Consolas" panose="020B0609020204030204" pitchFamily="49" charset="0"/>
                <a:ea typeface="Courier"/>
                <a:cs typeface="Courier"/>
              </a:rPr>
              <a:t>freeaddrinfo</a:t>
            </a:r>
            <a:r>
              <a:rPr lang="en-US" sz="2400" dirty="0">
                <a:solidFill>
                  <a:schemeClr val="accent2"/>
                </a:solidFill>
                <a:latin typeface="Consolas" panose="020B0609020204030204" pitchFamily="49" charset="0"/>
                <a:ea typeface="Courier"/>
                <a:cs typeface="Courier"/>
              </a:rPr>
              <a:t>(</a:t>
            </a:r>
            <a:r>
              <a:rPr lang="en-US" sz="2400" dirty="0" err="1">
                <a:solidFill>
                  <a:schemeClr val="accent2"/>
                </a:solidFill>
                <a:latin typeface="Consolas" panose="020B0609020204030204" pitchFamily="49" charset="0"/>
                <a:ea typeface="Courier"/>
                <a:cs typeface="Courier"/>
              </a:rPr>
              <a:t>servinfo</a:t>
            </a:r>
            <a:r>
              <a:rPr lang="en-US" sz="2400" dirty="0">
                <a:solidFill>
                  <a:schemeClr val="accent2"/>
                </a:solidFill>
                <a:latin typeface="Consolas" panose="020B0609020204030204" pitchFamily="49" charset="0"/>
                <a:ea typeface="Courier"/>
                <a:cs typeface="Courier"/>
              </a:rPr>
              <a:t>);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ea typeface="Courier"/>
                <a:cs typeface="Courier"/>
              </a:rPr>
              <a:t> 			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  <a:ea typeface="Courier"/>
                <a:cs typeface="Courier"/>
              </a:rPr>
              <a:t>// free the linked-list</a:t>
            </a:r>
            <a:endParaRPr lang="en-US" sz="2400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A86EAC-AAAE-4A5F-B359-AF40E53E4972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552484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Server-Side Example 2/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After bind()</a:t>
            </a:r>
            <a:endParaRPr dirty="0"/>
          </a:p>
        </p:txBody>
      </p:sp>
      <p:sp>
        <p:nvSpPr>
          <p:cNvPr id="364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365" name="Seal 3 SPOT281.jpg" descr="Seal 3 SPOT281.jpg"/>
          <p:cNvPicPr>
            <a:picLocks noChangeAspect="1"/>
          </p:cNvPicPr>
          <p:nvPr/>
        </p:nvPicPr>
        <p:blipFill>
          <a:blip r:embed="rId3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67" name="int main(int argc,char* argv[]) {…"/>
          <p:cNvSpPr txBox="1"/>
          <p:nvPr/>
        </p:nvSpPr>
        <p:spPr>
          <a:xfrm>
            <a:off x="306376" y="2130247"/>
            <a:ext cx="12392047" cy="6996787"/>
          </a:xfrm>
          <a:prstGeom prst="rect">
            <a:avLst/>
          </a:prstGeom>
          <a:solidFill>
            <a:srgbClr val="EEE9D4"/>
          </a:solidFill>
          <a:ln w="12700">
            <a:miter lim="400000"/>
          </a:ln>
          <a:effectLst>
            <a:outerShdw blurRad="177800" dist="1397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 defTabSz="457200">
              <a:defRPr sz="2400">
                <a:solidFill>
                  <a:srgbClr val="A4B0B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800" dirty="0">
                <a:solidFill>
                  <a:schemeClr val="accent1"/>
                </a:solidFill>
                <a:latin typeface="Consolas" panose="020B0609020204030204" pitchFamily="49" charset="0"/>
              </a:rPr>
              <a:t>	// listen on that socket for "Let's talk" message.</a:t>
            </a:r>
          </a:p>
          <a:p>
            <a:pPr algn="l" defTabSz="457200">
              <a:defRPr sz="2400">
                <a:solidFill>
                  <a:srgbClr val="788E95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800" dirty="0">
                <a:latin typeface="Consolas" panose="020B0609020204030204" pitchFamily="49" charset="0"/>
              </a:rPr>
              <a:t>	status</a:t>
            </a:r>
            <a:r>
              <a:rPr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sz="2800" dirty="0">
                <a:solidFill>
                  <a:srgbClr val="6A8188"/>
                </a:solidFill>
                <a:latin typeface="Consolas" panose="020B0609020204030204" pitchFamily="49" charset="0"/>
              </a:rPr>
              <a:t>=</a:t>
            </a:r>
            <a:r>
              <a:rPr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sz="2800" dirty="0">
                <a:solidFill>
                  <a:schemeClr val="accent5"/>
                </a:solidFill>
                <a:latin typeface="Consolas" panose="020B0609020204030204" pitchFamily="49" charset="0"/>
              </a:rPr>
              <a:t>listen</a:t>
            </a:r>
            <a:r>
              <a:rPr sz="2800" dirty="0">
                <a:solidFill>
                  <a:srgbClr val="6A8188"/>
                </a:solidFill>
                <a:latin typeface="Consolas" panose="020B0609020204030204" pitchFamily="49" charset="0"/>
              </a:rPr>
              <a:t>(</a:t>
            </a:r>
            <a:r>
              <a:rPr sz="2800" dirty="0" err="1">
                <a:latin typeface="Consolas" panose="020B0609020204030204" pitchFamily="49" charset="0"/>
              </a:rPr>
              <a:t>s</a:t>
            </a:r>
            <a:r>
              <a:rPr lang="en-US" sz="2800" dirty="0" err="1">
                <a:latin typeface="Consolas" panose="020B0609020204030204" pitchFamily="49" charset="0"/>
              </a:rPr>
              <a:t>ockfd</a:t>
            </a:r>
            <a:r>
              <a:rPr sz="2800" dirty="0">
                <a:solidFill>
                  <a:srgbClr val="6A8188"/>
                </a:solidFill>
                <a:latin typeface="Consolas" panose="020B0609020204030204" pitchFamily="49" charset="0"/>
              </a:rPr>
              <a:t>,</a:t>
            </a:r>
            <a:r>
              <a:rPr lang="en-US" sz="2800" dirty="0">
                <a:solidFill>
                  <a:srgbClr val="6A8188"/>
                </a:solidFill>
                <a:latin typeface="Consolas" panose="020B0609020204030204" pitchFamily="49" charset="0"/>
              </a:rPr>
              <a:t> </a:t>
            </a:r>
            <a:r>
              <a:rPr sz="2800" dirty="0">
                <a:solidFill>
                  <a:srgbClr val="788E95"/>
                </a:solidFill>
                <a:latin typeface="Consolas" panose="020B0609020204030204" pitchFamily="49" charset="0"/>
                <a:ea typeface="Courier"/>
                <a:cs typeface="Courier"/>
              </a:rPr>
              <a:t>10</a:t>
            </a:r>
            <a:r>
              <a:rPr sz="2800" dirty="0">
                <a:solidFill>
                  <a:srgbClr val="6A8188"/>
                </a:solidFill>
                <a:latin typeface="Consolas" panose="020B0609020204030204" pitchFamily="49" charset="0"/>
              </a:rPr>
              <a:t>);</a:t>
            </a:r>
            <a:endParaRPr lang="en-US" sz="2800" dirty="0">
              <a:solidFill>
                <a:srgbClr val="6A8188"/>
              </a:solidFill>
              <a:latin typeface="Consolas" panose="020B0609020204030204" pitchFamily="49" charset="0"/>
            </a:endParaRPr>
          </a:p>
          <a:p>
            <a:pPr algn="l" defTabSz="457200">
              <a:defRPr sz="2400">
                <a:solidFill>
                  <a:srgbClr val="6A818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sz="2800" dirty="0" err="1">
                <a:latin typeface="Consolas" panose="020B0609020204030204" pitchFamily="49" charset="0"/>
              </a:rPr>
              <a:t>checkError</a:t>
            </a:r>
            <a:r>
              <a:rPr sz="2800" dirty="0">
                <a:latin typeface="Consolas" panose="020B0609020204030204" pitchFamily="49" charset="0"/>
              </a:rPr>
              <a:t>(</a:t>
            </a:r>
            <a:r>
              <a:rPr sz="2800" dirty="0">
                <a:solidFill>
                  <a:srgbClr val="788E95"/>
                </a:solidFill>
                <a:latin typeface="Consolas" panose="020B0609020204030204" pitchFamily="49" charset="0"/>
              </a:rPr>
              <a:t>status</a:t>
            </a:r>
            <a:r>
              <a:rPr sz="2800" dirty="0">
                <a:latin typeface="Consolas" panose="020B0609020204030204" pitchFamily="49" charset="0"/>
              </a:rPr>
              <a:t>);</a:t>
            </a:r>
            <a:endParaRPr lang="en-US" sz="2800" dirty="0">
              <a:latin typeface="Consolas" panose="020B0609020204030204" pitchFamily="49" charset="0"/>
            </a:endParaRPr>
          </a:p>
          <a:p>
            <a:pPr algn="l" defTabSz="457200">
              <a:defRPr sz="2400">
                <a:solidFill>
                  <a:srgbClr val="6A818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chemeClr val="accent1"/>
                </a:solidFill>
                <a:latin typeface="Consolas" panose="020B0609020204030204" pitchFamily="49" charset="0"/>
              </a:rPr>
              <a:t>  // client's address information, if you are interested in</a:t>
            </a:r>
          </a:p>
          <a:p>
            <a:pPr algn="l" defTabSz="457200">
              <a:defRPr sz="2400">
                <a:solidFill>
                  <a:srgbClr val="6A818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latin typeface="Consolas" panose="020B0609020204030204" pitchFamily="49" charset="0"/>
              </a:rPr>
              <a:t>  </a:t>
            </a:r>
            <a:r>
              <a:rPr lang="en-US" sz="2800" dirty="0">
                <a:solidFill>
                  <a:srgbClr val="96A700"/>
                </a:solidFill>
                <a:latin typeface="Consolas" panose="020B0609020204030204" pitchFamily="49" charset="0"/>
              </a:rPr>
              <a:t>struct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sockaddr_storage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client_addr</a:t>
            </a:r>
            <a:r>
              <a:rPr lang="en-US" sz="2800" dirty="0">
                <a:latin typeface="Consolas" panose="020B0609020204030204" pitchFamily="49" charset="0"/>
              </a:rPr>
              <a:t>; </a:t>
            </a:r>
          </a:p>
          <a:p>
            <a:pPr algn="l" defTabSz="457200">
              <a:defRPr sz="2400">
                <a:solidFill>
                  <a:srgbClr val="D7601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latin typeface="Consolas" panose="020B0609020204030204" pitchFamily="49" charset="0"/>
              </a:rPr>
              <a:t>	</a:t>
            </a:r>
            <a:r>
              <a:rPr lang="en-US" sz="2800" dirty="0">
                <a:solidFill>
                  <a:srgbClr val="788E95"/>
                </a:solidFill>
                <a:latin typeface="Consolas" panose="020B0609020204030204" pitchFamily="49" charset="0"/>
              </a:rPr>
              <a:t>while(1)</a:t>
            </a:r>
            <a:r>
              <a:rPr lang="en-US" sz="2800" dirty="0">
                <a:solidFill>
                  <a:srgbClr val="6A8188"/>
                </a:solidFill>
                <a:latin typeface="Consolas" panose="020B0609020204030204" pitchFamily="49" charset="0"/>
              </a:rPr>
              <a:t> {</a:t>
            </a:r>
            <a:endParaRPr lang="en-US" sz="2800" dirty="0">
              <a:latin typeface="Consolas" panose="020B0609020204030204" pitchFamily="49" charset="0"/>
            </a:endParaRPr>
          </a:p>
          <a:p>
            <a:pPr algn="l" defTabSz="457200">
              <a:defRPr sz="2400">
                <a:solidFill>
                  <a:srgbClr val="788E95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latin typeface="Consolas" panose="020B0609020204030204" pitchFamily="49" charset="0"/>
              </a:rPr>
              <a:t>		</a:t>
            </a:r>
            <a:r>
              <a:rPr lang="en-US" sz="2800" dirty="0" err="1">
                <a:latin typeface="Consolas" panose="020B0609020204030204" pitchFamily="49" charset="0"/>
              </a:rPr>
              <a:t>socklen_t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clientSize</a:t>
            </a:r>
            <a:r>
              <a:rPr lang="en-US" sz="2800" dirty="0">
                <a:latin typeface="Consolas" panose="020B0609020204030204" pitchFamily="49" charset="0"/>
              </a:rPr>
              <a:t> = </a:t>
            </a:r>
            <a:r>
              <a:rPr lang="en-US" sz="2800" dirty="0" err="1">
                <a:latin typeface="Consolas" panose="020B0609020204030204" pitchFamily="49" charset="0"/>
              </a:rPr>
              <a:t>sizeof</a:t>
            </a:r>
            <a:r>
              <a:rPr lang="en-US" sz="2800" dirty="0">
                <a:latin typeface="Consolas" panose="020B0609020204030204" pitchFamily="49" charset="0"/>
              </a:rPr>
              <a:t>(</a:t>
            </a:r>
            <a:r>
              <a:rPr lang="en-US" sz="2800" dirty="0" err="1">
                <a:latin typeface="Consolas" panose="020B0609020204030204" pitchFamily="49" charset="0"/>
              </a:rPr>
              <a:t>client_addr</a:t>
            </a:r>
            <a:r>
              <a:rPr lang="en-US" sz="2800" dirty="0">
                <a:latin typeface="Consolas" panose="020B0609020204030204" pitchFamily="49" charset="0"/>
              </a:rPr>
              <a:t>)</a:t>
            </a:r>
            <a:r>
              <a:rPr lang="en-US" sz="2800" dirty="0">
                <a:solidFill>
                  <a:srgbClr val="6A8188"/>
                </a:solidFill>
                <a:latin typeface="Consolas" panose="020B0609020204030204" pitchFamily="49" charset="0"/>
              </a:rPr>
              <a:t>;</a:t>
            </a:r>
          </a:p>
          <a:p>
            <a:pPr algn="l" defTabSz="457200">
              <a:defRPr sz="2400">
                <a:solidFill>
                  <a:srgbClr val="788E95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chemeClr val="accent1"/>
                </a:solidFill>
                <a:latin typeface="Consolas" panose="020B0609020204030204" pitchFamily="49" charset="0"/>
              </a:rPr>
              <a:t>		// A new socket file descriptor is returned for chatting</a:t>
            </a:r>
          </a:p>
          <a:p>
            <a:pPr algn="l" defTabSz="457200">
              <a:defRPr sz="2400">
                <a:solidFill>
                  <a:srgbClr val="788E95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latin typeface="Consolas" panose="020B0609020204030204" pitchFamily="49" charset="0"/>
              </a:rPr>
              <a:t>		</a:t>
            </a:r>
            <a:r>
              <a:rPr lang="en-US" sz="2800" dirty="0">
                <a:solidFill>
                  <a:srgbClr val="96A700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chatSocket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6A8188"/>
                </a:solidFill>
                <a:latin typeface="Consolas" panose="020B0609020204030204" pitchFamily="49" charset="0"/>
              </a:rPr>
              <a:t>=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accept</a:t>
            </a:r>
            <a:r>
              <a:rPr lang="en-US" sz="2800" dirty="0">
                <a:solidFill>
                  <a:srgbClr val="6A8188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 err="1">
                <a:latin typeface="Consolas" panose="020B0609020204030204" pitchFamily="49" charset="0"/>
              </a:rPr>
              <a:t>sockfd</a:t>
            </a:r>
            <a:r>
              <a:rPr lang="en-US" sz="2800" dirty="0">
                <a:solidFill>
                  <a:srgbClr val="6A8188"/>
                </a:solidFill>
                <a:latin typeface="Consolas" panose="020B0609020204030204" pitchFamily="49" charset="0"/>
              </a:rPr>
              <a:t>,</a:t>
            </a:r>
          </a:p>
          <a:p>
            <a:pPr algn="l" defTabSz="457200">
              <a:defRPr sz="2400">
                <a:solidFill>
                  <a:srgbClr val="788E95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rgbClr val="6A8188"/>
                </a:solidFill>
                <a:latin typeface="Consolas" panose="020B0609020204030204" pitchFamily="49" charset="0"/>
              </a:rPr>
              <a:t>											 (</a:t>
            </a:r>
            <a:r>
              <a:rPr lang="en-US" sz="2800" dirty="0">
                <a:solidFill>
                  <a:srgbClr val="96A700"/>
                </a:solidFill>
                <a:latin typeface="Consolas" panose="020B0609020204030204" pitchFamily="49" charset="0"/>
              </a:rPr>
              <a:t>struct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sockaddr</a:t>
            </a:r>
            <a:r>
              <a:rPr lang="en-US" sz="2800" dirty="0">
                <a:solidFill>
                  <a:srgbClr val="6A8188"/>
                </a:solidFill>
                <a:latin typeface="Consolas" panose="020B0609020204030204" pitchFamily="49" charset="0"/>
              </a:rPr>
              <a:t>*)&amp;</a:t>
            </a:r>
            <a:r>
              <a:rPr lang="en-US" sz="2800" dirty="0" err="1">
                <a:latin typeface="Consolas" panose="020B0609020204030204" pitchFamily="49" charset="0"/>
              </a:rPr>
              <a:t>client_addr</a:t>
            </a:r>
            <a:r>
              <a:rPr lang="en-US" sz="2800" dirty="0">
                <a:solidFill>
                  <a:srgbClr val="6A8188"/>
                </a:solidFill>
                <a:latin typeface="Consolas" panose="020B0609020204030204" pitchFamily="49" charset="0"/>
              </a:rPr>
              <a:t>,</a:t>
            </a:r>
          </a:p>
          <a:p>
            <a:pPr algn="l" defTabSz="457200">
              <a:defRPr sz="2400">
                <a:solidFill>
                  <a:srgbClr val="788E95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rgbClr val="6A8188"/>
                </a:solidFill>
                <a:latin typeface="Consolas" panose="020B0609020204030204" pitchFamily="49" charset="0"/>
              </a:rPr>
              <a:t>											 &amp;</a:t>
            </a:r>
            <a:r>
              <a:rPr lang="en-US" sz="2800" dirty="0" err="1">
                <a:latin typeface="Consolas" panose="020B0609020204030204" pitchFamily="49" charset="0"/>
              </a:rPr>
              <a:t>clientSize</a:t>
            </a:r>
            <a:r>
              <a:rPr lang="en-US" sz="2800" dirty="0">
                <a:solidFill>
                  <a:srgbClr val="6A8188"/>
                </a:solidFill>
                <a:latin typeface="Consolas" panose="020B0609020204030204" pitchFamily="49" charset="0"/>
              </a:rPr>
              <a:t>);</a:t>
            </a:r>
          </a:p>
          <a:p>
            <a:pPr algn="l" defTabSz="457200">
              <a:defRPr sz="2400">
                <a:solidFill>
                  <a:srgbClr val="6A818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latin typeface="Consolas" panose="020B0609020204030204" pitchFamily="49" charset="0"/>
              </a:rPr>
              <a:t>		</a:t>
            </a:r>
            <a:r>
              <a:rPr lang="en-US" sz="2800" dirty="0" err="1">
                <a:latin typeface="Consolas" panose="020B0609020204030204" pitchFamily="49" charset="0"/>
              </a:rPr>
              <a:t>checkError</a:t>
            </a:r>
            <a:r>
              <a:rPr lang="en-US" sz="2800" dirty="0">
                <a:latin typeface="Consolas" panose="020B0609020204030204" pitchFamily="49" charset="0"/>
              </a:rPr>
              <a:t>(</a:t>
            </a:r>
            <a:r>
              <a:rPr lang="en-US" sz="2800" dirty="0" err="1">
                <a:solidFill>
                  <a:srgbClr val="788E95"/>
                </a:solidFill>
                <a:latin typeface="Consolas" panose="020B0609020204030204" pitchFamily="49" charset="0"/>
              </a:rPr>
              <a:t>chatSocket</a:t>
            </a:r>
            <a:r>
              <a:rPr lang="en-US" sz="2800" dirty="0">
                <a:latin typeface="Consolas" panose="020B0609020204030204" pitchFamily="49" charset="0"/>
              </a:rPr>
              <a:t>);</a:t>
            </a:r>
          </a:p>
          <a:p>
            <a:pPr algn="l" defTabSz="457200">
              <a:defRPr sz="2400">
                <a:solidFill>
                  <a:srgbClr val="6A818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chemeClr val="accent1"/>
                </a:solidFill>
                <a:latin typeface="Consolas" panose="020B0609020204030204" pitchFamily="49" charset="0"/>
              </a:rPr>
              <a:t>		// See demo code on how to display client address</a:t>
            </a:r>
          </a:p>
          <a:p>
            <a:pPr algn="l" defTabSz="457200"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latin typeface="Consolas" panose="020B0609020204030204" pitchFamily="49" charset="0"/>
              </a:rPr>
              <a:t>		</a:t>
            </a:r>
            <a:r>
              <a:rPr lang="en-US" sz="2800" dirty="0" err="1">
                <a:solidFill>
                  <a:srgbClr val="6A8188"/>
                </a:solidFill>
                <a:latin typeface="Consolas" panose="020B0609020204030204" pitchFamily="49" charset="0"/>
              </a:rPr>
              <a:t>printf</a:t>
            </a:r>
            <a:r>
              <a:rPr lang="en-US" sz="2800" dirty="0">
                <a:solidFill>
                  <a:srgbClr val="6A8188"/>
                </a:solidFill>
                <a:latin typeface="Consolas" panose="020B0609020204030204" pitchFamily="49" charset="0"/>
              </a:rPr>
              <a:t>("We accepted a socket: %d\n",</a:t>
            </a:r>
            <a:r>
              <a:rPr lang="en-US" sz="2800" dirty="0" err="1">
                <a:solidFill>
                  <a:srgbClr val="788E95"/>
                </a:solidFill>
                <a:latin typeface="Consolas" panose="020B0609020204030204" pitchFamily="49" charset="0"/>
              </a:rPr>
              <a:t>chatSocket</a:t>
            </a:r>
            <a:r>
              <a:rPr lang="en-US" sz="2800" dirty="0">
                <a:solidFill>
                  <a:srgbClr val="6A8188"/>
                </a:solidFill>
                <a:latin typeface="Consolas" panose="020B0609020204030204" pitchFamily="49" charset="0"/>
              </a:rPr>
              <a:t>);</a:t>
            </a:r>
            <a:endParaRPr lang="en-US" sz="2800" dirty="0">
              <a:latin typeface="Consolas" panose="020B0609020204030204" pitchFamily="49" charset="0"/>
            </a:endParaRPr>
          </a:p>
          <a:p>
            <a:pPr algn="l" defTabSz="457200">
              <a:defRPr sz="2400">
                <a:solidFill>
                  <a:srgbClr val="788E95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latin typeface="Consolas" panose="020B0609020204030204" pitchFamily="49" charset="0"/>
              </a:rPr>
              <a:t>		</a:t>
            </a:r>
            <a:r>
              <a:rPr lang="en-US" sz="2800" dirty="0">
                <a:solidFill>
                  <a:srgbClr val="6A8188"/>
                </a:solidFill>
                <a:latin typeface="Consolas" panose="020B0609020204030204" pitchFamily="49" charset="0"/>
              </a:rPr>
              <a:t>close(</a:t>
            </a:r>
            <a:r>
              <a:rPr lang="en-US" sz="2800" dirty="0" err="1">
                <a:latin typeface="Consolas" panose="020B0609020204030204" pitchFamily="49" charset="0"/>
              </a:rPr>
              <a:t>chatSocket</a:t>
            </a:r>
            <a:r>
              <a:rPr lang="en-US" sz="2800" dirty="0">
                <a:solidFill>
                  <a:srgbClr val="6A8188"/>
                </a:solidFill>
                <a:latin typeface="Consolas" panose="020B0609020204030204" pitchFamily="49" charset="0"/>
              </a:rPr>
              <a:t>);</a:t>
            </a:r>
            <a:endParaRPr lang="en-US" sz="2800" dirty="0">
              <a:latin typeface="Consolas" panose="020B0609020204030204" pitchFamily="49" charset="0"/>
            </a:endParaRPr>
          </a:p>
          <a:p>
            <a:pPr algn="l" defTabSz="457200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latin typeface="Consolas" panose="020B0609020204030204" pitchFamily="49" charset="0"/>
              </a:rPr>
              <a:t>	</a:t>
            </a:r>
            <a:r>
              <a:rPr lang="en-US" sz="2800" dirty="0">
                <a:solidFill>
                  <a:srgbClr val="6A8188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0561C1-1B28-4A28-95E5-79031DAFD73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Usage of </a:t>
            </a:r>
            <a:r>
              <a:rPr lang="en-US" dirty="0" err="1"/>
              <a:t>getaddrinfo</a:t>
            </a:r>
            <a:r>
              <a:rPr lang="en-US" dirty="0"/>
              <a:t>() for client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1500" y="2324100"/>
            <a:ext cx="11861800" cy="656590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struct </a:t>
            </a:r>
            <a:r>
              <a:rPr lang="en-US" sz="2400" dirty="0" err="1">
                <a:latin typeface="Consolas" panose="020B0609020204030204" pitchFamily="49" charset="0"/>
              </a:rPr>
              <a:t>addrinfo</a:t>
            </a:r>
            <a:r>
              <a:rPr lang="en-US" sz="2400" dirty="0">
                <a:latin typeface="Consolas" panose="020B0609020204030204" pitchFamily="49" charset="0"/>
              </a:rPr>
              <a:t> hints, *</a:t>
            </a:r>
            <a:r>
              <a:rPr lang="en-US" sz="2400" dirty="0" err="1">
                <a:latin typeface="Consolas" panose="020B0609020204030204" pitchFamily="49" charset="0"/>
              </a:rPr>
              <a:t>servinfo</a:t>
            </a:r>
            <a:r>
              <a:rPr lang="en-US" sz="2400" dirty="0">
                <a:latin typeface="Consolas" panose="020B0609020204030204" pitchFamily="49" charset="0"/>
              </a:rPr>
              <a:t>; 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// will point to the results</a:t>
            </a:r>
          </a:p>
          <a:p>
            <a:pPr marL="0" indent="0">
              <a:buNone/>
            </a:pPr>
            <a:endParaRPr lang="en-US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 err="1">
                <a:latin typeface="Consolas" panose="020B0609020204030204" pitchFamily="49" charset="0"/>
              </a:rPr>
              <a:t>memset</a:t>
            </a:r>
            <a:r>
              <a:rPr lang="en-US" sz="2400" dirty="0">
                <a:latin typeface="Consolas" panose="020B0609020204030204" pitchFamily="49" charset="0"/>
              </a:rPr>
              <a:t>(&amp;hints, 0, </a:t>
            </a:r>
            <a:r>
              <a:rPr lang="en-US" sz="2400" dirty="0" err="1">
                <a:latin typeface="Consolas" panose="020B0609020204030204" pitchFamily="49" charset="0"/>
              </a:rPr>
              <a:t>sizeof</a:t>
            </a:r>
            <a:r>
              <a:rPr lang="en-US" sz="2400" dirty="0">
                <a:latin typeface="Consolas" panose="020B0609020204030204" pitchFamily="49" charset="0"/>
              </a:rPr>
              <a:t> hints); 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// make sure the struct is empty</a:t>
            </a:r>
          </a:p>
          <a:p>
            <a:pPr marL="0" indent="0">
              <a:buNone/>
            </a:pPr>
            <a:r>
              <a:rPr lang="en-US" sz="2400" dirty="0" err="1">
                <a:latin typeface="Consolas" panose="020B0609020204030204" pitchFamily="49" charset="0"/>
              </a:rPr>
              <a:t>hints.ai_family</a:t>
            </a:r>
            <a:r>
              <a:rPr lang="en-US" sz="2400" dirty="0">
                <a:latin typeface="Consolas" panose="020B0609020204030204" pitchFamily="49" charset="0"/>
              </a:rPr>
              <a:t> = AF_UNSPEC;     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// don't care IPv4 or IPv6</a:t>
            </a:r>
          </a:p>
          <a:p>
            <a:pPr marL="0" indent="0">
              <a:buNone/>
            </a:pPr>
            <a:r>
              <a:rPr lang="en-US" sz="2400" dirty="0" err="1">
                <a:latin typeface="Consolas" panose="020B0609020204030204" pitchFamily="49" charset="0"/>
              </a:rPr>
              <a:t>hints.ai_socktype</a:t>
            </a:r>
            <a:r>
              <a:rPr lang="en-US" sz="2400" dirty="0">
                <a:latin typeface="Consolas" panose="020B0609020204030204" pitchFamily="49" charset="0"/>
              </a:rPr>
              <a:t> = SOCK_STREAM; 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// TCP stream sockets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// get ready to connect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if (</a:t>
            </a:r>
            <a:r>
              <a:rPr lang="en-US" sz="2400" dirty="0" err="1">
                <a:latin typeface="Consolas" panose="020B0609020204030204" pitchFamily="49" charset="0"/>
              </a:rPr>
              <a:t>getaddrinfo</a:t>
            </a:r>
            <a:r>
              <a:rPr lang="en-US" sz="2400" dirty="0">
                <a:latin typeface="Consolas" panose="020B0609020204030204" pitchFamily="49" charset="0"/>
              </a:rPr>
              <a:t>("www.uconn.edu", "3490", &amp;hints, &amp;</a:t>
            </a:r>
            <a:r>
              <a:rPr lang="en-US" sz="2400" dirty="0" err="1">
                <a:latin typeface="Consolas" panose="020B0609020204030204" pitchFamily="49" charset="0"/>
              </a:rPr>
              <a:t>servinfo</a:t>
            </a:r>
            <a:r>
              <a:rPr lang="en-US" sz="2400" dirty="0">
                <a:latin typeface="Consolas" panose="020B0609020204030204" pitchFamily="49" charset="0"/>
              </a:rPr>
              <a:t>) != 0)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    die("Error");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  <a:ea typeface="Courier"/>
                <a:cs typeface="Courier"/>
              </a:rPr>
              <a:t>// </a:t>
            </a:r>
            <a:r>
              <a:rPr lang="en-US" sz="2400" dirty="0" err="1">
                <a:solidFill>
                  <a:schemeClr val="accent1"/>
                </a:solidFill>
                <a:latin typeface="Consolas" panose="020B0609020204030204" pitchFamily="49" charset="0"/>
                <a:ea typeface="Courier"/>
                <a:cs typeface="Courier"/>
              </a:rPr>
              <a:t>servinfo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  <a:ea typeface="Courier"/>
                <a:cs typeface="Courier"/>
              </a:rPr>
              <a:t> now points to a linked list of 1 or more struct </a:t>
            </a:r>
            <a:r>
              <a:rPr lang="en-US" sz="2400" dirty="0" err="1">
                <a:solidFill>
                  <a:schemeClr val="accent1"/>
                </a:solidFill>
                <a:latin typeface="Consolas" panose="020B0609020204030204" pitchFamily="49" charset="0"/>
                <a:ea typeface="Courier"/>
                <a:cs typeface="Courier"/>
              </a:rPr>
              <a:t>addrinfos</a:t>
            </a:r>
            <a:endParaRPr lang="en-US" sz="2400" dirty="0">
              <a:solidFill>
                <a:schemeClr val="accent1"/>
              </a:solidFill>
              <a:latin typeface="Consolas" panose="020B0609020204030204" pitchFamily="49" charset="0"/>
              <a:ea typeface="Courier"/>
              <a:cs typeface="Courier"/>
            </a:endParaRPr>
          </a:p>
          <a:p>
            <a:pPr marL="0" indent="0">
              <a:buNone/>
            </a:pPr>
            <a:endParaRPr lang="en-US" sz="2400" dirty="0">
              <a:solidFill>
                <a:schemeClr val="accent1"/>
              </a:solidFill>
              <a:latin typeface="Consolas" panose="020B0609020204030204" pitchFamily="49" charset="0"/>
              <a:ea typeface="Courier"/>
              <a:cs typeface="Courier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  <a:ea typeface="Courier"/>
                <a:cs typeface="Courier"/>
              </a:rPr>
              <a:t>// continue on the next page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E6CB67-67D8-4F07-B234-D5C28C4E9A1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296881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B2F3A-F922-49B5-B4BC-308E1425A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 at the client side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CC9C96-2C96-4A8F-8705-5D84CEAB3C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int </a:t>
            </a:r>
            <a:r>
              <a:rPr lang="en-US" sz="2400" dirty="0" err="1">
                <a:latin typeface="Consolas" panose="020B0609020204030204" pitchFamily="49" charset="0"/>
              </a:rPr>
              <a:t>sockfd</a:t>
            </a:r>
            <a:r>
              <a:rPr lang="en-US" sz="2400" dirty="0">
                <a:latin typeface="Consolas" panose="020B0609020204030204" pitchFamily="49" charset="0"/>
              </a:rPr>
              <a:t>, yes = 1;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struct </a:t>
            </a:r>
            <a:r>
              <a:rPr lang="en-US" sz="2400" dirty="0" err="1">
                <a:latin typeface="Consolas" panose="020B0609020204030204" pitchFamily="49" charset="0"/>
              </a:rPr>
              <a:t>addrinfo</a:t>
            </a:r>
            <a:r>
              <a:rPr lang="en-US" sz="2400" dirty="0">
                <a:latin typeface="Consolas" panose="020B0609020204030204" pitchFamily="49" charset="0"/>
              </a:rPr>
              <a:t> *p;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// use socket(); connect(); to try each address on the list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// continue if any of them fails. Check return values!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/>
                </a:solidFill>
                <a:latin typeface="Consolas" panose="020B0609020204030204" pitchFamily="49" charset="0"/>
              </a:rPr>
              <a:t>for (p = </a:t>
            </a:r>
            <a:r>
              <a:rPr lang="en-US" sz="2400" dirty="0" err="1">
                <a:solidFill>
                  <a:schemeClr val="accent6"/>
                </a:solidFill>
                <a:latin typeface="Consolas" panose="020B0609020204030204" pitchFamily="49" charset="0"/>
              </a:rPr>
              <a:t>servinfo</a:t>
            </a:r>
            <a:r>
              <a:rPr lang="en-US" sz="2400" dirty="0">
                <a:solidFill>
                  <a:schemeClr val="accent6"/>
                </a:solidFill>
                <a:latin typeface="Consolas" panose="020B0609020204030204" pitchFamily="49" charset="0"/>
              </a:rPr>
              <a:t>; p != NULL; p = p-&gt;</a:t>
            </a:r>
            <a:r>
              <a:rPr lang="en-US" sz="2400" dirty="0" err="1">
                <a:solidFill>
                  <a:schemeClr val="accent6"/>
                </a:solidFill>
                <a:latin typeface="Consolas" panose="020B0609020204030204" pitchFamily="49" charset="0"/>
              </a:rPr>
              <a:t>ai_next</a:t>
            </a:r>
            <a:r>
              <a:rPr lang="en-US" sz="2400" dirty="0">
                <a:solidFill>
                  <a:schemeClr val="accent6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sz="2400" dirty="0" err="1">
                <a:latin typeface="Consolas" panose="020B0609020204030204" pitchFamily="49" charset="0"/>
              </a:rPr>
              <a:t>sockfd</a:t>
            </a:r>
            <a:r>
              <a:rPr lang="en-US" sz="2400" dirty="0">
                <a:latin typeface="Consolas" panose="020B0609020204030204" pitchFamily="49" charset="0"/>
              </a:rPr>
              <a:t> = socket(p-&gt;</a:t>
            </a:r>
            <a:r>
              <a:rPr lang="en-US" sz="2400" dirty="0" err="1">
                <a:latin typeface="Consolas" panose="020B0609020204030204" pitchFamily="49" charset="0"/>
              </a:rPr>
              <a:t>ai_family</a:t>
            </a:r>
            <a:r>
              <a:rPr lang="en-US" sz="2400" dirty="0">
                <a:latin typeface="Consolas" panose="020B0609020204030204" pitchFamily="49" charset="0"/>
              </a:rPr>
              <a:t>, p-&gt;</a:t>
            </a:r>
            <a:r>
              <a:rPr lang="en-US" sz="2400" dirty="0" err="1">
                <a:latin typeface="Consolas" panose="020B0609020204030204" pitchFamily="49" charset="0"/>
              </a:rPr>
              <a:t>ai_socktype</a:t>
            </a:r>
            <a:r>
              <a:rPr lang="en-US" sz="2400" dirty="0">
                <a:latin typeface="Consolas" panose="020B0609020204030204" pitchFamily="49" charset="0"/>
              </a:rPr>
              <a:t>, p-&gt;</a:t>
            </a:r>
            <a:r>
              <a:rPr lang="en-US" sz="2400" dirty="0" err="1">
                <a:latin typeface="Consolas" panose="020B0609020204030204" pitchFamily="49" charset="0"/>
              </a:rPr>
              <a:t>ai_protocol</a:t>
            </a:r>
            <a:r>
              <a:rPr lang="en-US" sz="24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connect(</a:t>
            </a:r>
            <a:r>
              <a:rPr lang="en-US" sz="2400" dirty="0" err="1">
                <a:latin typeface="Consolas" panose="020B0609020204030204" pitchFamily="49" charset="0"/>
              </a:rPr>
              <a:t>sockfd</a:t>
            </a:r>
            <a:r>
              <a:rPr lang="en-US" sz="2400" dirty="0">
                <a:latin typeface="Consolas" panose="020B0609020204030204" pitchFamily="49" charset="0"/>
              </a:rPr>
              <a:t>, p-&gt;</a:t>
            </a:r>
            <a:r>
              <a:rPr lang="en-US" sz="2400" dirty="0" err="1">
                <a:latin typeface="Consolas" panose="020B0609020204030204" pitchFamily="49" charset="0"/>
              </a:rPr>
              <a:t>ai_addr</a:t>
            </a:r>
            <a:r>
              <a:rPr lang="en-US" sz="2400" dirty="0">
                <a:latin typeface="Consolas" panose="020B0609020204030204" pitchFamily="49" charset="0"/>
              </a:rPr>
              <a:t>, p-&gt;</a:t>
            </a:r>
            <a:r>
              <a:rPr lang="en-US" sz="2400" dirty="0" err="1">
                <a:latin typeface="Consolas" panose="020B0609020204030204" pitchFamily="49" charset="0"/>
              </a:rPr>
              <a:t>ai_addrlen</a:t>
            </a:r>
            <a:r>
              <a:rPr lang="en-US" sz="24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// we have a connection if both are successful. Stop trying.</a:t>
            </a:r>
            <a:endParaRPr lang="en-US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break;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/>
                </a:solidFill>
                <a:latin typeface="Consolas" panose="020B0609020204030204" pitchFamily="49" charset="0"/>
              </a:rPr>
              <a:t>…</a:t>
            </a:r>
          </a:p>
          <a:p>
            <a:pPr marL="0" indent="0">
              <a:buNone/>
            </a:pPr>
            <a:r>
              <a:rPr lang="en-US" sz="2400" dirty="0" err="1">
                <a:solidFill>
                  <a:schemeClr val="accent2"/>
                </a:solidFill>
                <a:latin typeface="Consolas" panose="020B0609020204030204" pitchFamily="49" charset="0"/>
                <a:ea typeface="Courier"/>
                <a:cs typeface="Courier"/>
              </a:rPr>
              <a:t>freeaddrinfo</a:t>
            </a:r>
            <a:r>
              <a:rPr lang="en-US" sz="2400" dirty="0">
                <a:solidFill>
                  <a:schemeClr val="accent2"/>
                </a:solidFill>
                <a:latin typeface="Consolas" panose="020B0609020204030204" pitchFamily="49" charset="0"/>
                <a:ea typeface="Courier"/>
                <a:cs typeface="Courier"/>
              </a:rPr>
              <a:t>(</a:t>
            </a:r>
            <a:r>
              <a:rPr lang="en-US" sz="2400" dirty="0" err="1">
                <a:solidFill>
                  <a:schemeClr val="accent2"/>
                </a:solidFill>
                <a:latin typeface="Consolas" panose="020B0609020204030204" pitchFamily="49" charset="0"/>
                <a:ea typeface="Courier"/>
                <a:cs typeface="Courier"/>
              </a:rPr>
              <a:t>servinfo</a:t>
            </a:r>
            <a:r>
              <a:rPr lang="en-US" sz="2400" dirty="0">
                <a:solidFill>
                  <a:schemeClr val="accent2"/>
                </a:solidFill>
                <a:latin typeface="Consolas" panose="020B0609020204030204" pitchFamily="49" charset="0"/>
                <a:ea typeface="Courier"/>
                <a:cs typeface="Courier"/>
              </a:rPr>
              <a:t>);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ea typeface="Courier"/>
                <a:cs typeface="Courier"/>
              </a:rPr>
              <a:t> 			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  <a:ea typeface="Courier"/>
                <a:cs typeface="Courier"/>
              </a:rPr>
              <a:t>// free the linked-list</a:t>
            </a:r>
            <a:endParaRPr lang="en-US" sz="2400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A86EAC-AAAE-4A5F-B359-AF40E53E4972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168566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Not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Blocking and Talking to Many Clients</a:t>
            </a:r>
            <a:endParaRPr dirty="0"/>
          </a:p>
        </p:txBody>
      </p:sp>
      <p:sp>
        <p:nvSpPr>
          <p:cNvPr id="399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400" name="Seal 3 SPOT281.jpg" descr="Seal 3 SPOT281.jpg"/>
          <p:cNvPicPr>
            <a:picLocks noChangeAspect="1"/>
          </p:cNvPicPr>
          <p:nvPr/>
        </p:nvPicPr>
        <p:blipFill>
          <a:blip r:embed="rId3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401" name="On the server sid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On the server side</a:t>
            </a:r>
          </a:p>
          <a:p>
            <a:pPr lvl="1"/>
            <a:r>
              <a:rPr dirty="0"/>
              <a:t>Accept is </a:t>
            </a:r>
            <a:r>
              <a:rPr dirty="0">
                <a:solidFill>
                  <a:schemeClr val="accent1"/>
                </a:solidFill>
              </a:rPr>
              <a:t>blocking</a:t>
            </a:r>
            <a:r>
              <a:rPr dirty="0"/>
              <a:t> (until a “let’s talk” request comes in)</a:t>
            </a:r>
          </a:p>
          <a:p>
            <a:pPr lvl="1"/>
            <a:r>
              <a:rPr dirty="0"/>
              <a:t>If serving the client directly….</a:t>
            </a:r>
          </a:p>
          <a:p>
            <a:pPr lvl="2"/>
            <a:r>
              <a:rPr lang="en-US" dirty="0"/>
              <a:t>I</a:t>
            </a:r>
            <a:r>
              <a:rPr dirty="0"/>
              <a:t>nbound “Let’s talk” are queue up (up to maximum)</a:t>
            </a:r>
          </a:p>
          <a:p>
            <a:pPr lvl="1"/>
            <a:r>
              <a:rPr lang="en-US" dirty="0"/>
              <a:t>I</a:t>
            </a:r>
            <a:r>
              <a:rPr dirty="0"/>
              <a:t>f </a:t>
            </a:r>
            <a:r>
              <a:rPr lang="en-US" dirty="0"/>
              <a:t>the server </a:t>
            </a:r>
            <a:r>
              <a:rPr dirty="0"/>
              <a:t>wish</a:t>
            </a:r>
            <a:r>
              <a:rPr lang="en-US" dirty="0"/>
              <a:t>es</a:t>
            </a:r>
            <a:r>
              <a:rPr dirty="0"/>
              <a:t> to </a:t>
            </a:r>
            <a:r>
              <a:rPr lang="en-US" dirty="0"/>
              <a:t>get back </a:t>
            </a:r>
            <a:r>
              <a:rPr dirty="0"/>
              <a:t>to accepting: </a:t>
            </a:r>
            <a:br>
              <a:rPr lang="en-US" dirty="0"/>
            </a:br>
            <a:r>
              <a:rPr dirty="0">
                <a:solidFill>
                  <a:schemeClr val="accent1"/>
                </a:solidFill>
              </a:rPr>
              <a:t>fork a process</a:t>
            </a:r>
            <a:r>
              <a:rPr lang="en-US" dirty="0">
                <a:solidFill>
                  <a:schemeClr val="accent1"/>
                </a:solidFill>
              </a:rPr>
              <a:t>! or create a thread!</a:t>
            </a:r>
            <a:endParaRPr dirty="0">
              <a:solidFill>
                <a:schemeClr val="accent1"/>
              </a:solidFill>
            </a:endParaRPr>
          </a:p>
          <a:p>
            <a:pPr lvl="2"/>
            <a:r>
              <a:rPr dirty="0"/>
              <a:t>All real communication happens on</a:t>
            </a:r>
            <a:r>
              <a:rPr lang="en-US" dirty="0"/>
              <a:t> the</a:t>
            </a:r>
            <a:r>
              <a:rPr dirty="0"/>
              <a:t> accepted socket</a:t>
            </a:r>
          </a:p>
          <a:p>
            <a:r>
              <a:rPr dirty="0"/>
              <a:t>On the client side</a:t>
            </a:r>
          </a:p>
          <a:p>
            <a:pPr lvl="1"/>
            <a:r>
              <a:rPr lang="en-US" dirty="0"/>
              <a:t>C</a:t>
            </a:r>
            <a:r>
              <a:rPr dirty="0"/>
              <a:t>onnect is </a:t>
            </a:r>
            <a:r>
              <a:rPr dirty="0">
                <a:solidFill>
                  <a:schemeClr val="accent1"/>
                </a:solidFill>
              </a:rPr>
              <a:t>blocking</a:t>
            </a:r>
            <a:r>
              <a:rPr dirty="0"/>
              <a:t> (until the server responds or refuses)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39617A-6C36-4259-A59F-6DE99868B5D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005046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B74C157-AD0C-D0D1-FCAB-82BA0EE9E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396" y="2558092"/>
            <a:ext cx="6003273" cy="600327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C6ADFD-AE25-E0FC-4EE7-3A491FC58C75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18588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Summary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Server Dealing with Many Clients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02AA53-8A49-4394-B637-08012A4E87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The server cannot talk to </a:t>
            </a:r>
            <a:br>
              <a:rPr lang="en-US" sz="2800" dirty="0"/>
            </a:br>
            <a:r>
              <a:rPr lang="en-US" sz="2800" dirty="0"/>
              <a:t>many clients at the same time</a:t>
            </a:r>
          </a:p>
          <a:p>
            <a:pPr lvl="1"/>
            <a:r>
              <a:rPr lang="en-US" sz="2800" dirty="0"/>
              <a:t>Let others to deal with clients</a:t>
            </a:r>
          </a:p>
          <a:p>
            <a:pPr lvl="1"/>
            <a:r>
              <a:rPr lang="en-US" sz="2800" dirty="0"/>
              <a:t>It can wait for new clients</a:t>
            </a:r>
          </a:p>
          <a:p>
            <a:endParaRPr lang="en-US" sz="2800" dirty="0"/>
          </a:p>
        </p:txBody>
      </p:sp>
      <p:sp>
        <p:nvSpPr>
          <p:cNvPr id="388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389" name="Seal 3 SPOT281.jpg" descr="Seal 3 SPOT281.jpg"/>
          <p:cNvPicPr>
            <a:picLocks noChangeAspect="1"/>
          </p:cNvPicPr>
          <p:nvPr/>
        </p:nvPicPr>
        <p:blipFill>
          <a:blip r:embed="rId3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94" name="Could be a thread……"/>
          <p:cNvSpPr txBox="1"/>
          <p:nvPr/>
        </p:nvSpPr>
        <p:spPr>
          <a:xfrm>
            <a:off x="269966" y="6382089"/>
            <a:ext cx="5016509" cy="18261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0800" tIns="50800" rIns="50800" bIns="50800" numCol="1" anchor="ctr">
            <a:spAutoFit/>
          </a:bodyPr>
          <a:lstStyle/>
          <a:p>
            <a:pPr>
              <a:defRPr b="1">
                <a:solidFill>
                  <a:schemeClr val="accent5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sz="2800" dirty="0">
                <a:solidFill>
                  <a:schemeClr val="accent1"/>
                </a:solidFill>
              </a:rPr>
              <a:t>Could be a cloned process</a:t>
            </a:r>
            <a:r>
              <a:rPr lang="en-US" sz="2800" dirty="0">
                <a:solidFill>
                  <a:schemeClr val="accent1"/>
                </a:solidFill>
              </a:rPr>
              <a:t> </a:t>
            </a:r>
            <a:r>
              <a:rPr sz="2800" dirty="0">
                <a:solidFill>
                  <a:schemeClr val="accent1"/>
                </a:solidFill>
              </a:rPr>
              <a:t>(fork!)</a:t>
            </a:r>
            <a:r>
              <a:rPr lang="en-US" sz="2800" dirty="0">
                <a:solidFill>
                  <a:schemeClr val="accent1"/>
                </a:solidFill>
              </a:rPr>
              <a:t> … or a thread</a:t>
            </a:r>
          </a:p>
          <a:p>
            <a:pPr>
              <a:defRPr b="1">
                <a:solidFill>
                  <a:schemeClr val="accent5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lang="en-US" sz="2800" dirty="0">
              <a:solidFill>
                <a:schemeClr val="accent1"/>
              </a:solidFill>
            </a:endParaRPr>
          </a:p>
          <a:p>
            <a:pPr>
              <a:defRPr b="1">
                <a:solidFill>
                  <a:schemeClr val="accent5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sz="2800" dirty="0">
                <a:solidFill>
                  <a:schemeClr val="accent1"/>
                </a:solidFill>
              </a:rPr>
              <a:t>or use functions like select()</a:t>
            </a:r>
            <a:endParaRPr sz="2800" dirty="0">
              <a:solidFill>
                <a:schemeClr val="accent1"/>
              </a:solidFill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4955516" y="1438321"/>
            <a:ext cx="7970493" cy="8180510"/>
            <a:chOff x="4955516" y="1438321"/>
            <a:chExt cx="7970493" cy="8180510"/>
          </a:xfrm>
        </p:grpSpPr>
        <p:pic>
          <p:nvPicPr>
            <p:cNvPr id="392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89642" y="1806645"/>
              <a:ext cx="7540596" cy="7812186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393" name="Rounded Rectangle"/>
            <p:cNvSpPr/>
            <p:nvPr/>
          </p:nvSpPr>
          <p:spPr>
            <a:xfrm>
              <a:off x="8049285" y="1438321"/>
              <a:ext cx="2302639" cy="8092513"/>
            </a:xfrm>
            <a:prstGeom prst="roundRect">
              <a:avLst>
                <a:gd name="adj" fmla="val 15000"/>
              </a:avLst>
            </a:prstGeom>
            <a:solidFill>
              <a:srgbClr val="FF2600">
                <a:alpha val="30000"/>
              </a:srgbClr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>
                <a:defRPr sz="3400"/>
              </a:pPr>
              <a:endParaRPr/>
            </a:p>
          </p:txBody>
        </p:sp>
        <p:cxnSp>
          <p:nvCxnSpPr>
            <p:cNvPr id="395" name="Connection Line"/>
            <p:cNvCxnSpPr>
              <a:cxnSpLocks/>
            </p:cNvCxnSpPr>
            <p:nvPr/>
          </p:nvCxnSpPr>
          <p:spPr>
            <a:xfrm flipH="1">
              <a:off x="4955516" y="7160821"/>
              <a:ext cx="3093770" cy="268679"/>
            </a:xfrm>
            <a:prstGeom prst="straightConnector1">
              <a:avLst/>
            </a:prstGeom>
            <a:ln w="101600" cap="rnd">
              <a:solidFill>
                <a:schemeClr val="accent5"/>
              </a:solidFill>
              <a:prstDash val="solid"/>
              <a:miter lim="400000"/>
              <a:headEnd type="stealth" w="med" len="med"/>
            </a:ln>
            <a:effectLst/>
          </p:spPr>
        </p:cxnSp>
        <p:sp>
          <p:nvSpPr>
            <p:cNvPr id="2" name="Rectangle 1"/>
            <p:cNvSpPr/>
            <p:nvPr/>
          </p:nvSpPr>
          <p:spPr>
            <a:xfrm>
              <a:off x="12117788" y="7235687"/>
              <a:ext cx="715617" cy="763325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FFFFFF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38100" tIns="38100" rIns="38100" bIns="381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endParaRPr>
            </a:p>
          </p:txBody>
        </p:sp>
        <p:sp>
          <p:nvSpPr>
            <p:cNvPr id="11" name="Arc 10"/>
            <p:cNvSpPr/>
            <p:nvPr/>
          </p:nvSpPr>
          <p:spPr>
            <a:xfrm>
              <a:off x="11266998" y="7347222"/>
              <a:ext cx="1659011" cy="572277"/>
            </a:xfrm>
            <a:prstGeom prst="arc">
              <a:avLst>
                <a:gd name="adj1" fmla="val 16200000"/>
                <a:gd name="adj2" fmla="val 5150421"/>
              </a:avLst>
            </a:prstGeom>
            <a:noFill/>
            <a:ln w="25400" cap="flat">
              <a:solidFill>
                <a:srgbClr val="000000"/>
              </a:solidFill>
              <a:prstDash val="sysDot"/>
              <a:miter lim="400000"/>
              <a:headEnd type="none" w="med" len="med"/>
              <a:tailEnd type="arrow" w="med" len="med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45719" rIns="91439" bIns="45719" numCol="1" spcCol="38100" rtlCol="0" anchor="t">
              <a:noAutofit/>
            </a:bodyPr>
            <a:lstStyle/>
            <a:p>
              <a: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endParaRP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96C793-4E65-4893-AA4B-E5F1E909CF4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749152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D6D6D6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Neue Light"/>
        <a:ea typeface="Helvetica Neue Light"/>
        <a:cs typeface="Helvetica Neue Light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CBCBCB"/>
        </a:solidFill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Neue Light"/>
        <a:ea typeface="Helvetica Neue Light"/>
        <a:cs typeface="Helvetica Neue Light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CBCBCB"/>
        </a:solidFill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5290</TotalTime>
  <Words>1702</Words>
  <Application>Microsoft Macintosh PowerPoint</Application>
  <PresentationFormat>Custom</PresentationFormat>
  <Paragraphs>226</Paragraphs>
  <Slides>20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Consolas</vt:lpstr>
      <vt:lpstr>Courier</vt:lpstr>
      <vt:lpstr>Helvetica</vt:lpstr>
      <vt:lpstr>Helvetica Neue</vt:lpstr>
      <vt:lpstr>Helvetica Neue Light</vt:lpstr>
      <vt:lpstr>Lucida Grande</vt:lpstr>
      <vt:lpstr>White</vt:lpstr>
      <vt:lpstr>(S2) Sockets Programming: Client and Server</vt:lpstr>
      <vt:lpstr>Review</vt:lpstr>
      <vt:lpstr>A Client-Server World</vt:lpstr>
      <vt:lpstr>Server side (TCP)</vt:lpstr>
      <vt:lpstr>PowerPoint Presentation</vt:lpstr>
      <vt:lpstr>Analogy Between Sockets and Telephone</vt:lpstr>
      <vt:lpstr>Client side (TCP)</vt:lpstr>
      <vt:lpstr>Getting back to server …</vt:lpstr>
      <vt:lpstr>Socket address types</vt:lpstr>
      <vt:lpstr>addrinfo structure</vt:lpstr>
      <vt:lpstr>getaddrinfo()</vt:lpstr>
      <vt:lpstr>PowerPoint Presentation</vt:lpstr>
      <vt:lpstr>Usage of getaddrinfo() for server</vt:lpstr>
      <vt:lpstr>Now, let us create socket and then bind!</vt:lpstr>
      <vt:lpstr>After bind()</vt:lpstr>
      <vt:lpstr>Usage of getaddrinfo() for client</vt:lpstr>
      <vt:lpstr>connect at the client side</vt:lpstr>
      <vt:lpstr>Blocking and Talking to Many Clients</vt:lpstr>
      <vt:lpstr>PowerPoint Presentation</vt:lpstr>
      <vt:lpstr>Server Dealing with Many Clients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Sockets Programming</dc:title>
  <dc:creator>zshi</dc:creator>
  <cp:lastModifiedBy>SWAMY NARAYAN JIGNAAS PATTIPATI</cp:lastModifiedBy>
  <cp:revision>602</cp:revision>
  <dcterms:modified xsi:type="dcterms:W3CDTF">2026-04-20T13:54:12Z</dcterms:modified>
</cp:coreProperties>
</file>