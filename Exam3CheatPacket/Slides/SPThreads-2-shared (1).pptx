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29"/>
  </p:notesMasterIdLst>
  <p:sldIdLst>
    <p:sldId id="353" r:id="rId2"/>
    <p:sldId id="374" r:id="rId3"/>
    <p:sldId id="363" r:id="rId4"/>
    <p:sldId id="340" r:id="rId5"/>
    <p:sldId id="341" r:id="rId6"/>
    <p:sldId id="364" r:id="rId7"/>
    <p:sldId id="308" r:id="rId8"/>
    <p:sldId id="371" r:id="rId9"/>
    <p:sldId id="348" r:id="rId10"/>
    <p:sldId id="373" r:id="rId11"/>
    <p:sldId id="372" r:id="rId12"/>
    <p:sldId id="358" r:id="rId13"/>
    <p:sldId id="349" r:id="rId14"/>
    <p:sldId id="351" r:id="rId15"/>
    <p:sldId id="282" r:id="rId16"/>
    <p:sldId id="368" r:id="rId17"/>
    <p:sldId id="369" r:id="rId18"/>
    <p:sldId id="287" r:id="rId19"/>
    <p:sldId id="295" r:id="rId20"/>
    <p:sldId id="328" r:id="rId21"/>
    <p:sldId id="361" r:id="rId22"/>
    <p:sldId id="343" r:id="rId23"/>
    <p:sldId id="346" r:id="rId24"/>
    <p:sldId id="347" r:id="rId25"/>
    <p:sldId id="362" r:id="rId26"/>
    <p:sldId id="344" r:id="rId27"/>
    <p:sldId id="345" r:id="rId28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1pPr>
    <a:lvl2pPr marL="0" marR="0" indent="2667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2pPr>
    <a:lvl3pPr marL="0" marR="0" indent="533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3pPr>
    <a:lvl4pPr marL="0" marR="0" indent="8001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4pPr>
    <a:lvl5pPr marL="0" marR="0" indent="1066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5pPr>
    <a:lvl6pPr marL="0" marR="0" indent="13335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6pPr>
    <a:lvl7pPr marL="0" marR="0" indent="16129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7pPr>
    <a:lvl8pPr marL="0" marR="0" indent="1879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8pPr>
    <a:lvl9pPr marL="0" marR="0" indent="21463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0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 Neue Light"/>
      </a:defRPr>
    </a:lvl9pPr>
  </p:defaultTextStyle>
  <p:extLst>
    <p:ext uri="{EFAFB233-063F-42B5-8137-9DF3F51BA10A}">
      <p15:sldGuideLst xmlns:p15="http://schemas.microsoft.com/office/powerpoint/2012/main">
        <p15:guide id="1" orient="horz" pos="3072">
          <p15:clr>
            <a:srgbClr val="A4A3A4"/>
          </p15:clr>
        </p15:guide>
        <p15:guide id="2" pos="409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8F44A2F1-9E1F-4B54-A3A2-5F16C0AD49E2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FF1F3"/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25400" cap="flat">
              <a:solidFill>
                <a:srgbClr val="000000"/>
              </a:solidFill>
              <a:prstDash val="solid"/>
              <a:miter lim="400000"/>
            </a:ln>
          </a:bottom>
          <a:insideH>
            <a:ln w="25400" cap="flat">
              <a:solidFill>
                <a:srgbClr val="000000"/>
              </a:solidFill>
              <a:prstDash val="solid"/>
              <a:miter lim="400000"/>
            </a:ln>
          </a:insideH>
          <a:insideV>
            <a:ln w="254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CBCBCB"/>
          </a:solidFill>
        </a:fill>
      </a:tcStyle>
    </a:firstRow>
  </a:tblStyle>
  <a:tblStyle styleId="{C7B018BB-80A7-4F77-B60F-C8B233D01FF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4C3C2611-4C71-4FC5-86AE-919BDF0F9419}" styleName="">
    <a:tblBg/>
    <a:wholeTbl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>
        <a:font>
          <a:latin typeface="Helvetica Light"/>
          <a:ea typeface="Helvetica Light"/>
          <a:cs typeface="Helvetica Light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08"/>
    <p:restoredTop sz="93605" autoAdjust="0"/>
  </p:normalViewPr>
  <p:slideViewPr>
    <p:cSldViewPr snapToGrid="0">
      <p:cViewPr varScale="1">
        <p:scale>
          <a:sx n="84" d="100"/>
          <a:sy n="84" d="100"/>
        </p:scale>
        <p:origin x="2040" y="192"/>
      </p:cViewPr>
      <p:guideLst>
        <p:guide orient="horz" pos="3072"/>
        <p:guide pos="4096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20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06" name="Shape 20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783344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584200" latinLnBrk="0">
      <a:defRPr sz="2000">
        <a:latin typeface="Lucida Grande"/>
        <a:ea typeface="Lucida Grande"/>
        <a:cs typeface="Lucida Grande"/>
        <a:sym typeface="Lucida Grande"/>
      </a:defRPr>
    </a:lvl1pPr>
    <a:lvl2pPr indent="228600" defTabSz="584200" latinLnBrk="0">
      <a:defRPr sz="2000">
        <a:latin typeface="Lucida Grande"/>
        <a:ea typeface="Lucida Grande"/>
        <a:cs typeface="Lucida Grande"/>
        <a:sym typeface="Lucida Grande"/>
      </a:defRPr>
    </a:lvl2pPr>
    <a:lvl3pPr indent="457200" defTabSz="584200" latinLnBrk="0">
      <a:defRPr sz="2000">
        <a:latin typeface="Lucida Grande"/>
        <a:ea typeface="Lucida Grande"/>
        <a:cs typeface="Lucida Grande"/>
        <a:sym typeface="Lucida Grande"/>
      </a:defRPr>
    </a:lvl3pPr>
    <a:lvl4pPr indent="685800" defTabSz="584200" latinLnBrk="0">
      <a:defRPr sz="2000">
        <a:latin typeface="Lucida Grande"/>
        <a:ea typeface="Lucida Grande"/>
        <a:cs typeface="Lucida Grande"/>
        <a:sym typeface="Lucida Grande"/>
      </a:defRPr>
    </a:lvl4pPr>
    <a:lvl5pPr indent="914400" defTabSz="584200" latinLnBrk="0">
      <a:defRPr sz="2000">
        <a:latin typeface="Lucida Grande"/>
        <a:ea typeface="Lucida Grande"/>
        <a:cs typeface="Lucida Grande"/>
        <a:sym typeface="Lucida Grande"/>
      </a:defRPr>
    </a:lvl5pPr>
    <a:lvl6pPr indent="1143000" defTabSz="584200" latinLnBrk="0">
      <a:defRPr sz="2000">
        <a:latin typeface="Lucida Grande"/>
        <a:ea typeface="Lucida Grande"/>
        <a:cs typeface="Lucida Grande"/>
        <a:sym typeface="Lucida Grande"/>
      </a:defRPr>
    </a:lvl6pPr>
    <a:lvl7pPr indent="1371600" defTabSz="584200" latinLnBrk="0">
      <a:defRPr sz="2000">
        <a:latin typeface="Lucida Grande"/>
        <a:ea typeface="Lucida Grande"/>
        <a:cs typeface="Lucida Grande"/>
        <a:sym typeface="Lucida Grande"/>
      </a:defRPr>
    </a:lvl7pPr>
    <a:lvl8pPr indent="1600200" defTabSz="584200" latinLnBrk="0">
      <a:defRPr sz="2000">
        <a:latin typeface="Lucida Grande"/>
        <a:ea typeface="Lucida Grande"/>
        <a:cs typeface="Lucida Grande"/>
        <a:sym typeface="Lucida Grande"/>
      </a:defRPr>
    </a:lvl8pPr>
    <a:lvl9pPr indent="1828800" defTabSz="584200" latinLnBrk="0">
      <a:defRPr sz="2000">
        <a:latin typeface="Lucida Grande"/>
        <a:ea typeface="Lucida Grande"/>
        <a:cs typeface="Lucida Grande"/>
        <a:sym typeface="Lucida Grand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231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335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Demo!</a:t>
            </a:r>
          </a:p>
        </p:txBody>
      </p:sp>
    </p:spTree>
    <p:extLst>
      <p:ext uri="{BB962C8B-B14F-4D97-AF65-F5344CB8AC3E}">
        <p14:creationId xmlns:p14="http://schemas.microsoft.com/office/powerpoint/2010/main" val="3788416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defTabSz="584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dirty="0"/>
              <a:t>We make a lot of mistakes when accessing shared resources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101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82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D9F080E7-6547-4005-B9A7-89FF531F4FC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8268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92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16791CA9-8F70-4C74-BEBA-2A15DAA3EAC1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5109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4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118618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5029200"/>
            <a:ext cx="118618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5" name="Seal 3 SPOT281.jpg" descr="Seal 3 SPOT281.jpg"/>
          <p:cNvPicPr>
            <a:picLocks noChangeAspect="1"/>
          </p:cNvPicPr>
          <p:nvPr/>
        </p:nvPicPr>
        <p:blipFill>
          <a:blip r:embed="rId2"/>
          <a:srcRect l="3953" t="3727" r="4037" b="3957"/>
          <a:stretch>
            <a:fillRect/>
          </a:stretch>
        </p:blipFill>
        <p:spPr>
          <a:xfrm>
            <a:off x="11652633" y="843096"/>
            <a:ext cx="747854" cy="750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2" h="21361" extrusionOk="0">
                <a:moveTo>
                  <a:pt x="11422" y="16"/>
                </a:moveTo>
                <a:cubicBezTo>
                  <a:pt x="7331" y="-203"/>
                  <a:pt x="3227" y="1854"/>
                  <a:pt x="1122" y="5835"/>
                </a:cubicBezTo>
                <a:cubicBezTo>
                  <a:pt x="406" y="7190"/>
                  <a:pt x="27" y="8923"/>
                  <a:pt x="2" y="10637"/>
                </a:cubicBezTo>
                <a:cubicBezTo>
                  <a:pt x="-23" y="12351"/>
                  <a:pt x="307" y="14046"/>
                  <a:pt x="985" y="15337"/>
                </a:cubicBezTo>
                <a:cubicBezTo>
                  <a:pt x="2583" y="18378"/>
                  <a:pt x="4999" y="20320"/>
                  <a:pt x="8244" y="21167"/>
                </a:cubicBezTo>
                <a:cubicBezTo>
                  <a:pt x="8700" y="21286"/>
                  <a:pt x="9272" y="21346"/>
                  <a:pt x="9902" y="21359"/>
                </a:cubicBezTo>
                <a:cubicBezTo>
                  <a:pt x="11791" y="21397"/>
                  <a:pt x="14195" y="20985"/>
                  <a:pt x="15560" y="20308"/>
                </a:cubicBezTo>
                <a:cubicBezTo>
                  <a:pt x="17837" y="19180"/>
                  <a:pt x="19258" y="17799"/>
                  <a:pt x="20453" y="15529"/>
                </a:cubicBezTo>
                <a:cubicBezTo>
                  <a:pt x="21226" y="14062"/>
                  <a:pt x="21577" y="12337"/>
                  <a:pt x="21539" y="10603"/>
                </a:cubicBezTo>
                <a:cubicBezTo>
                  <a:pt x="21476" y="7712"/>
                  <a:pt x="20339" y="4789"/>
                  <a:pt x="18327" y="2942"/>
                </a:cubicBezTo>
                <a:cubicBezTo>
                  <a:pt x="16323" y="1103"/>
                  <a:pt x="13877" y="148"/>
                  <a:pt x="11422" y="16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6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709400" cy="6565900"/>
          </a:xfrm>
          <a:prstGeom prst="rect">
            <a:avLst/>
          </a:prstGeom>
        </p:spPr>
        <p:txBody>
          <a:bodyPr numCol="2" spcCol="585470"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4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863600"/>
            <a:ext cx="11861800" cy="8026400"/>
          </a:xfrm>
          <a:prstGeom prst="rect">
            <a:avLst/>
          </a:prstGeom>
        </p:spPr>
        <p:txBody>
          <a:bodyPr/>
          <a:lstStyle>
            <a:lvl1pPr>
              <a:spcBef>
                <a:spcPts val="72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7200"/>
              </a:spcBef>
              <a:defRPr sz="2400"/>
            </a:lvl2pPr>
            <a:lvl3pPr>
              <a:spcBef>
                <a:spcPts val="7200"/>
              </a:spcBef>
              <a:defRPr sz="2400"/>
            </a:lvl3pPr>
            <a:lvl4pPr>
              <a:spcBef>
                <a:spcPts val="7200"/>
              </a:spcBef>
              <a:defRPr sz="2400"/>
            </a:lvl4pPr>
            <a:lvl5pPr>
              <a:spcBef>
                <a:spcPts val="72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62" name="Seal 3 SPOT281.jpg" descr="Seal 3 SPOT28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0500" y="812800"/>
            <a:ext cx="812800" cy="812800"/>
          </a:xfrm>
          <a:prstGeom prst="rect">
            <a:avLst/>
          </a:prstGeom>
          <a:ln w="12700">
            <a:miter lim="400000"/>
          </a:ln>
        </p:spPr>
      </p:pic>
      <p:sp>
        <p:nvSpPr>
          <p:cNvPr id="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Title Text"/>
          <p:cNvSpPr txBox="1">
            <a:spLocks noGrp="1"/>
          </p:cNvSpPr>
          <p:nvPr>
            <p:ph type="title"/>
          </p:nvPr>
        </p:nvSpPr>
        <p:spPr>
          <a:xfrm>
            <a:off x="571500" y="3708400"/>
            <a:ext cx="11861800" cy="2336800"/>
          </a:xfrm>
          <a:prstGeom prst="rect">
            <a:avLst/>
          </a:prstGeom>
        </p:spPr>
        <p:txBody>
          <a:bodyPr anchor="ctr"/>
          <a:lstStyle/>
          <a:p>
            <a:r>
              <a:t>Title Text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2682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Horizont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ModernPortfolio_photo-h-2.pdf" descr="ModernPortfolio_photo-h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Line"/>
          <p:cNvSpPr/>
          <p:nvPr/>
        </p:nvSpPr>
        <p:spPr>
          <a:xfrm>
            <a:off x="7543800" y="7975599"/>
            <a:ext cx="1" cy="1422529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1409700" y="7785100"/>
            <a:ext cx="5791200" cy="1701800"/>
          </a:xfrm>
          <a:prstGeom prst="rect">
            <a:avLst/>
          </a:prstGeom>
        </p:spPr>
        <p:txBody>
          <a:bodyPr anchor="ctr"/>
          <a:lstStyle>
            <a:lvl1pPr algn="r"/>
          </a:lstStyle>
          <a:p>
            <a:r>
              <a:t>Title Text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7848600" y="8470900"/>
            <a:ext cx="4953000" cy="508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2400">
                <a:solidFill>
                  <a:srgbClr val="A9A9A9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Vertical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Line"/>
          <p:cNvSpPr/>
          <p:nvPr/>
        </p:nvSpPr>
        <p:spPr>
          <a:xfrm>
            <a:off x="647700" y="4749800"/>
            <a:ext cx="4882122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92" name="Title Text"/>
          <p:cNvSpPr txBox="1">
            <a:spLocks noGrp="1"/>
          </p:cNvSpPr>
          <p:nvPr>
            <p:ph type="title"/>
          </p:nvPr>
        </p:nvSpPr>
        <p:spPr>
          <a:xfrm>
            <a:off x="571500" y="1320800"/>
            <a:ext cx="5092700" cy="3175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9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571500" y="5029200"/>
            <a:ext cx="5092700" cy="31750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2400">
                <a:solidFill>
                  <a:srgbClr val="747474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2400"/>
            </a:lvl2pPr>
            <a:lvl3pPr marL="0" indent="0">
              <a:spcBef>
                <a:spcPts val="0"/>
              </a:spcBef>
              <a:buSzTx/>
              <a:buNone/>
              <a:defRPr sz="2400"/>
            </a:lvl3pPr>
            <a:lvl4pPr marL="0" indent="0">
              <a:spcBef>
                <a:spcPts val="0"/>
              </a:spcBef>
              <a:buSzTx/>
              <a:buNone/>
              <a:defRPr sz="2400"/>
            </a:lvl4pPr>
            <a:lvl5pPr marL="0" indent="0">
              <a:spcBef>
                <a:spcPts val="0"/>
              </a:spcBef>
              <a:buSz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08000" y="9258300"/>
            <a:ext cx="258369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, Bullets &amp; Photo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ModernPortfolio_photo-v-1.pdf" descr="ModernPortfolio_photo-v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Line"/>
          <p:cNvSpPr/>
          <p:nvPr/>
        </p:nvSpPr>
        <p:spPr>
          <a:xfrm>
            <a:off x="647700" y="1968500"/>
            <a:ext cx="48768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03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5092700" cy="1397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04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4900"/>
              </a:spcBef>
              <a:defRPr sz="2400">
                <a:solidFill>
                  <a:srgbClr val="747474"/>
                </a:solidFill>
              </a:defRPr>
            </a:lvl1pPr>
            <a:lvl2pPr>
              <a:spcBef>
                <a:spcPts val="4900"/>
              </a:spcBef>
              <a:defRPr sz="2400"/>
            </a:lvl2pPr>
            <a:lvl3pPr>
              <a:spcBef>
                <a:spcPts val="4900"/>
              </a:spcBef>
              <a:defRPr sz="2400"/>
            </a:lvl3pPr>
            <a:lvl4pPr>
              <a:spcBef>
                <a:spcPts val="4900"/>
              </a:spcBef>
              <a:defRPr sz="2400"/>
            </a:lvl4pPr>
            <a:lvl5pPr>
              <a:spcBef>
                <a:spcPts val="49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10743" y="9258300"/>
            <a:ext cx="258370" cy="249733"/>
          </a:xfrm>
          <a:prstGeom prst="rect">
            <a:avLst/>
          </a:prstGeom>
        </p:spPr>
        <p:txBody>
          <a:bodyPr/>
          <a:lstStyle>
            <a:lvl1pPr algn="l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ModernPortfolio_2-up-h.pdf" descr="ModernPortfolio_2-up-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 &amp; Landscape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ModernPortfolio_2-up-vh.pdf" descr="ModernPortfolio_2-up-vh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2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ModernPortfolio_2-up-v-2.pdf" descr="ModernPortfolio_2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 Portrait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ModernPortfolio_3-up-v-2.pdf" descr="ModernPortfolio_3-up-v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Big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ModernPortfolio_photo-big-2.pdf" descr="ModernPortfolio_photo-big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3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ModernPortfolio_3-up.pdf" descr="ModernPortfolio_3-up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Photo - 4 Up">
    <p:bg>
      <p:bgPr>
        <a:solidFill>
          <a:srgbClr val="D6D6D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ModernPortfolio_4-up-2.pdf" descr="ModernPortfolio_4-up-2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004800" cy="9753600"/>
          </a:xfrm>
          <a:prstGeom prst="rect">
            <a:avLst/>
          </a:prstGeom>
          <a:ln w="12700">
            <a:miter lim="400000"/>
          </a:ln>
        </p:spPr>
      </p:pic>
      <p:sp>
        <p:nvSpPr>
          <p:cNvPr id="1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44500" y="8813800"/>
            <a:ext cx="8255000" cy="81280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1pPr>
            <a:lvl2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2pPr>
            <a:lvl3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3pPr>
            <a:lvl4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4pPr>
            <a:lvl5pPr marL="0" indent="0">
              <a:spcBef>
                <a:spcPts val="0"/>
              </a:spcBef>
              <a:buSzTx/>
              <a:buNone/>
              <a:defRPr sz="1600">
                <a:solidFill>
                  <a:srgbClr val="868686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7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7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50927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-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sp>
        <p:nvSpPr>
          <p:cNvPr id="18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8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8369300" y="2324100"/>
            <a:ext cx="4064000" cy="6565900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2pPr>
            <a:lvl3pPr marL="901700">
              <a:spcBef>
                <a:spcPts val="1000"/>
              </a:spcBef>
              <a:defRPr sz="2400">
                <a:solidFill>
                  <a:srgbClr val="941100"/>
                </a:solidFill>
              </a:defRPr>
            </a:lvl3pPr>
            <a:lvl4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4pPr>
            <a:lvl5pPr>
              <a:spcBef>
                <a:spcPts val="1000"/>
              </a:spcBef>
              <a:defRPr sz="2400">
                <a:solidFill>
                  <a:srgbClr val="941100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8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9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197" name="Seal 3 SPOT281.jpg" descr="Seal 3 SPOT281.jpg"/>
          <p:cNvPicPr>
            <a:picLocks noChangeAspect="1"/>
          </p:cNvPicPr>
          <p:nvPr/>
        </p:nvPicPr>
        <p:blipFill>
          <a:blip r:embed="rId2"/>
          <a:srcRect l="4069" t="4341" r="4032" b="3948"/>
          <a:stretch>
            <a:fillRect/>
          </a:stretch>
        </p:blipFill>
        <p:spPr>
          <a:xfrm>
            <a:off x="11653573" y="848089"/>
            <a:ext cx="746954" cy="745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0" h="21564" extrusionOk="0">
                <a:moveTo>
                  <a:pt x="10791" y="0"/>
                </a:moveTo>
                <a:cubicBezTo>
                  <a:pt x="6286" y="0"/>
                  <a:pt x="3129" y="1889"/>
                  <a:pt x="1079" y="5832"/>
                </a:cubicBezTo>
                <a:cubicBezTo>
                  <a:pt x="380" y="7176"/>
                  <a:pt x="22" y="8927"/>
                  <a:pt x="1" y="10666"/>
                </a:cubicBezTo>
                <a:cubicBezTo>
                  <a:pt x="-20" y="12405"/>
                  <a:pt x="298" y="14141"/>
                  <a:pt x="964" y="15442"/>
                </a:cubicBezTo>
                <a:cubicBezTo>
                  <a:pt x="2541" y="18521"/>
                  <a:pt x="4983" y="20504"/>
                  <a:pt x="8245" y="21366"/>
                </a:cubicBezTo>
                <a:cubicBezTo>
                  <a:pt x="8703" y="21487"/>
                  <a:pt x="9276" y="21548"/>
                  <a:pt x="9908" y="21561"/>
                </a:cubicBezTo>
                <a:cubicBezTo>
                  <a:pt x="11802" y="21600"/>
                  <a:pt x="14214" y="21181"/>
                  <a:pt x="15583" y="20494"/>
                </a:cubicBezTo>
                <a:cubicBezTo>
                  <a:pt x="17867" y="19348"/>
                  <a:pt x="19292" y="17944"/>
                  <a:pt x="20491" y="15637"/>
                </a:cubicBezTo>
                <a:cubicBezTo>
                  <a:pt x="21218" y="14239"/>
                  <a:pt x="21580" y="12485"/>
                  <a:pt x="21580" y="10735"/>
                </a:cubicBezTo>
                <a:cubicBezTo>
                  <a:pt x="21580" y="8985"/>
                  <a:pt x="21218" y="7231"/>
                  <a:pt x="20491" y="5832"/>
                </a:cubicBezTo>
                <a:cubicBezTo>
                  <a:pt x="18441" y="1889"/>
                  <a:pt x="15295" y="0"/>
                  <a:pt x="10791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198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/>
            </a:lvl1pPr>
            <a:lvl2pPr>
              <a:spcBef>
                <a:spcPts val="1000"/>
              </a:spcBef>
              <a:defRPr sz="2400"/>
            </a:lvl2pPr>
            <a:lvl3pPr marL="901700">
              <a:spcBef>
                <a:spcPts val="1000"/>
              </a:spcBef>
              <a:defRPr sz="2400"/>
            </a:lvl3pPr>
            <a:lvl4pPr marL="1244600">
              <a:spcBef>
                <a:spcPts val="1000"/>
              </a:spcBef>
              <a:defRPr sz="2400"/>
            </a:lvl4pPr>
            <a:lvl5pPr marL="1587500">
              <a:spcBef>
                <a:spcPts val="1000"/>
              </a:spcBef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326924" y="9258300"/>
            <a:ext cx="258370" cy="249733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252871" y="9338170"/>
            <a:ext cx="12390684" cy="365760"/>
          </a:xfrm>
          <a:prstGeom prst="rect">
            <a:avLst/>
          </a:prstGeom>
        </p:spPr>
        <p:txBody>
          <a:bodyPr lIns="130046" tIns="65023" rIns="130046" bIns="65023"/>
          <a:lstStyle>
            <a:lvl1pPr>
              <a:defRPr/>
            </a:lvl1pPr>
          </a:lstStyle>
          <a:p>
            <a:r>
              <a:rPr lang="en-US"/>
              <a:t>Tanenbaum, Modern Operating Systems 3 e, (c) 2008 Prentice-Hall, Inc. All rights reserved. 0-13-</a:t>
            </a:r>
            <a:r>
              <a:rPr lang="en-US" b="1"/>
              <a:t>6006639</a:t>
            </a:r>
          </a:p>
        </p:txBody>
      </p:sp>
    </p:spTree>
    <p:extLst>
      <p:ext uri="{BB962C8B-B14F-4D97-AF65-F5344CB8AC3E}">
        <p14:creationId xmlns:p14="http://schemas.microsoft.com/office/powerpoint/2010/main" val="25445768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571500" y="330200"/>
            <a:ext cx="11861800" cy="1397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 anchor="b"/>
          <a:lstStyle/>
          <a:p>
            <a:r>
              <a:t>Title Text</a:t>
            </a:r>
          </a:p>
        </p:txBody>
      </p:sp>
      <p:sp>
        <p:nvSpPr>
          <p:cNvPr id="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" name="Seal 3 SPOT281.jpg" descr="Seal 3 SPOT281.jpg"/>
          <p:cNvPicPr>
            <a:picLocks noChangeAspect="1"/>
          </p:cNvPicPr>
          <p:nvPr/>
        </p:nvPicPr>
        <p:blipFill>
          <a:blip r:embed="rId2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" name="Body Level One…"/>
          <p:cNvSpPr txBox="1">
            <a:spLocks noGrp="1"/>
          </p:cNvSpPr>
          <p:nvPr>
            <p:ph type="body" idx="1"/>
          </p:nvPr>
        </p:nvSpPr>
        <p:spPr>
          <a:xfrm>
            <a:off x="571500" y="2324100"/>
            <a:ext cx="11861800" cy="6565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38100" tIns="38100" rIns="38100" bIns="38100"/>
          <a:lstStyle>
            <a:lvl2pPr>
              <a:defRPr>
                <a:solidFill>
                  <a:srgbClr val="747474"/>
                </a:solidFill>
              </a:defRPr>
            </a:lvl2pPr>
            <a:lvl3pPr>
              <a:defRPr>
                <a:solidFill>
                  <a:srgbClr val="747474"/>
                </a:solidFill>
              </a:defRPr>
            </a:lvl3pPr>
            <a:lvl4pPr>
              <a:defRPr>
                <a:solidFill>
                  <a:srgbClr val="747474"/>
                </a:solidFill>
              </a:defRPr>
            </a:lvl4pPr>
            <a:lvl5pPr>
              <a:defRPr>
                <a:solidFill>
                  <a:srgbClr val="747474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171679" y="9131300"/>
            <a:ext cx="286615" cy="274422"/>
          </a:xfrm>
          <a:prstGeom prst="rect">
            <a:avLst/>
          </a:prstGeom>
          <a:ln w="12700">
            <a:miter lim="400000"/>
          </a:ln>
        </p:spPr>
        <p:txBody>
          <a:bodyPr wrap="none" lIns="38100" tIns="38100" rIns="38100" bIns="38100">
            <a:spAutoFit/>
          </a:bodyPr>
          <a:lstStyle>
            <a:lvl1pPr algn="r">
              <a:defRPr sz="1400">
                <a:latin typeface="+mn-lt"/>
                <a:ea typeface="+mn-ea"/>
                <a:cs typeface="+mn-cs"/>
                <a:sym typeface="Helvetica Neu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</p:sldLayoutIdLst>
  <p:transition spd="med"/>
  <p:txStyles>
    <p:titleStyle>
      <a:lvl1pPr marL="0" marR="0" indent="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1pPr>
      <a:lvl2pPr marL="0" marR="0" indent="228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2pPr>
      <a:lvl3pPr marL="0" marR="0" indent="457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3pPr>
      <a:lvl4pPr marL="0" marR="0" indent="685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4pPr>
      <a:lvl5pPr marL="0" marR="0" indent="9144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5pPr>
      <a:lvl6pPr marL="0" marR="0" indent="11430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6pPr>
      <a:lvl7pPr marL="0" marR="0" indent="13716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7pPr>
      <a:lvl8pPr marL="0" marR="0" indent="16002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8pPr>
      <a:lvl9pPr marL="0" marR="0" indent="1828800" algn="l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000" b="0" i="0" u="none" strike="noStrike" cap="none" spc="0" baseline="0">
          <a:ln>
            <a:noFill/>
          </a:ln>
          <a:solidFill>
            <a:srgbClr val="000000"/>
          </a:solidFill>
          <a:uFillTx/>
          <a:latin typeface="+mj-lt"/>
          <a:ea typeface="+mj-ea"/>
          <a:cs typeface="+mj-cs"/>
          <a:sym typeface="Helvetica Neue Light"/>
        </a:defRPr>
      </a:lvl9pPr>
    </p:titleStyle>
    <p:bodyStyle>
      <a:lvl1pPr marL="2032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1pPr>
      <a:lvl2pPr marL="5461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2pPr>
      <a:lvl3pPr marL="8890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3pPr>
      <a:lvl4pPr marL="12319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4pPr>
      <a:lvl5pPr marL="15748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5pPr>
      <a:lvl6pPr marL="19177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6pPr>
      <a:lvl7pPr marL="22606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7pPr>
      <a:lvl8pPr marL="26035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8pPr>
      <a:lvl9pPr marL="2946400" marR="0" indent="-203200" algn="l" defTabSz="584200" latinLnBrk="0">
        <a:lnSpc>
          <a:spcPct val="100000"/>
        </a:lnSpc>
        <a:spcBef>
          <a:spcPts val="1500"/>
        </a:spcBef>
        <a:spcAft>
          <a:spcPts val="0"/>
        </a:spcAft>
        <a:buClrTx/>
        <a:buSzPct val="100000"/>
        <a:buFontTx/>
        <a:buChar char="•"/>
        <a:tabLst/>
        <a:defRPr sz="3000" b="0" i="0" u="none" strike="noStrike" cap="none" spc="0" baseline="0">
          <a:ln>
            <a:noFill/>
          </a:ln>
          <a:solidFill>
            <a:srgbClr val="9411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228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457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685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9144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11430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13716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16002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1828800" algn="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i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ti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i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Line"/>
          <p:cNvSpPr/>
          <p:nvPr/>
        </p:nvSpPr>
        <p:spPr>
          <a:xfrm>
            <a:off x="647700" y="47498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209" name="Seal 3 SPOT281.jpg" descr="Seal 3 SPOT281.jpg"/>
          <p:cNvPicPr>
            <a:picLocks noChangeAspect="1"/>
          </p:cNvPicPr>
          <p:nvPr/>
        </p:nvPicPr>
        <p:blipFill>
          <a:blip r:embed="rId2"/>
          <a:srcRect l="3469" t="3249" r="3360" b="3533"/>
          <a:stretch>
            <a:fillRect/>
          </a:stretch>
        </p:blipFill>
        <p:spPr>
          <a:xfrm>
            <a:off x="12017002" y="166113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14"/>
                  <a:pt x="560" y="13813"/>
                </a:cubicBezTo>
                <a:cubicBezTo>
                  <a:pt x="1344" y="16446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7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210" name="Threads Introduction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(T2)</a:t>
            </a:r>
            <a:r>
              <a:rPr dirty="0"/>
              <a:t>Threads</a:t>
            </a:r>
            <a:r>
              <a:rPr lang="en-US" dirty="0"/>
              <a:t>:</a:t>
            </a:r>
            <a:r>
              <a:rPr dirty="0"/>
              <a:t> </a:t>
            </a:r>
            <a:r>
              <a:rPr lang="en-US" dirty="0"/>
              <a:t>Resource Sharing</a:t>
            </a:r>
            <a:endParaRPr dirty="0"/>
          </a:p>
        </p:txBody>
      </p:sp>
      <p:sp>
        <p:nvSpPr>
          <p:cNvPr id="211" name="Ion Mandoiu…"/>
          <p:cNvSpPr txBox="1">
            <a:spLocks noGrp="1"/>
          </p:cNvSpPr>
          <p:nvPr>
            <p:ph type="subTitle" sz="half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Ion </a:t>
            </a:r>
            <a:r>
              <a:rPr dirty="0" err="1"/>
              <a:t>Mandoiu</a:t>
            </a:r>
            <a:endParaRPr dirty="0"/>
          </a:p>
          <a:p>
            <a:r>
              <a:rPr dirty="0"/>
              <a:t>Laurent Michel</a:t>
            </a:r>
            <a:endParaRPr lang="en-US" dirty="0"/>
          </a:p>
          <a:p>
            <a:r>
              <a:rPr lang="en-US" dirty="0"/>
              <a:t>Revised by M. Khan, J. Shi and W. Wei</a:t>
            </a:r>
          </a:p>
          <a:p>
            <a:endParaRPr dirty="0"/>
          </a:p>
        </p:txBody>
      </p:sp>
      <p:pic>
        <p:nvPicPr>
          <p:cNvPr id="21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3908" y="6005655"/>
            <a:ext cx="5080001" cy="35814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02034218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0C60D-B9AF-6B5E-D616-08A2C46AE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F4EF9-B70E-CA0B-D5C3-296CA5B6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E76887-3674-4740-7473-10A633D003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#include  &lt;</a:t>
            </a:r>
            <a:r>
              <a:rPr lang="en-US" sz="2400" dirty="0" err="1">
                <a:latin typeface="Consolas" panose="020B0609020204030204" pitchFamily="49" charset="0"/>
              </a:rPr>
              <a:t>pthread.h</a:t>
            </a:r>
            <a:r>
              <a:rPr lang="en-US" sz="2400" dirty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// Compile and link with '-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pthread</a:t>
            </a:r>
            <a:r>
              <a:rPr lang="en-US" sz="2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int  </a:t>
            </a:r>
            <a:r>
              <a:rPr lang="en-US" sz="2400" dirty="0" err="1">
                <a:latin typeface="Consolas" panose="020B0609020204030204" pitchFamily="49" charset="0"/>
              </a:rPr>
              <a:t>pthread_create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>
                <a:solidFill>
                  <a:schemeClr val="tx1">
                    <a:lumMod val="50000"/>
                    <a:lumOff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pthread_t</a:t>
            </a:r>
            <a:r>
              <a:rPr lang="en-US" sz="2400" dirty="0">
                <a:latin typeface="Consolas" panose="020B0609020204030204" pitchFamily="49" charset="0"/>
              </a:rPr>
              <a:t>* thread,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						</a:t>
            </a:r>
            <a:r>
              <a:rPr lang="en-US" sz="2400" dirty="0" err="1">
                <a:latin typeface="Consolas" panose="020B0609020204030204" pitchFamily="49" charset="0"/>
              </a:rPr>
              <a:t>pthread_attr_t</a:t>
            </a:r>
            <a:r>
              <a:rPr lang="en-US" sz="2400" dirty="0">
                <a:latin typeface="Consolas" panose="020B0609020204030204" pitchFamily="49" charset="0"/>
              </a:rPr>
              <a:t>*  </a:t>
            </a:r>
            <a:r>
              <a:rPr lang="en-US" sz="2400" dirty="0" err="1">
                <a:latin typeface="Consolas" panose="020B0609020204030204" pitchFamily="49" charset="0"/>
              </a:rPr>
              <a:t>attr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						void* (*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start_routine</a:t>
            </a:r>
            <a:r>
              <a:rPr lang="en-US" sz="2400" dirty="0">
                <a:latin typeface="Consolas" panose="020B0609020204030204" pitchFamily="49" charset="0"/>
              </a:rPr>
              <a:t>)(void*),</a:t>
            </a:r>
            <a:br>
              <a:rPr lang="en-US" sz="2400" dirty="0">
                <a:latin typeface="Consolas" panose="020B0609020204030204" pitchFamily="49" charset="0"/>
              </a:rPr>
            </a:br>
            <a:r>
              <a:rPr lang="en-US" sz="2400" dirty="0">
                <a:latin typeface="Consolas" panose="020B0609020204030204" pitchFamily="49" charset="0"/>
              </a:rPr>
              <a:t>      					void* </a:t>
            </a:r>
            <a:r>
              <a:rPr lang="en-US" sz="2400" dirty="0" err="1">
                <a:solidFill>
                  <a:srgbClr val="FF0000"/>
                </a:solidFill>
                <a:latin typeface="Consolas" panose="020B0609020204030204" pitchFamily="49" charset="0"/>
              </a:rPr>
              <a:t>arg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Terminating itself or return from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start_routine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void	</a:t>
            </a:r>
            <a:r>
              <a:rPr lang="en-US" sz="2400" dirty="0" err="1">
                <a:latin typeface="Consolas" panose="020B0609020204030204" pitchFamily="49" charset="0"/>
              </a:rPr>
              <a:t>pthread_exit</a:t>
            </a:r>
            <a:r>
              <a:rPr lang="en-US" sz="2400" dirty="0">
                <a:latin typeface="Consolas" panose="020B0609020204030204" pitchFamily="49" charset="0"/>
              </a:rPr>
              <a:t>(void *</a:t>
            </a:r>
            <a:r>
              <a:rPr lang="en-US" sz="2400" dirty="0" err="1">
                <a:latin typeface="Consolas" panose="020B0609020204030204" pitchFamily="49" charset="0"/>
              </a:rPr>
              <a:t>retval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avoid zombie threads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int 	</a:t>
            </a:r>
            <a:r>
              <a:rPr lang="en-US" sz="2400" dirty="0" err="1">
                <a:latin typeface="Consolas" panose="020B0609020204030204" pitchFamily="49" charset="0"/>
              </a:rPr>
              <a:t>pthread_join</a:t>
            </a:r>
            <a:r>
              <a:rPr lang="en-US" sz="2400" dirty="0">
                <a:latin typeface="Consolas" panose="020B0609020204030204" pitchFamily="49" charset="0"/>
              </a:rPr>
              <a:t>(</a:t>
            </a:r>
            <a:r>
              <a:rPr lang="en-US" sz="2400" dirty="0" err="1">
                <a:latin typeface="Consolas" panose="020B0609020204030204" pitchFamily="49" charset="0"/>
              </a:rPr>
              <a:t>pthread_t</a:t>
            </a:r>
            <a:r>
              <a:rPr lang="en-US" sz="2400" dirty="0">
                <a:latin typeface="Consolas" panose="020B0609020204030204" pitchFamily="49" charset="0"/>
              </a:rPr>
              <a:t> thread, void ** </a:t>
            </a:r>
            <a:r>
              <a:rPr lang="en-US" sz="2400" dirty="0" err="1">
                <a:latin typeface="Consolas" panose="020B0609020204030204" pitchFamily="49" charset="0"/>
              </a:rPr>
              <a:t>retval</a:t>
            </a:r>
            <a:r>
              <a:rPr lang="en-US" sz="24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endParaRPr lang="en-US" sz="2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054240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Virtual Address Spa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Virtual Address Space</a:t>
            </a:r>
          </a:p>
        </p:txBody>
      </p:sp>
      <p:sp>
        <p:nvSpPr>
          <p:cNvPr id="29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00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03" name="Rectangle"/>
          <p:cNvSpPr/>
          <p:nvPr/>
        </p:nvSpPr>
        <p:spPr>
          <a:xfrm>
            <a:off x="9037030" y="2222626"/>
            <a:ext cx="3473772" cy="6840380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04" name="0xffffffff"/>
          <p:cNvSpPr txBox="1"/>
          <p:nvPr/>
        </p:nvSpPr>
        <p:spPr>
          <a:xfrm>
            <a:off x="6842716" y="2209926"/>
            <a:ext cx="2172036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0xffffffff</a:t>
            </a:r>
          </a:p>
        </p:txBody>
      </p:sp>
      <p:sp>
        <p:nvSpPr>
          <p:cNvPr id="305" name="0x00000000"/>
          <p:cNvSpPr txBox="1"/>
          <p:nvPr/>
        </p:nvSpPr>
        <p:spPr>
          <a:xfrm>
            <a:off x="6842716" y="8560929"/>
            <a:ext cx="2172036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0x00000000</a:t>
            </a:r>
          </a:p>
        </p:txBody>
      </p:sp>
      <p:sp>
        <p:nvSpPr>
          <p:cNvPr id="306" name="Rectangle"/>
          <p:cNvSpPr/>
          <p:nvPr/>
        </p:nvSpPr>
        <p:spPr>
          <a:xfrm>
            <a:off x="9037030" y="8253790"/>
            <a:ext cx="3473772" cy="616152"/>
          </a:xfrm>
          <a:prstGeom prst="rect">
            <a:avLst/>
          </a:prstGeom>
          <a:solidFill>
            <a:srgbClr val="0433FF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07" name="Rectangle"/>
          <p:cNvSpPr/>
          <p:nvPr/>
        </p:nvSpPr>
        <p:spPr>
          <a:xfrm>
            <a:off x="9037030" y="8005692"/>
            <a:ext cx="3473772" cy="249023"/>
          </a:xfrm>
          <a:prstGeom prst="rect">
            <a:avLst/>
          </a:prstGeom>
          <a:solidFill>
            <a:srgbClr val="FF2F92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08" name="Rectangle"/>
          <p:cNvSpPr/>
          <p:nvPr/>
        </p:nvSpPr>
        <p:spPr>
          <a:xfrm>
            <a:off x="9037030" y="3395445"/>
            <a:ext cx="3473772" cy="385561"/>
          </a:xfrm>
          <a:prstGeom prst="rect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09" name="Arrow"/>
          <p:cNvSpPr/>
          <p:nvPr/>
        </p:nvSpPr>
        <p:spPr>
          <a:xfrm rot="5400000">
            <a:off x="10138916" y="3757253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26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0" name="Rectangle"/>
          <p:cNvSpPr/>
          <p:nvPr/>
        </p:nvSpPr>
        <p:spPr>
          <a:xfrm>
            <a:off x="9037030" y="7398548"/>
            <a:ext cx="3473772" cy="616152"/>
          </a:xfrm>
          <a:prstGeom prst="rect">
            <a:avLst/>
          </a:prstGeom>
          <a:solidFill>
            <a:srgbClr val="FFFB00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1" name="Arrow"/>
          <p:cNvSpPr/>
          <p:nvPr/>
        </p:nvSpPr>
        <p:spPr>
          <a:xfrm rot="16200000">
            <a:off x="10138916" y="6375183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B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12" name="Process with one thread"/>
          <p:cNvSpPr txBox="1"/>
          <p:nvPr/>
        </p:nvSpPr>
        <p:spPr>
          <a:xfrm>
            <a:off x="520360" y="5280356"/>
            <a:ext cx="5607304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>
                <a:solidFill>
                  <a:srgbClr val="FF0000"/>
                </a:solidFill>
              </a:rPr>
              <a:t>Process with one thread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CB56910-D026-4069-82C0-D138FF7BF73E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71226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Virtual Address Spac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Virtual Address Space</a:t>
            </a:r>
            <a:r>
              <a:rPr lang="en-US" dirty="0"/>
              <a:t> with Multiple threads</a:t>
            </a:r>
            <a:endParaRPr dirty="0"/>
          </a:p>
        </p:txBody>
      </p:sp>
      <p:sp>
        <p:nvSpPr>
          <p:cNvPr id="315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16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17" name="Process with three threads"/>
          <p:cNvSpPr txBox="1"/>
          <p:nvPr/>
        </p:nvSpPr>
        <p:spPr>
          <a:xfrm>
            <a:off x="1199670" y="5311133"/>
            <a:ext cx="5565626" cy="65659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sz="3600" dirty="0">
                <a:solidFill>
                  <a:schemeClr val="accent1"/>
                </a:solidFill>
              </a:rPr>
              <a:t>Process with three threads</a:t>
            </a:r>
          </a:p>
        </p:txBody>
      </p:sp>
      <p:sp>
        <p:nvSpPr>
          <p:cNvPr id="320" name="Rectangle"/>
          <p:cNvSpPr/>
          <p:nvPr/>
        </p:nvSpPr>
        <p:spPr>
          <a:xfrm>
            <a:off x="9037030" y="2222626"/>
            <a:ext cx="3473772" cy="6840380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1" name="0xffffffff"/>
          <p:cNvSpPr txBox="1"/>
          <p:nvPr/>
        </p:nvSpPr>
        <p:spPr>
          <a:xfrm>
            <a:off x="6842716" y="2209926"/>
            <a:ext cx="2172036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0xffffffff</a:t>
            </a:r>
          </a:p>
        </p:txBody>
      </p:sp>
      <p:sp>
        <p:nvSpPr>
          <p:cNvPr id="322" name="0x00000000"/>
          <p:cNvSpPr txBox="1"/>
          <p:nvPr/>
        </p:nvSpPr>
        <p:spPr>
          <a:xfrm>
            <a:off x="6842716" y="8560929"/>
            <a:ext cx="2172036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0x00000000</a:t>
            </a:r>
          </a:p>
        </p:txBody>
      </p:sp>
      <p:sp>
        <p:nvSpPr>
          <p:cNvPr id="323" name="Rectangle"/>
          <p:cNvSpPr/>
          <p:nvPr/>
        </p:nvSpPr>
        <p:spPr>
          <a:xfrm>
            <a:off x="9037030" y="8293548"/>
            <a:ext cx="3473772" cy="616152"/>
          </a:xfrm>
          <a:prstGeom prst="rect">
            <a:avLst/>
          </a:prstGeom>
          <a:solidFill>
            <a:srgbClr val="0433FF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4" name="Rectangle"/>
          <p:cNvSpPr/>
          <p:nvPr/>
        </p:nvSpPr>
        <p:spPr>
          <a:xfrm>
            <a:off x="9037030" y="8045450"/>
            <a:ext cx="3473772" cy="249023"/>
          </a:xfrm>
          <a:prstGeom prst="rect">
            <a:avLst/>
          </a:prstGeom>
          <a:solidFill>
            <a:srgbClr val="FF2F92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5" name="Rectangle"/>
          <p:cNvSpPr/>
          <p:nvPr/>
        </p:nvSpPr>
        <p:spPr>
          <a:xfrm>
            <a:off x="9037030" y="2560556"/>
            <a:ext cx="3473772" cy="385561"/>
          </a:xfrm>
          <a:prstGeom prst="rect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6" name="Arrow"/>
          <p:cNvSpPr/>
          <p:nvPr/>
        </p:nvSpPr>
        <p:spPr>
          <a:xfrm rot="5400000">
            <a:off x="10392088" y="2875500"/>
            <a:ext cx="763657" cy="757285"/>
          </a:xfrm>
          <a:prstGeom prst="rightArrow">
            <a:avLst>
              <a:gd name="adj1" fmla="val 32000"/>
              <a:gd name="adj2" fmla="val 64539"/>
            </a:avLst>
          </a:prstGeom>
          <a:solidFill>
            <a:srgbClr val="FF26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7" name="Rectangle"/>
          <p:cNvSpPr/>
          <p:nvPr/>
        </p:nvSpPr>
        <p:spPr>
          <a:xfrm>
            <a:off x="9037030" y="7438306"/>
            <a:ext cx="3473772" cy="616152"/>
          </a:xfrm>
          <a:prstGeom prst="rect">
            <a:avLst/>
          </a:prstGeom>
          <a:solidFill>
            <a:srgbClr val="FFFB00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8" name="Arrow"/>
          <p:cNvSpPr/>
          <p:nvPr/>
        </p:nvSpPr>
        <p:spPr>
          <a:xfrm rot="16200000">
            <a:off x="10138916" y="6434817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B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29" name="Rectangle"/>
          <p:cNvSpPr/>
          <p:nvPr/>
        </p:nvSpPr>
        <p:spPr>
          <a:xfrm>
            <a:off x="9037030" y="3891541"/>
            <a:ext cx="3473772" cy="385561"/>
          </a:xfrm>
          <a:prstGeom prst="rect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30" name="Arrow"/>
          <p:cNvSpPr/>
          <p:nvPr/>
        </p:nvSpPr>
        <p:spPr>
          <a:xfrm rot="5400000">
            <a:off x="10392088" y="4198565"/>
            <a:ext cx="763657" cy="757284"/>
          </a:xfrm>
          <a:prstGeom prst="rightArrow">
            <a:avLst>
              <a:gd name="adj1" fmla="val 32000"/>
              <a:gd name="adj2" fmla="val 64539"/>
            </a:avLst>
          </a:prstGeom>
          <a:solidFill>
            <a:srgbClr val="FF26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31" name="Rectangle"/>
          <p:cNvSpPr/>
          <p:nvPr/>
        </p:nvSpPr>
        <p:spPr>
          <a:xfrm>
            <a:off x="9037030" y="5161929"/>
            <a:ext cx="3473772" cy="385561"/>
          </a:xfrm>
          <a:prstGeom prst="rect">
            <a:avLst/>
          </a:prstGeom>
          <a:solidFill>
            <a:srgbClr val="FF2600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32" name="Arrow"/>
          <p:cNvSpPr/>
          <p:nvPr/>
        </p:nvSpPr>
        <p:spPr>
          <a:xfrm rot="5400000">
            <a:off x="10392088" y="5468953"/>
            <a:ext cx="763657" cy="757284"/>
          </a:xfrm>
          <a:prstGeom prst="rightArrow">
            <a:avLst>
              <a:gd name="adj1" fmla="val 32000"/>
              <a:gd name="adj2" fmla="val 64539"/>
            </a:avLst>
          </a:prstGeom>
          <a:solidFill>
            <a:srgbClr val="FF26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333" name="Each thread gets a stack…"/>
          <p:cNvSpPr txBox="1"/>
          <p:nvPr/>
        </p:nvSpPr>
        <p:spPr>
          <a:xfrm>
            <a:off x="318407" y="3322807"/>
            <a:ext cx="8417379" cy="13952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0800" tIns="50800" rIns="50800" bIns="50800" anchor="ctr">
            <a:spAutoFit/>
          </a:bodyPr>
          <a:lstStyle/>
          <a:p>
            <a:pPr>
              <a:defRPr sz="3100"/>
            </a:pPr>
            <a:r>
              <a:rPr sz="2800" b="1" dirty="0">
                <a:solidFill>
                  <a:schemeClr val="tx1"/>
                </a:solidFill>
              </a:rPr>
              <a:t>Each thread gets a stack</a:t>
            </a:r>
          </a:p>
          <a:p>
            <a:pPr>
              <a:defRPr sz="3100"/>
            </a:pPr>
            <a:r>
              <a:rPr sz="2800" dirty="0"/>
              <a:t>Stack</a:t>
            </a:r>
            <a:r>
              <a:rPr lang="en-US" sz="2800" dirty="0"/>
              <a:t>s</a:t>
            </a:r>
            <a:r>
              <a:rPr sz="2800" dirty="0"/>
              <a:t> have a max size</a:t>
            </a:r>
            <a:r>
              <a:rPr lang="en-US" sz="2800" dirty="0"/>
              <a:t> -- k</a:t>
            </a:r>
            <a:r>
              <a:rPr sz="2800" dirty="0"/>
              <a:t>eep</a:t>
            </a:r>
            <a:r>
              <a:rPr lang="en-US" sz="2800" dirty="0"/>
              <a:t>s</a:t>
            </a:r>
            <a:r>
              <a:rPr sz="2800" dirty="0"/>
              <a:t> stacks separated to avoid accidental overlap</a:t>
            </a:r>
          </a:p>
        </p:txBody>
      </p:sp>
      <p:sp>
        <p:nvSpPr>
          <p:cNvPr id="21" name="Each thread gets a stack…"/>
          <p:cNvSpPr txBox="1"/>
          <p:nvPr/>
        </p:nvSpPr>
        <p:spPr>
          <a:xfrm>
            <a:off x="2540174" y="7459423"/>
            <a:ext cx="3973845" cy="59503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3100"/>
            </a:pPr>
            <a:r>
              <a:rPr lang="en-US" sz="3200" dirty="0">
                <a:solidFill>
                  <a:srgbClr val="FF0000"/>
                </a:solidFill>
              </a:rPr>
              <a:t>Global data is shared</a:t>
            </a:r>
            <a:endParaRPr sz="3200" dirty="0">
              <a:solidFill>
                <a:srgbClr val="FF0000"/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91A1319-964B-4791-BFA6-1847480ABEBD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62806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32-bit Implicatio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32-bit Implication</a:t>
            </a:r>
          </a:p>
        </p:txBody>
      </p:sp>
      <p:sp>
        <p:nvSpPr>
          <p:cNvPr id="336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37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38" name="Virtual Address Space size on 32-bit O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Virtual Address Space size on 32-bit OS</a:t>
            </a:r>
          </a:p>
          <a:p>
            <a:pPr lvl="1"/>
            <a:r>
              <a:rPr dirty="0"/>
              <a:t>Linux: 2G</a:t>
            </a:r>
          </a:p>
          <a:p>
            <a:pPr lvl="1"/>
            <a:r>
              <a:rPr dirty="0"/>
              <a:t>Windows: 1G</a:t>
            </a:r>
          </a:p>
          <a:p>
            <a:r>
              <a:rPr dirty="0"/>
              <a:t>Typical stack size  per thread</a:t>
            </a:r>
          </a:p>
          <a:p>
            <a:pPr lvl="1"/>
            <a:r>
              <a:rPr dirty="0"/>
              <a:t>8 M</a:t>
            </a:r>
            <a:r>
              <a:rPr lang="en-US" dirty="0"/>
              <a:t>b</a:t>
            </a:r>
            <a:endParaRPr dirty="0"/>
          </a:p>
          <a:p>
            <a:r>
              <a:rPr dirty="0"/>
              <a:t>Memory usage goes to</a:t>
            </a:r>
          </a:p>
          <a:p>
            <a:pPr lvl="1"/>
            <a:r>
              <a:rPr dirty="0"/>
              <a:t>Executable: 	~ 1 to 50 </a:t>
            </a:r>
            <a:r>
              <a:rPr lang="en-US" dirty="0"/>
              <a:t>Mb</a:t>
            </a:r>
            <a:endParaRPr dirty="0"/>
          </a:p>
          <a:p>
            <a:pPr lvl="1"/>
            <a:r>
              <a:rPr dirty="0"/>
              <a:t>Heap:			~ 1 to 200 </a:t>
            </a:r>
            <a:r>
              <a:rPr lang="en-US" dirty="0"/>
              <a:t>Mb</a:t>
            </a:r>
            <a:endParaRPr dirty="0"/>
          </a:p>
          <a:p>
            <a:pPr lvl="1"/>
            <a:r>
              <a:rPr dirty="0"/>
              <a:t>Stacks:		~  # threads * 8  → </a:t>
            </a:r>
            <a:r>
              <a:rPr b="1" dirty="0"/>
              <a:t>100 threads </a:t>
            </a:r>
            <a:r>
              <a:rPr dirty="0"/>
              <a:t>yield 800 </a:t>
            </a:r>
            <a:r>
              <a:rPr lang="en-US" dirty="0"/>
              <a:t>Mb</a:t>
            </a:r>
            <a:endParaRPr dirty="0"/>
          </a:p>
          <a:p>
            <a:r>
              <a:rPr dirty="0"/>
              <a:t>Total near the limit of the address space size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E00B1C-8CC0-4F79-8C07-8C798F529D57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679113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Circumventing the limit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Circumventing the limit?</a:t>
            </a:r>
          </a:p>
        </p:txBody>
      </p:sp>
      <p:sp>
        <p:nvSpPr>
          <p:cNvPr id="342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343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344" name="Several “ways” to hop along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400"/>
              </a:spcBef>
            </a:pPr>
            <a:r>
              <a:rPr lang="en-US" dirty="0"/>
              <a:t>Use</a:t>
            </a:r>
            <a:r>
              <a:rPr dirty="0"/>
              <a:t> smaller stacks!  </a:t>
            </a:r>
            <a:endParaRPr lang="en-US" dirty="0"/>
          </a:p>
          <a:p>
            <a:pPr lvl="1">
              <a:spcBef>
                <a:spcPts val="400"/>
              </a:spcBef>
            </a:pPr>
            <a:r>
              <a:rPr lang="en-US" dirty="0"/>
              <a:t>B</a:t>
            </a:r>
            <a:r>
              <a:rPr dirty="0"/>
              <a:t>ut beware of recursion</a:t>
            </a:r>
          </a:p>
          <a:p>
            <a:pPr>
              <a:spcBef>
                <a:spcPts val="400"/>
              </a:spcBef>
            </a:pPr>
            <a:r>
              <a:rPr dirty="0"/>
              <a:t>Separate tasks in several process that </a:t>
            </a:r>
          </a:p>
          <a:p>
            <a:pPr lvl="1">
              <a:spcBef>
                <a:spcPts val="400"/>
              </a:spcBef>
            </a:pPr>
            <a:r>
              <a:rPr dirty="0"/>
              <a:t>Communicate via pipes</a:t>
            </a:r>
            <a:r>
              <a:rPr lang="en-US" dirty="0"/>
              <a:t> or </a:t>
            </a:r>
            <a:r>
              <a:rPr dirty="0"/>
              <a:t>shared virtual memory</a:t>
            </a:r>
          </a:p>
          <a:p>
            <a:pPr>
              <a:spcBef>
                <a:spcPts val="400"/>
              </a:spcBef>
            </a:pPr>
            <a:r>
              <a:rPr dirty="0"/>
              <a:t>Use a 64-bit OS</a:t>
            </a:r>
          </a:p>
          <a:p>
            <a:pPr lvl="1">
              <a:spcBef>
                <a:spcPts val="400"/>
              </a:spcBef>
            </a:pPr>
            <a:r>
              <a:rPr dirty="0"/>
              <a:t>Remember 8 </a:t>
            </a:r>
            <a:r>
              <a:rPr lang="en-US" dirty="0"/>
              <a:t>Mb</a:t>
            </a:r>
            <a:r>
              <a:rPr dirty="0"/>
              <a:t> = 2</a:t>
            </a:r>
            <a:r>
              <a:rPr baseline="31999" dirty="0"/>
              <a:t>23</a:t>
            </a:r>
          </a:p>
          <a:p>
            <a:pPr lvl="1">
              <a:spcBef>
                <a:spcPts val="400"/>
              </a:spcBef>
            </a:pPr>
            <a:r>
              <a:rPr dirty="0" err="1"/>
              <a:t>Adress</a:t>
            </a:r>
            <a:r>
              <a:rPr dirty="0"/>
              <a:t> space size   = 2</a:t>
            </a:r>
            <a:r>
              <a:rPr baseline="31999" dirty="0"/>
              <a:t>64</a:t>
            </a:r>
          </a:p>
          <a:p>
            <a:pPr lvl="1">
              <a:spcBef>
                <a:spcPts val="400"/>
              </a:spcBef>
            </a:pPr>
            <a:r>
              <a:rPr dirty="0"/>
              <a:t>Executable space: no more than 1/2 !</a:t>
            </a:r>
          </a:p>
          <a:p>
            <a:pPr lvl="2">
              <a:spcBef>
                <a:spcPts val="400"/>
              </a:spcBef>
            </a:pPr>
            <a:r>
              <a:rPr dirty="0"/>
              <a:t>What’s left is still  2</a:t>
            </a:r>
            <a:r>
              <a:rPr baseline="31999" dirty="0"/>
              <a:t>63</a:t>
            </a:r>
          </a:p>
          <a:p>
            <a:pPr lvl="1">
              <a:spcBef>
                <a:spcPts val="400"/>
              </a:spcBef>
            </a:pPr>
            <a:r>
              <a:rPr lang="en-US" dirty="0"/>
              <a:t>Enough room for 2</a:t>
            </a:r>
            <a:r>
              <a:rPr lang="en-US" baseline="30000" dirty="0"/>
              <a:t>40</a:t>
            </a:r>
            <a:r>
              <a:rPr lang="en-US" dirty="0"/>
              <a:t> </a:t>
            </a:r>
            <a:r>
              <a:rPr dirty="0"/>
              <a:t>stacks</a:t>
            </a:r>
            <a:r>
              <a:rPr lang="en-US" dirty="0"/>
              <a:t>!</a:t>
            </a:r>
            <a:r>
              <a:rPr dirty="0"/>
              <a:t> 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1FF356-0918-4F37-9379-2B8A473BC3F5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101687"/>
      </p:ext>
    </p:extLst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3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34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4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4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34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34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4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Threads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2253066"/>
            <a:ext cx="11861800" cy="7170334"/>
          </a:xfrm>
        </p:spPr>
        <p:txBody>
          <a:bodyPr/>
          <a:lstStyle/>
          <a:p>
            <a:pPr algn="l"/>
            <a:r>
              <a:rPr lang="en-US" dirty="0"/>
              <a:t>Simpler programming model</a:t>
            </a:r>
          </a:p>
          <a:p>
            <a:pPr algn="l"/>
            <a:r>
              <a:rPr lang="en-US" dirty="0"/>
              <a:t>Easier to coordinate (shared address space, and data)</a:t>
            </a:r>
          </a:p>
          <a:p>
            <a:pPr algn="l"/>
            <a:r>
              <a:rPr lang="en-US" dirty="0"/>
              <a:t>Lighter weight than processes</a:t>
            </a:r>
          </a:p>
          <a:p>
            <a:pPr lvl="1"/>
            <a:r>
              <a:rPr lang="en-US" dirty="0"/>
              <a:t>Takes less resources than process to manage</a:t>
            </a:r>
          </a:p>
          <a:p>
            <a:pPr algn="l"/>
            <a:r>
              <a:rPr lang="en-US" dirty="0"/>
              <a:t>In case of substantial CPU and I/O, thread improves performance</a:t>
            </a:r>
          </a:p>
          <a:p>
            <a:pPr algn="l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0671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threads 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82600" y="2017713"/>
            <a:ext cx="6894512" cy="3697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/>
          <a:lstStyle>
            <a:lvl1pPr marL="2032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marL="5461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marL="8890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marL="12319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marL="15748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5pPr>
            <a:lvl6pPr marL="19177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6pPr>
            <a:lvl7pPr marL="22606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7pPr>
            <a:lvl8pPr marL="26035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8pPr>
            <a:lvl9pPr marL="29464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/>
            <a:r>
              <a:rPr lang="en-US" altLang="en-US" sz="2800" dirty="0"/>
              <a:t>Light-weight </a:t>
            </a:r>
          </a:p>
          <a:p>
            <a:pPr lvl="1" algn="l"/>
            <a:r>
              <a:rPr lang="en-US" altLang="en-US" sz="2800" dirty="0"/>
              <a:t>Lower overhead for thread creation</a:t>
            </a:r>
          </a:p>
          <a:p>
            <a:pPr lvl="1" algn="l"/>
            <a:r>
              <a:rPr lang="en-US" altLang="en-US" sz="2800" dirty="0"/>
              <a:t>Lower context switching overhead</a:t>
            </a:r>
          </a:p>
          <a:p>
            <a:pPr lvl="1" algn="l"/>
            <a:r>
              <a:rPr lang="en-US" altLang="en-US" sz="2800" dirty="0"/>
              <a:t>Fewer OS resources</a:t>
            </a:r>
          </a:p>
          <a:p>
            <a:pPr algn="l"/>
            <a:endParaRPr lang="en-US" altLang="en-US" sz="2800" b="1" dirty="0"/>
          </a:p>
        </p:txBody>
      </p:sp>
      <p:grpSp>
        <p:nvGrpSpPr>
          <p:cNvPr id="5" name="Group 4"/>
          <p:cNvGrpSpPr/>
          <p:nvPr/>
        </p:nvGrpSpPr>
        <p:grpSpPr>
          <a:xfrm>
            <a:off x="4472396" y="4030512"/>
            <a:ext cx="8296660" cy="5652201"/>
            <a:chOff x="4216400" y="3763774"/>
            <a:chExt cx="8552656" cy="5919312"/>
          </a:xfrm>
        </p:grpSpPr>
        <p:sp>
          <p:nvSpPr>
            <p:cNvPr id="145" name="TextBox 144"/>
            <p:cNvSpPr txBox="1"/>
            <p:nvPr/>
          </p:nvSpPr>
          <p:spPr>
            <a:xfrm>
              <a:off x="8603751" y="9317789"/>
              <a:ext cx="4116289" cy="365297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lvl="1" indent="0" rtl="0" latinLnBrk="1" hangingPunct="0"/>
              <a:r>
                <a:rPr lang="en-US" altLang="en-US" sz="1600" dirty="0">
                  <a:solidFill>
                    <a:schemeClr val="bg1">
                      <a:lumMod val="90000"/>
                    </a:schemeClr>
                  </a:solidFill>
                  <a:latin typeface="+mn-lt"/>
                </a:rPr>
                <a:t>https://computing.llnl.gov/tutorials/pthreads</a:t>
              </a:r>
            </a:p>
          </p:txBody>
        </p:sp>
        <p:grpSp>
          <p:nvGrpSpPr>
            <p:cNvPr id="146" name="Group 5"/>
            <p:cNvGrpSpPr>
              <a:grpSpLocks/>
            </p:cNvGrpSpPr>
            <p:nvPr/>
          </p:nvGrpSpPr>
          <p:grpSpPr bwMode="auto">
            <a:xfrm>
              <a:off x="4216400" y="4281650"/>
              <a:ext cx="8552656" cy="5044381"/>
              <a:chOff x="-2" y="516"/>
              <a:chExt cx="5243" cy="3860"/>
            </a:xfrm>
          </p:grpSpPr>
          <p:grpSp>
            <p:nvGrpSpPr>
              <p:cNvPr id="147" name="Group 6"/>
              <p:cNvGrpSpPr>
                <a:grpSpLocks/>
              </p:cNvGrpSpPr>
              <p:nvPr/>
            </p:nvGrpSpPr>
            <p:grpSpPr bwMode="auto">
              <a:xfrm>
                <a:off x="0" y="518"/>
                <a:ext cx="5239" cy="3856"/>
                <a:chOff x="0" y="518"/>
                <a:chExt cx="5239" cy="3856"/>
              </a:xfrm>
            </p:grpSpPr>
            <p:grpSp>
              <p:nvGrpSpPr>
                <p:cNvPr id="149" name="Group 7"/>
                <p:cNvGrpSpPr>
                  <a:grpSpLocks/>
                </p:cNvGrpSpPr>
                <p:nvPr/>
              </p:nvGrpSpPr>
              <p:grpSpPr bwMode="auto">
                <a:xfrm>
                  <a:off x="0" y="518"/>
                  <a:ext cx="2687" cy="1266"/>
                  <a:chOff x="0" y="518"/>
                  <a:chExt cx="2687" cy="1266"/>
                </a:xfrm>
              </p:grpSpPr>
              <p:sp>
                <p:nvSpPr>
                  <p:cNvPr id="279" name="Rectangle 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518"/>
                    <a:ext cx="2687" cy="1266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altLang="en-US" sz="1800" b="1" dirty="0">
                        <a:latin typeface="+mn-lt"/>
                        <a:cs typeface="Arial" charset="0"/>
                      </a:rPr>
                      <a:t>Platform</a:t>
                    </a:r>
                    <a:endParaRPr lang="en-US" altLang="en-US" sz="1800" dirty="0">
                      <a:latin typeface="+mn-lt"/>
                    </a:endParaRPr>
                  </a:p>
                </p:txBody>
              </p:sp>
              <p:sp>
                <p:nvSpPr>
                  <p:cNvPr id="280" name="Rectangle 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518"/>
                    <a:ext cx="2687" cy="1266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0" name="Group 10"/>
                <p:cNvGrpSpPr>
                  <a:grpSpLocks/>
                </p:cNvGrpSpPr>
                <p:nvPr/>
              </p:nvGrpSpPr>
              <p:grpSpPr bwMode="auto">
                <a:xfrm>
                  <a:off x="2687" y="518"/>
                  <a:ext cx="1335" cy="518"/>
                  <a:chOff x="2687" y="518"/>
                  <a:chExt cx="1335" cy="518"/>
                </a:xfrm>
              </p:grpSpPr>
              <p:sp>
                <p:nvSpPr>
                  <p:cNvPr id="277" name="Rectangle 11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518"/>
                    <a:ext cx="1335" cy="51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>
                        <a:latin typeface="+mn-lt"/>
                        <a:cs typeface="Arial" charset="0"/>
                      </a:rPr>
                      <a:t>fork()</a:t>
                    </a:r>
                    <a:endParaRPr lang="en-US" altLang="en-US" sz="1800">
                      <a:latin typeface="+mn-lt"/>
                    </a:endParaRPr>
                  </a:p>
                </p:txBody>
              </p:sp>
              <p:sp>
                <p:nvSpPr>
                  <p:cNvPr id="278" name="Rectangle 12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518"/>
                    <a:ext cx="1335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1" name="Group 13"/>
                <p:cNvGrpSpPr>
                  <a:grpSpLocks/>
                </p:cNvGrpSpPr>
                <p:nvPr/>
              </p:nvGrpSpPr>
              <p:grpSpPr bwMode="auto">
                <a:xfrm>
                  <a:off x="3949" y="518"/>
                  <a:ext cx="1290" cy="518"/>
                  <a:chOff x="3949" y="518"/>
                  <a:chExt cx="1290" cy="518"/>
                </a:xfrm>
              </p:grpSpPr>
              <p:sp>
                <p:nvSpPr>
                  <p:cNvPr id="275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949" y="518"/>
                    <a:ext cx="1290" cy="51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 dirty="0" err="1">
                        <a:latin typeface="+mn-lt"/>
                        <a:cs typeface="Arial" charset="0"/>
                      </a:rPr>
                      <a:t>pthread_create</a:t>
                    </a:r>
                    <a:r>
                      <a:rPr lang="en-US" altLang="en-US" sz="1800" b="1" dirty="0">
                        <a:latin typeface="+mn-lt"/>
                        <a:cs typeface="Arial" charset="0"/>
                      </a:rPr>
                      <a:t>()</a:t>
                    </a:r>
                    <a:endParaRPr lang="en-US" altLang="en-US" sz="1800" dirty="0">
                      <a:latin typeface="+mn-lt"/>
                    </a:endParaRPr>
                  </a:p>
                </p:txBody>
              </p:sp>
              <p:sp>
                <p:nvSpPr>
                  <p:cNvPr id="276" name="Rectangle 15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518"/>
                    <a:ext cx="121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2" name="Group 16"/>
                <p:cNvGrpSpPr>
                  <a:grpSpLocks/>
                </p:cNvGrpSpPr>
                <p:nvPr/>
              </p:nvGrpSpPr>
              <p:grpSpPr bwMode="auto">
                <a:xfrm>
                  <a:off x="2687" y="1036"/>
                  <a:ext cx="489" cy="748"/>
                  <a:chOff x="2687" y="1036"/>
                  <a:chExt cx="489" cy="748"/>
                </a:xfrm>
              </p:grpSpPr>
              <p:sp>
                <p:nvSpPr>
                  <p:cNvPr id="273" name="Rectangle 17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1036"/>
                    <a:ext cx="489" cy="74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 dirty="0">
                        <a:latin typeface="+mn-lt"/>
                        <a:cs typeface="Arial" charset="0"/>
                      </a:rPr>
                      <a:t>real</a:t>
                    </a:r>
                    <a:endParaRPr lang="en-US" altLang="en-US" sz="1800" dirty="0">
                      <a:latin typeface="+mn-lt"/>
                    </a:endParaRPr>
                  </a:p>
                </p:txBody>
              </p:sp>
              <p:sp>
                <p:nvSpPr>
                  <p:cNvPr id="274" name="Rectangle 18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1036"/>
                    <a:ext cx="489" cy="74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3" name="Group 19"/>
                <p:cNvGrpSpPr>
                  <a:grpSpLocks/>
                </p:cNvGrpSpPr>
                <p:nvPr/>
              </p:nvGrpSpPr>
              <p:grpSpPr bwMode="auto">
                <a:xfrm>
                  <a:off x="3176" y="1036"/>
                  <a:ext cx="423" cy="748"/>
                  <a:chOff x="3176" y="1036"/>
                  <a:chExt cx="423" cy="748"/>
                </a:xfrm>
              </p:grpSpPr>
              <p:sp>
                <p:nvSpPr>
                  <p:cNvPr id="271" name="Rectangle 20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1036"/>
                    <a:ext cx="423" cy="74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>
                        <a:latin typeface="+mn-lt"/>
                        <a:cs typeface="Arial" charset="0"/>
                      </a:rPr>
                      <a:t>user</a:t>
                    </a:r>
                    <a:endParaRPr lang="en-US" altLang="en-US" sz="1800">
                      <a:latin typeface="+mn-lt"/>
                    </a:endParaRPr>
                  </a:p>
                </p:txBody>
              </p:sp>
              <p:sp>
                <p:nvSpPr>
                  <p:cNvPr id="272" name="Rectangle 21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1036"/>
                    <a:ext cx="423" cy="74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4" name="Group 22"/>
                <p:cNvGrpSpPr>
                  <a:grpSpLocks/>
                </p:cNvGrpSpPr>
                <p:nvPr/>
              </p:nvGrpSpPr>
              <p:grpSpPr bwMode="auto">
                <a:xfrm>
                  <a:off x="3599" y="1036"/>
                  <a:ext cx="423" cy="748"/>
                  <a:chOff x="3599" y="1036"/>
                  <a:chExt cx="423" cy="748"/>
                </a:xfrm>
              </p:grpSpPr>
              <p:sp>
                <p:nvSpPr>
                  <p:cNvPr id="269" name="Rectangle 23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1036"/>
                    <a:ext cx="423" cy="74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>
                        <a:latin typeface="+mn-lt"/>
                        <a:cs typeface="Arial" charset="0"/>
                      </a:rPr>
                      <a:t>sys</a:t>
                    </a:r>
                    <a:endParaRPr lang="en-US" altLang="en-US" sz="1800">
                      <a:latin typeface="+mn-lt"/>
                    </a:endParaRPr>
                  </a:p>
                </p:txBody>
              </p:sp>
              <p:sp>
                <p:nvSpPr>
                  <p:cNvPr id="270" name="Rectangle 24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1036"/>
                    <a:ext cx="423" cy="74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5" name="Group 25"/>
                <p:cNvGrpSpPr>
                  <a:grpSpLocks/>
                </p:cNvGrpSpPr>
                <p:nvPr/>
              </p:nvGrpSpPr>
              <p:grpSpPr bwMode="auto">
                <a:xfrm>
                  <a:off x="4022" y="1036"/>
                  <a:ext cx="391" cy="748"/>
                  <a:chOff x="4022" y="1036"/>
                  <a:chExt cx="391" cy="748"/>
                </a:xfrm>
              </p:grpSpPr>
              <p:sp>
                <p:nvSpPr>
                  <p:cNvPr id="267" name="Rectangle 26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1036"/>
                    <a:ext cx="391" cy="74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>
                        <a:latin typeface="+mn-lt"/>
                        <a:cs typeface="Arial" charset="0"/>
                      </a:rPr>
                      <a:t>real</a:t>
                    </a:r>
                    <a:endParaRPr lang="en-US" altLang="en-US" sz="1800">
                      <a:latin typeface="+mn-lt"/>
                    </a:endParaRPr>
                  </a:p>
                </p:txBody>
              </p:sp>
              <p:sp>
                <p:nvSpPr>
                  <p:cNvPr id="268" name="Rectangle 27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1036"/>
                    <a:ext cx="391" cy="74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6" name="Group 28"/>
                <p:cNvGrpSpPr>
                  <a:grpSpLocks/>
                </p:cNvGrpSpPr>
                <p:nvPr/>
              </p:nvGrpSpPr>
              <p:grpSpPr bwMode="auto">
                <a:xfrm>
                  <a:off x="4413" y="1036"/>
                  <a:ext cx="439" cy="748"/>
                  <a:chOff x="4413" y="1036"/>
                  <a:chExt cx="439" cy="748"/>
                </a:xfrm>
              </p:grpSpPr>
              <p:sp>
                <p:nvSpPr>
                  <p:cNvPr id="265" name="Rectangle 29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1036"/>
                    <a:ext cx="439" cy="74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>
                        <a:latin typeface="+mn-lt"/>
                        <a:cs typeface="Arial" charset="0"/>
                      </a:rPr>
                      <a:t>user</a:t>
                    </a:r>
                    <a:endParaRPr lang="en-US" altLang="en-US" sz="1800">
                      <a:latin typeface="+mn-lt"/>
                    </a:endParaRPr>
                  </a:p>
                </p:txBody>
              </p:sp>
              <p:sp>
                <p:nvSpPr>
                  <p:cNvPr id="266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1036"/>
                    <a:ext cx="439" cy="74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7" name="Group 31"/>
                <p:cNvGrpSpPr>
                  <a:grpSpLocks/>
                </p:cNvGrpSpPr>
                <p:nvPr/>
              </p:nvGrpSpPr>
              <p:grpSpPr bwMode="auto">
                <a:xfrm>
                  <a:off x="4852" y="1036"/>
                  <a:ext cx="387" cy="748"/>
                  <a:chOff x="4852" y="1036"/>
                  <a:chExt cx="387" cy="748"/>
                </a:xfrm>
              </p:grpSpPr>
              <p:sp>
                <p:nvSpPr>
                  <p:cNvPr id="263" name="Rectangle 32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1036"/>
                    <a:ext cx="387" cy="748"/>
                  </a:xfrm>
                  <a:prstGeom prst="rect">
                    <a:avLst/>
                  </a:prstGeom>
                  <a:solidFill>
                    <a:schemeClr val="accent1">
                      <a:lumMod val="40000"/>
                      <a:lumOff val="6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ctr" eaLnBrk="1" hangingPunct="1"/>
                    <a:r>
                      <a:rPr lang="en-US" altLang="en-US" sz="1800" b="1" dirty="0">
                        <a:latin typeface="+mn-lt"/>
                        <a:cs typeface="Arial" charset="0"/>
                      </a:rPr>
                      <a:t>sys</a:t>
                    </a:r>
                    <a:endParaRPr lang="en-US" altLang="en-US" sz="1800" dirty="0">
                      <a:latin typeface="+mn-lt"/>
                    </a:endParaRPr>
                  </a:p>
                </p:txBody>
              </p:sp>
              <p:sp>
                <p:nvSpPr>
                  <p:cNvPr id="264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1036"/>
                    <a:ext cx="387" cy="74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8" name="Group 34"/>
                <p:cNvGrpSpPr>
                  <a:grpSpLocks/>
                </p:cNvGrpSpPr>
                <p:nvPr/>
              </p:nvGrpSpPr>
              <p:grpSpPr bwMode="auto">
                <a:xfrm>
                  <a:off x="0" y="1784"/>
                  <a:ext cx="2687" cy="518"/>
                  <a:chOff x="0" y="1784"/>
                  <a:chExt cx="2687" cy="518"/>
                </a:xfrm>
              </p:grpSpPr>
              <p:sp>
                <p:nvSpPr>
                  <p:cNvPr id="261" name="Rectangle 35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784"/>
                    <a:ext cx="26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altLang="en-US" sz="1800" b="1" dirty="0">
                        <a:latin typeface="+mn-lt"/>
                      </a:rPr>
                      <a:t>AMD 2.4 GHz Opteron (8cpus/node)</a:t>
                    </a:r>
                    <a:r>
                      <a:rPr lang="en-US" altLang="en-US" sz="1800" dirty="0">
                        <a:latin typeface="+mn-lt"/>
                      </a:rPr>
                      <a:t> </a:t>
                    </a:r>
                  </a:p>
                </p:txBody>
              </p:sp>
              <p:sp>
                <p:nvSpPr>
                  <p:cNvPr id="262" name="Rectangle 3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1784"/>
                    <a:ext cx="26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59" name="Group 37"/>
                <p:cNvGrpSpPr>
                  <a:grpSpLocks/>
                </p:cNvGrpSpPr>
                <p:nvPr/>
              </p:nvGrpSpPr>
              <p:grpSpPr bwMode="auto">
                <a:xfrm>
                  <a:off x="2687" y="1784"/>
                  <a:ext cx="489" cy="518"/>
                  <a:chOff x="2687" y="1784"/>
                  <a:chExt cx="489" cy="518"/>
                </a:xfrm>
              </p:grpSpPr>
              <p:sp>
                <p:nvSpPr>
                  <p:cNvPr id="259" name="Rectangle 38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1784"/>
                    <a:ext cx="48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 dirty="0">
                        <a:latin typeface="+mn-lt"/>
                      </a:rPr>
                      <a:t>17.6</a:t>
                    </a:r>
                  </a:p>
                </p:txBody>
              </p:sp>
              <p:sp>
                <p:nvSpPr>
                  <p:cNvPr id="260" name="Rectangle 39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1784"/>
                    <a:ext cx="48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0" name="Group 40"/>
                <p:cNvGrpSpPr>
                  <a:grpSpLocks/>
                </p:cNvGrpSpPr>
                <p:nvPr/>
              </p:nvGrpSpPr>
              <p:grpSpPr bwMode="auto">
                <a:xfrm>
                  <a:off x="3176" y="1784"/>
                  <a:ext cx="423" cy="518"/>
                  <a:chOff x="3176" y="1784"/>
                  <a:chExt cx="423" cy="518"/>
                </a:xfrm>
              </p:grpSpPr>
              <p:sp>
                <p:nvSpPr>
                  <p:cNvPr id="257" name="Rectangle 41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1784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 dirty="0">
                        <a:latin typeface="+mn-lt"/>
                      </a:rPr>
                      <a:t>2.2</a:t>
                    </a:r>
                  </a:p>
                </p:txBody>
              </p:sp>
              <p:sp>
                <p:nvSpPr>
                  <p:cNvPr id="258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1784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1" name="Group 43"/>
                <p:cNvGrpSpPr>
                  <a:grpSpLocks/>
                </p:cNvGrpSpPr>
                <p:nvPr/>
              </p:nvGrpSpPr>
              <p:grpSpPr bwMode="auto">
                <a:xfrm>
                  <a:off x="3599" y="1784"/>
                  <a:ext cx="423" cy="518"/>
                  <a:chOff x="3599" y="1784"/>
                  <a:chExt cx="423" cy="518"/>
                </a:xfrm>
              </p:grpSpPr>
              <p:sp>
                <p:nvSpPr>
                  <p:cNvPr id="255" name="Rectangle 44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1784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 dirty="0">
                        <a:latin typeface="+mn-lt"/>
                      </a:rPr>
                      <a:t>15.7</a:t>
                    </a:r>
                  </a:p>
                </p:txBody>
              </p:sp>
              <p:sp>
                <p:nvSpPr>
                  <p:cNvPr id="256" name="Rectangle 45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1784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2" name="Group 46"/>
                <p:cNvGrpSpPr>
                  <a:grpSpLocks/>
                </p:cNvGrpSpPr>
                <p:nvPr/>
              </p:nvGrpSpPr>
              <p:grpSpPr bwMode="auto">
                <a:xfrm>
                  <a:off x="4022" y="1784"/>
                  <a:ext cx="391" cy="518"/>
                  <a:chOff x="4022" y="1784"/>
                  <a:chExt cx="391" cy="518"/>
                </a:xfrm>
              </p:grpSpPr>
              <p:sp>
                <p:nvSpPr>
                  <p:cNvPr id="253" name="Rectangle 47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1784"/>
                    <a:ext cx="391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 dirty="0">
                        <a:latin typeface="+mn-lt"/>
                      </a:rPr>
                      <a:t>1.4</a:t>
                    </a:r>
                  </a:p>
                </p:txBody>
              </p:sp>
              <p:sp>
                <p:nvSpPr>
                  <p:cNvPr id="254" name="Rectangle 48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1784"/>
                    <a:ext cx="391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3" name="Group 49"/>
                <p:cNvGrpSpPr>
                  <a:grpSpLocks/>
                </p:cNvGrpSpPr>
                <p:nvPr/>
              </p:nvGrpSpPr>
              <p:grpSpPr bwMode="auto">
                <a:xfrm>
                  <a:off x="4413" y="1784"/>
                  <a:ext cx="439" cy="518"/>
                  <a:chOff x="4413" y="1784"/>
                  <a:chExt cx="439" cy="518"/>
                </a:xfrm>
              </p:grpSpPr>
              <p:sp>
                <p:nvSpPr>
                  <p:cNvPr id="251" name="Rectangle 50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1784"/>
                    <a:ext cx="43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 dirty="0">
                        <a:latin typeface="+mn-lt"/>
                      </a:rPr>
                      <a:t>0.3</a:t>
                    </a:r>
                  </a:p>
                </p:txBody>
              </p:sp>
              <p:sp>
                <p:nvSpPr>
                  <p:cNvPr id="252" name="Rectangle 51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1784"/>
                    <a:ext cx="43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4" name="Group 52"/>
                <p:cNvGrpSpPr>
                  <a:grpSpLocks/>
                </p:cNvGrpSpPr>
                <p:nvPr/>
              </p:nvGrpSpPr>
              <p:grpSpPr bwMode="auto">
                <a:xfrm>
                  <a:off x="4852" y="1784"/>
                  <a:ext cx="387" cy="518"/>
                  <a:chOff x="4852" y="1784"/>
                  <a:chExt cx="387" cy="518"/>
                </a:xfrm>
              </p:grpSpPr>
              <p:sp>
                <p:nvSpPr>
                  <p:cNvPr id="249" name="Rectangle 53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1784"/>
                    <a:ext cx="3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 dirty="0">
                        <a:latin typeface="+mn-lt"/>
                      </a:rPr>
                      <a:t>1.3</a:t>
                    </a:r>
                  </a:p>
                </p:txBody>
              </p:sp>
              <p:sp>
                <p:nvSpPr>
                  <p:cNvPr id="250" name="Rectangle 54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1784"/>
                    <a:ext cx="3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5" name="Group 55"/>
                <p:cNvGrpSpPr>
                  <a:grpSpLocks/>
                </p:cNvGrpSpPr>
                <p:nvPr/>
              </p:nvGrpSpPr>
              <p:grpSpPr bwMode="auto">
                <a:xfrm>
                  <a:off x="0" y="2302"/>
                  <a:ext cx="2687" cy="518"/>
                  <a:chOff x="0" y="2302"/>
                  <a:chExt cx="2687" cy="518"/>
                </a:xfrm>
              </p:grpSpPr>
              <p:sp>
                <p:nvSpPr>
                  <p:cNvPr id="247" name="Rectangle 56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302"/>
                    <a:ext cx="26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altLang="en-US" sz="1800" b="1" dirty="0">
                        <a:latin typeface="+mn-lt"/>
                      </a:rPr>
                      <a:t>IBM 1.9 GHz POWER5 p5-575 (8cpus/node)</a:t>
                    </a:r>
                    <a:r>
                      <a:rPr lang="en-US" altLang="en-US" dirty="0">
                        <a:latin typeface="+mn-lt"/>
                      </a:rPr>
                      <a:t> </a:t>
                    </a:r>
                  </a:p>
                </p:txBody>
              </p:sp>
              <p:sp>
                <p:nvSpPr>
                  <p:cNvPr id="248" name="Rectangle 5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302"/>
                    <a:ext cx="26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6" name="Group 58"/>
                <p:cNvGrpSpPr>
                  <a:grpSpLocks/>
                </p:cNvGrpSpPr>
                <p:nvPr/>
              </p:nvGrpSpPr>
              <p:grpSpPr bwMode="auto">
                <a:xfrm>
                  <a:off x="2687" y="2302"/>
                  <a:ext cx="489" cy="518"/>
                  <a:chOff x="2687" y="2302"/>
                  <a:chExt cx="489" cy="518"/>
                </a:xfrm>
              </p:grpSpPr>
              <p:sp>
                <p:nvSpPr>
                  <p:cNvPr id="245" name="Rectangle 59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2302"/>
                    <a:ext cx="48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64.2</a:t>
                    </a:r>
                  </a:p>
                </p:txBody>
              </p:sp>
              <p:sp>
                <p:nvSpPr>
                  <p:cNvPr id="246" name="Rectangle 60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2302"/>
                    <a:ext cx="48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7" name="Group 61"/>
                <p:cNvGrpSpPr>
                  <a:grpSpLocks/>
                </p:cNvGrpSpPr>
                <p:nvPr/>
              </p:nvGrpSpPr>
              <p:grpSpPr bwMode="auto">
                <a:xfrm>
                  <a:off x="3176" y="2302"/>
                  <a:ext cx="423" cy="518"/>
                  <a:chOff x="3176" y="2302"/>
                  <a:chExt cx="423" cy="518"/>
                </a:xfrm>
              </p:grpSpPr>
              <p:sp>
                <p:nvSpPr>
                  <p:cNvPr id="243" name="Rectangle 62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2302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30.8</a:t>
                    </a:r>
                  </a:p>
                </p:txBody>
              </p:sp>
              <p:sp>
                <p:nvSpPr>
                  <p:cNvPr id="244" name="Rectangle 63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2302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8" name="Group 64"/>
                <p:cNvGrpSpPr>
                  <a:grpSpLocks/>
                </p:cNvGrpSpPr>
                <p:nvPr/>
              </p:nvGrpSpPr>
              <p:grpSpPr bwMode="auto">
                <a:xfrm>
                  <a:off x="3599" y="2302"/>
                  <a:ext cx="423" cy="518"/>
                  <a:chOff x="3599" y="2302"/>
                  <a:chExt cx="423" cy="518"/>
                </a:xfrm>
              </p:grpSpPr>
              <p:sp>
                <p:nvSpPr>
                  <p:cNvPr id="241" name="Rectangle 65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2302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27.7</a:t>
                    </a:r>
                  </a:p>
                </p:txBody>
              </p:sp>
              <p:sp>
                <p:nvSpPr>
                  <p:cNvPr id="242" name="Rectangle 66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2302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69" name="Group 67"/>
                <p:cNvGrpSpPr>
                  <a:grpSpLocks/>
                </p:cNvGrpSpPr>
                <p:nvPr/>
              </p:nvGrpSpPr>
              <p:grpSpPr bwMode="auto">
                <a:xfrm>
                  <a:off x="4022" y="2302"/>
                  <a:ext cx="391" cy="518"/>
                  <a:chOff x="4022" y="2302"/>
                  <a:chExt cx="391" cy="518"/>
                </a:xfrm>
              </p:grpSpPr>
              <p:sp>
                <p:nvSpPr>
                  <p:cNvPr id="239" name="Rectangle 68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2302"/>
                    <a:ext cx="391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1.8</a:t>
                    </a:r>
                  </a:p>
                </p:txBody>
              </p:sp>
              <p:sp>
                <p:nvSpPr>
                  <p:cNvPr id="240" name="Rectangle 69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2302"/>
                    <a:ext cx="391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0" name="Group 70"/>
                <p:cNvGrpSpPr>
                  <a:grpSpLocks/>
                </p:cNvGrpSpPr>
                <p:nvPr/>
              </p:nvGrpSpPr>
              <p:grpSpPr bwMode="auto">
                <a:xfrm>
                  <a:off x="4413" y="2302"/>
                  <a:ext cx="439" cy="518"/>
                  <a:chOff x="4413" y="2302"/>
                  <a:chExt cx="439" cy="518"/>
                </a:xfrm>
              </p:grpSpPr>
              <p:sp>
                <p:nvSpPr>
                  <p:cNvPr id="237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2302"/>
                    <a:ext cx="43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0.7</a:t>
                    </a:r>
                  </a:p>
                </p:txBody>
              </p:sp>
              <p:sp>
                <p:nvSpPr>
                  <p:cNvPr id="238" name="Rectangle 72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2302"/>
                    <a:ext cx="43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1" name="Group 73"/>
                <p:cNvGrpSpPr>
                  <a:grpSpLocks/>
                </p:cNvGrpSpPr>
                <p:nvPr/>
              </p:nvGrpSpPr>
              <p:grpSpPr bwMode="auto">
                <a:xfrm>
                  <a:off x="4852" y="2302"/>
                  <a:ext cx="387" cy="518"/>
                  <a:chOff x="4852" y="2302"/>
                  <a:chExt cx="387" cy="518"/>
                </a:xfrm>
              </p:grpSpPr>
              <p:sp>
                <p:nvSpPr>
                  <p:cNvPr id="235" name="Rectangle 74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2302"/>
                    <a:ext cx="3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1.1</a:t>
                    </a:r>
                  </a:p>
                </p:txBody>
              </p:sp>
              <p:sp>
                <p:nvSpPr>
                  <p:cNvPr id="236" name="Rectangle 75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2302"/>
                    <a:ext cx="3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2" name="Group 76"/>
                <p:cNvGrpSpPr>
                  <a:grpSpLocks/>
                </p:cNvGrpSpPr>
                <p:nvPr/>
              </p:nvGrpSpPr>
              <p:grpSpPr bwMode="auto">
                <a:xfrm>
                  <a:off x="0" y="2820"/>
                  <a:ext cx="2687" cy="518"/>
                  <a:chOff x="0" y="2820"/>
                  <a:chExt cx="2687" cy="518"/>
                </a:xfrm>
              </p:grpSpPr>
              <p:sp>
                <p:nvSpPr>
                  <p:cNvPr id="233" name="Rectangle 77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820"/>
                    <a:ext cx="26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altLang="en-US" sz="1800" b="1" dirty="0">
                        <a:latin typeface="+mn-lt"/>
                      </a:rPr>
                      <a:t>IBM 1.5 GHz POWER4 (8cpus/node)</a:t>
                    </a:r>
                    <a:r>
                      <a:rPr lang="en-US" altLang="en-US" sz="1800" dirty="0">
                        <a:latin typeface="+mn-lt"/>
                      </a:rPr>
                      <a:t> </a:t>
                    </a:r>
                  </a:p>
                </p:txBody>
              </p:sp>
              <p:sp>
                <p:nvSpPr>
                  <p:cNvPr id="234" name="Rectangle 7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2820"/>
                    <a:ext cx="26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3" name="Group 79"/>
                <p:cNvGrpSpPr>
                  <a:grpSpLocks/>
                </p:cNvGrpSpPr>
                <p:nvPr/>
              </p:nvGrpSpPr>
              <p:grpSpPr bwMode="auto">
                <a:xfrm>
                  <a:off x="2687" y="2820"/>
                  <a:ext cx="489" cy="518"/>
                  <a:chOff x="2687" y="2820"/>
                  <a:chExt cx="489" cy="518"/>
                </a:xfrm>
              </p:grpSpPr>
              <p:sp>
                <p:nvSpPr>
                  <p:cNvPr id="231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2820"/>
                    <a:ext cx="48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104.1</a:t>
                    </a:r>
                  </a:p>
                </p:txBody>
              </p:sp>
              <p:sp>
                <p:nvSpPr>
                  <p:cNvPr id="232" name="Rectangle 81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2820"/>
                    <a:ext cx="48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4" name="Group 82"/>
                <p:cNvGrpSpPr>
                  <a:grpSpLocks/>
                </p:cNvGrpSpPr>
                <p:nvPr/>
              </p:nvGrpSpPr>
              <p:grpSpPr bwMode="auto">
                <a:xfrm>
                  <a:off x="3176" y="2820"/>
                  <a:ext cx="423" cy="518"/>
                  <a:chOff x="3176" y="2820"/>
                  <a:chExt cx="423" cy="518"/>
                </a:xfrm>
              </p:grpSpPr>
              <p:sp>
                <p:nvSpPr>
                  <p:cNvPr id="229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2820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48.6</a:t>
                    </a:r>
                  </a:p>
                </p:txBody>
              </p:sp>
              <p:sp>
                <p:nvSpPr>
                  <p:cNvPr id="230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2820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5" name="Group 85"/>
                <p:cNvGrpSpPr>
                  <a:grpSpLocks/>
                </p:cNvGrpSpPr>
                <p:nvPr/>
              </p:nvGrpSpPr>
              <p:grpSpPr bwMode="auto">
                <a:xfrm>
                  <a:off x="3599" y="2820"/>
                  <a:ext cx="423" cy="518"/>
                  <a:chOff x="3599" y="2820"/>
                  <a:chExt cx="423" cy="518"/>
                </a:xfrm>
              </p:grpSpPr>
              <p:sp>
                <p:nvSpPr>
                  <p:cNvPr id="227" name="Rectangle 86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2820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47.2</a:t>
                    </a:r>
                  </a:p>
                </p:txBody>
              </p:sp>
              <p:sp>
                <p:nvSpPr>
                  <p:cNvPr id="228" name="Rectangle 87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2820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6" name="Group 88"/>
                <p:cNvGrpSpPr>
                  <a:grpSpLocks/>
                </p:cNvGrpSpPr>
                <p:nvPr/>
              </p:nvGrpSpPr>
              <p:grpSpPr bwMode="auto">
                <a:xfrm>
                  <a:off x="4022" y="2820"/>
                  <a:ext cx="391" cy="518"/>
                  <a:chOff x="4022" y="2820"/>
                  <a:chExt cx="391" cy="518"/>
                </a:xfrm>
              </p:grpSpPr>
              <p:sp>
                <p:nvSpPr>
                  <p:cNvPr id="225" name="Rectangle 89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2820"/>
                    <a:ext cx="391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2.0</a:t>
                    </a:r>
                  </a:p>
                </p:txBody>
              </p:sp>
              <p:sp>
                <p:nvSpPr>
                  <p:cNvPr id="226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2820"/>
                    <a:ext cx="391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7" name="Group 91"/>
                <p:cNvGrpSpPr>
                  <a:grpSpLocks/>
                </p:cNvGrpSpPr>
                <p:nvPr/>
              </p:nvGrpSpPr>
              <p:grpSpPr bwMode="auto">
                <a:xfrm>
                  <a:off x="4413" y="2820"/>
                  <a:ext cx="439" cy="518"/>
                  <a:chOff x="4413" y="2820"/>
                  <a:chExt cx="439" cy="518"/>
                </a:xfrm>
              </p:grpSpPr>
              <p:sp>
                <p:nvSpPr>
                  <p:cNvPr id="223" name="Rectangle 92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2820"/>
                    <a:ext cx="43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1.0</a:t>
                    </a:r>
                  </a:p>
                </p:txBody>
              </p:sp>
              <p:sp>
                <p:nvSpPr>
                  <p:cNvPr id="224" name="Rectangle 93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2820"/>
                    <a:ext cx="43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8" name="Group 94"/>
                <p:cNvGrpSpPr>
                  <a:grpSpLocks/>
                </p:cNvGrpSpPr>
                <p:nvPr/>
              </p:nvGrpSpPr>
              <p:grpSpPr bwMode="auto">
                <a:xfrm>
                  <a:off x="4852" y="2820"/>
                  <a:ext cx="387" cy="518"/>
                  <a:chOff x="4852" y="2820"/>
                  <a:chExt cx="387" cy="518"/>
                </a:xfrm>
              </p:grpSpPr>
              <p:sp>
                <p:nvSpPr>
                  <p:cNvPr id="221" name="Rectangle 95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2820"/>
                    <a:ext cx="3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1.5</a:t>
                    </a:r>
                  </a:p>
                </p:txBody>
              </p:sp>
              <p:sp>
                <p:nvSpPr>
                  <p:cNvPr id="222" name="Rectangle 96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2820"/>
                    <a:ext cx="3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79" name="Group 97"/>
                <p:cNvGrpSpPr>
                  <a:grpSpLocks/>
                </p:cNvGrpSpPr>
                <p:nvPr/>
              </p:nvGrpSpPr>
              <p:grpSpPr bwMode="auto">
                <a:xfrm>
                  <a:off x="0" y="3338"/>
                  <a:ext cx="2687" cy="518"/>
                  <a:chOff x="0" y="3338"/>
                  <a:chExt cx="2687" cy="518"/>
                </a:xfrm>
              </p:grpSpPr>
              <p:sp>
                <p:nvSpPr>
                  <p:cNvPr id="219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338"/>
                    <a:ext cx="26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altLang="en-US" sz="1800" b="1" dirty="0">
                        <a:latin typeface="+mn-lt"/>
                      </a:rPr>
                      <a:t>INTEL 2.4 GHz Xeon (2 </a:t>
                    </a:r>
                    <a:r>
                      <a:rPr lang="en-US" altLang="en-US" sz="1800" b="1" dirty="0" err="1">
                        <a:latin typeface="+mn-lt"/>
                      </a:rPr>
                      <a:t>cpus</a:t>
                    </a:r>
                    <a:r>
                      <a:rPr lang="en-US" altLang="en-US" sz="1800" b="1" dirty="0">
                        <a:latin typeface="+mn-lt"/>
                      </a:rPr>
                      <a:t>/node)</a:t>
                    </a:r>
                    <a:r>
                      <a:rPr lang="en-US" altLang="en-US" dirty="0">
                        <a:latin typeface="+mn-lt"/>
                      </a:rPr>
                      <a:t> </a:t>
                    </a:r>
                  </a:p>
                </p:txBody>
              </p:sp>
              <p:sp>
                <p:nvSpPr>
                  <p:cNvPr id="220" name="Rectangle 9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338"/>
                    <a:ext cx="26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0" name="Group 100"/>
                <p:cNvGrpSpPr>
                  <a:grpSpLocks/>
                </p:cNvGrpSpPr>
                <p:nvPr/>
              </p:nvGrpSpPr>
              <p:grpSpPr bwMode="auto">
                <a:xfrm>
                  <a:off x="2687" y="3338"/>
                  <a:ext cx="489" cy="518"/>
                  <a:chOff x="2687" y="3338"/>
                  <a:chExt cx="489" cy="518"/>
                </a:xfrm>
              </p:grpSpPr>
              <p:sp>
                <p:nvSpPr>
                  <p:cNvPr id="217" name="Rectangle 101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3338"/>
                    <a:ext cx="48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55.0</a:t>
                    </a:r>
                  </a:p>
                </p:txBody>
              </p:sp>
              <p:sp>
                <p:nvSpPr>
                  <p:cNvPr id="218" name="Rectangle 102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3338"/>
                    <a:ext cx="48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1" name="Group 103"/>
                <p:cNvGrpSpPr>
                  <a:grpSpLocks/>
                </p:cNvGrpSpPr>
                <p:nvPr/>
              </p:nvGrpSpPr>
              <p:grpSpPr bwMode="auto">
                <a:xfrm>
                  <a:off x="3176" y="3338"/>
                  <a:ext cx="423" cy="518"/>
                  <a:chOff x="3176" y="3338"/>
                  <a:chExt cx="423" cy="518"/>
                </a:xfrm>
              </p:grpSpPr>
              <p:sp>
                <p:nvSpPr>
                  <p:cNvPr id="215" name="Rectangle 104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3338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1.5</a:t>
                    </a:r>
                  </a:p>
                </p:txBody>
              </p:sp>
              <p:sp>
                <p:nvSpPr>
                  <p:cNvPr id="216" name="Rectangle 105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3338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2" name="Group 106"/>
                <p:cNvGrpSpPr>
                  <a:grpSpLocks/>
                </p:cNvGrpSpPr>
                <p:nvPr/>
              </p:nvGrpSpPr>
              <p:grpSpPr bwMode="auto">
                <a:xfrm>
                  <a:off x="3599" y="3338"/>
                  <a:ext cx="423" cy="518"/>
                  <a:chOff x="3599" y="3338"/>
                  <a:chExt cx="423" cy="518"/>
                </a:xfrm>
              </p:grpSpPr>
              <p:sp>
                <p:nvSpPr>
                  <p:cNvPr id="213" name="Rectangle 107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3338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20.8</a:t>
                    </a:r>
                  </a:p>
                </p:txBody>
              </p:sp>
              <p:sp>
                <p:nvSpPr>
                  <p:cNvPr id="214" name="Rectangle 108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3338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3" name="Group 109"/>
                <p:cNvGrpSpPr>
                  <a:grpSpLocks/>
                </p:cNvGrpSpPr>
                <p:nvPr/>
              </p:nvGrpSpPr>
              <p:grpSpPr bwMode="auto">
                <a:xfrm>
                  <a:off x="4022" y="3338"/>
                  <a:ext cx="391" cy="518"/>
                  <a:chOff x="4022" y="3338"/>
                  <a:chExt cx="391" cy="518"/>
                </a:xfrm>
              </p:grpSpPr>
              <p:sp>
                <p:nvSpPr>
                  <p:cNvPr id="211" name="Rectangle 110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3338"/>
                    <a:ext cx="391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1.6</a:t>
                    </a:r>
                  </a:p>
                </p:txBody>
              </p:sp>
              <p:sp>
                <p:nvSpPr>
                  <p:cNvPr id="212" name="Rectangle 111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3338"/>
                    <a:ext cx="391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4" name="Group 112"/>
                <p:cNvGrpSpPr>
                  <a:grpSpLocks/>
                </p:cNvGrpSpPr>
                <p:nvPr/>
              </p:nvGrpSpPr>
              <p:grpSpPr bwMode="auto">
                <a:xfrm>
                  <a:off x="4413" y="3338"/>
                  <a:ext cx="439" cy="518"/>
                  <a:chOff x="4413" y="3338"/>
                  <a:chExt cx="439" cy="518"/>
                </a:xfrm>
              </p:grpSpPr>
              <p:sp>
                <p:nvSpPr>
                  <p:cNvPr id="209" name="Rectangle 113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3338"/>
                    <a:ext cx="43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0.7</a:t>
                    </a:r>
                  </a:p>
                </p:txBody>
              </p:sp>
              <p:sp>
                <p:nvSpPr>
                  <p:cNvPr id="210" name="Rectangle 114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3338"/>
                    <a:ext cx="43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5" name="Group 115"/>
                <p:cNvGrpSpPr>
                  <a:grpSpLocks/>
                </p:cNvGrpSpPr>
                <p:nvPr/>
              </p:nvGrpSpPr>
              <p:grpSpPr bwMode="auto">
                <a:xfrm>
                  <a:off x="4852" y="3338"/>
                  <a:ext cx="387" cy="518"/>
                  <a:chOff x="4852" y="3338"/>
                  <a:chExt cx="387" cy="518"/>
                </a:xfrm>
              </p:grpSpPr>
              <p:sp>
                <p:nvSpPr>
                  <p:cNvPr id="207" name="Rectangle 116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3338"/>
                    <a:ext cx="3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0.9</a:t>
                    </a:r>
                  </a:p>
                </p:txBody>
              </p:sp>
              <p:sp>
                <p:nvSpPr>
                  <p:cNvPr id="208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3338"/>
                    <a:ext cx="3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6" name="Group 118"/>
                <p:cNvGrpSpPr>
                  <a:grpSpLocks/>
                </p:cNvGrpSpPr>
                <p:nvPr/>
              </p:nvGrpSpPr>
              <p:grpSpPr bwMode="auto">
                <a:xfrm>
                  <a:off x="0" y="3856"/>
                  <a:ext cx="2687" cy="518"/>
                  <a:chOff x="0" y="3856"/>
                  <a:chExt cx="2687" cy="518"/>
                </a:xfrm>
              </p:grpSpPr>
              <p:sp>
                <p:nvSpPr>
                  <p:cNvPr id="205" name="Rectangle 119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56"/>
                    <a:ext cx="26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l" eaLnBrk="1" hangingPunct="1"/>
                    <a:r>
                      <a:rPr lang="en-US" altLang="en-US" sz="1800" b="1" dirty="0">
                        <a:latin typeface="+mn-lt"/>
                      </a:rPr>
                      <a:t>INTEL 1.4 GHz Itanium2 (4 </a:t>
                    </a:r>
                    <a:r>
                      <a:rPr lang="en-US" altLang="en-US" sz="1800" b="1" dirty="0" err="1">
                        <a:latin typeface="+mn-lt"/>
                      </a:rPr>
                      <a:t>cpus</a:t>
                    </a:r>
                    <a:r>
                      <a:rPr lang="en-US" altLang="en-US" sz="1800" b="1" dirty="0">
                        <a:latin typeface="+mn-lt"/>
                      </a:rPr>
                      <a:t>/node)</a:t>
                    </a:r>
                    <a:r>
                      <a:rPr lang="en-US" altLang="en-US" dirty="0">
                        <a:latin typeface="+mn-lt"/>
                      </a:rPr>
                      <a:t> </a:t>
                    </a:r>
                  </a:p>
                </p:txBody>
              </p:sp>
              <p:sp>
                <p:nvSpPr>
                  <p:cNvPr id="206" name="Rectangle 120"/>
                  <p:cNvSpPr>
                    <a:spLocks noChangeArrowheads="1"/>
                  </p:cNvSpPr>
                  <p:nvPr/>
                </p:nvSpPr>
                <p:spPr bwMode="auto">
                  <a:xfrm>
                    <a:off x="0" y="3856"/>
                    <a:ext cx="26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7" name="Group 121"/>
                <p:cNvGrpSpPr>
                  <a:grpSpLocks/>
                </p:cNvGrpSpPr>
                <p:nvPr/>
              </p:nvGrpSpPr>
              <p:grpSpPr bwMode="auto">
                <a:xfrm>
                  <a:off x="2687" y="3856"/>
                  <a:ext cx="489" cy="518"/>
                  <a:chOff x="2687" y="3856"/>
                  <a:chExt cx="489" cy="518"/>
                </a:xfrm>
              </p:grpSpPr>
              <p:sp>
                <p:nvSpPr>
                  <p:cNvPr id="203" name="Rectangle 122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3856"/>
                    <a:ext cx="48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54.5</a:t>
                    </a:r>
                  </a:p>
                </p:txBody>
              </p:sp>
              <p:sp>
                <p:nvSpPr>
                  <p:cNvPr id="204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2687" y="3856"/>
                    <a:ext cx="48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8" name="Group 124"/>
                <p:cNvGrpSpPr>
                  <a:grpSpLocks/>
                </p:cNvGrpSpPr>
                <p:nvPr/>
              </p:nvGrpSpPr>
              <p:grpSpPr bwMode="auto">
                <a:xfrm>
                  <a:off x="3176" y="3856"/>
                  <a:ext cx="423" cy="518"/>
                  <a:chOff x="3176" y="3856"/>
                  <a:chExt cx="423" cy="518"/>
                </a:xfrm>
              </p:grpSpPr>
              <p:sp>
                <p:nvSpPr>
                  <p:cNvPr id="201" name="Rectangle 125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3856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1.1</a:t>
                    </a:r>
                  </a:p>
                </p:txBody>
              </p:sp>
              <p:sp>
                <p:nvSpPr>
                  <p:cNvPr id="202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3176" y="3856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89" name="Group 127"/>
                <p:cNvGrpSpPr>
                  <a:grpSpLocks/>
                </p:cNvGrpSpPr>
                <p:nvPr/>
              </p:nvGrpSpPr>
              <p:grpSpPr bwMode="auto">
                <a:xfrm>
                  <a:off x="3599" y="3856"/>
                  <a:ext cx="423" cy="518"/>
                  <a:chOff x="3599" y="3856"/>
                  <a:chExt cx="423" cy="518"/>
                </a:xfrm>
              </p:grpSpPr>
              <p:sp>
                <p:nvSpPr>
                  <p:cNvPr id="199" name="Rectangle 128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3856"/>
                    <a:ext cx="423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22.2</a:t>
                    </a:r>
                  </a:p>
                </p:txBody>
              </p:sp>
              <p:sp>
                <p:nvSpPr>
                  <p:cNvPr id="200" name="Rectangle 129"/>
                  <p:cNvSpPr>
                    <a:spLocks noChangeArrowheads="1"/>
                  </p:cNvSpPr>
                  <p:nvPr/>
                </p:nvSpPr>
                <p:spPr bwMode="auto">
                  <a:xfrm>
                    <a:off x="3599" y="3856"/>
                    <a:ext cx="423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90" name="Group 130"/>
                <p:cNvGrpSpPr>
                  <a:grpSpLocks/>
                </p:cNvGrpSpPr>
                <p:nvPr/>
              </p:nvGrpSpPr>
              <p:grpSpPr bwMode="auto">
                <a:xfrm>
                  <a:off x="4022" y="3856"/>
                  <a:ext cx="391" cy="518"/>
                  <a:chOff x="4022" y="3856"/>
                  <a:chExt cx="391" cy="518"/>
                </a:xfrm>
              </p:grpSpPr>
              <p:sp>
                <p:nvSpPr>
                  <p:cNvPr id="197" name="Rectangle 131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3856"/>
                    <a:ext cx="391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2.0</a:t>
                    </a:r>
                  </a:p>
                </p:txBody>
              </p:sp>
              <p:sp>
                <p:nvSpPr>
                  <p:cNvPr id="198" name="Rectangle 132"/>
                  <p:cNvSpPr>
                    <a:spLocks noChangeArrowheads="1"/>
                  </p:cNvSpPr>
                  <p:nvPr/>
                </p:nvSpPr>
                <p:spPr bwMode="auto">
                  <a:xfrm>
                    <a:off x="4022" y="3856"/>
                    <a:ext cx="391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91" name="Group 133"/>
                <p:cNvGrpSpPr>
                  <a:grpSpLocks/>
                </p:cNvGrpSpPr>
                <p:nvPr/>
              </p:nvGrpSpPr>
              <p:grpSpPr bwMode="auto">
                <a:xfrm>
                  <a:off x="4413" y="3856"/>
                  <a:ext cx="439" cy="518"/>
                  <a:chOff x="4413" y="3856"/>
                  <a:chExt cx="439" cy="518"/>
                </a:xfrm>
              </p:grpSpPr>
              <p:sp>
                <p:nvSpPr>
                  <p:cNvPr id="195" name="Rectangle 134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3856"/>
                    <a:ext cx="439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1.3</a:t>
                    </a:r>
                  </a:p>
                </p:txBody>
              </p:sp>
              <p:sp>
                <p:nvSpPr>
                  <p:cNvPr id="196" name="Rectangle 135"/>
                  <p:cNvSpPr>
                    <a:spLocks noChangeArrowheads="1"/>
                  </p:cNvSpPr>
                  <p:nvPr/>
                </p:nvSpPr>
                <p:spPr bwMode="auto">
                  <a:xfrm>
                    <a:off x="4413" y="3856"/>
                    <a:ext cx="439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  <p:grpSp>
              <p:nvGrpSpPr>
                <p:cNvPr id="192" name="Group 136"/>
                <p:cNvGrpSpPr>
                  <a:grpSpLocks/>
                </p:cNvGrpSpPr>
                <p:nvPr/>
              </p:nvGrpSpPr>
              <p:grpSpPr bwMode="auto">
                <a:xfrm>
                  <a:off x="4852" y="3856"/>
                  <a:ext cx="387" cy="518"/>
                  <a:chOff x="4852" y="3856"/>
                  <a:chExt cx="387" cy="518"/>
                </a:xfrm>
              </p:grpSpPr>
              <p:sp>
                <p:nvSpPr>
                  <p:cNvPr id="193" name="Rectangle 137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3856"/>
                    <a:ext cx="387" cy="51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=""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algn="r" eaLnBrk="1" hangingPunct="1"/>
                    <a:r>
                      <a:rPr lang="en-US" altLang="en-US" sz="1800">
                        <a:latin typeface="+mn-lt"/>
                      </a:rPr>
                      <a:t>0.7</a:t>
                    </a:r>
                  </a:p>
                </p:txBody>
              </p:sp>
              <p:sp>
                <p:nvSpPr>
                  <p:cNvPr id="194" name="Rectangle 138"/>
                  <p:cNvSpPr>
                    <a:spLocks noChangeArrowheads="1"/>
                  </p:cNvSpPr>
                  <p:nvPr/>
                </p:nvSpPr>
                <p:spPr bwMode="auto">
                  <a:xfrm>
                    <a:off x="4852" y="3856"/>
                    <a:ext cx="387" cy="518"/>
                  </a:xfrm>
                  <a:prstGeom prst="rect">
                    <a:avLst/>
                  </a:prstGeom>
                  <a:noFill/>
                  <a:ln w="7">
                    <a:solidFill>
                      <a:srgbClr val="A0A0A0"/>
                    </a:solidFill>
                    <a:miter lim="800000"/>
                    <a:headEnd/>
                    <a:tailEnd/>
                  </a:ln>
                  <a:extLst>
                    <a:ext uri="{909E8E84-426E-40dd-AFC4-6F175D3DCCD1}">
                      <a14:hiddenFill xmlns=""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wrap="none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Tahoma" pitchFamily="34" charset="0"/>
                        <a:cs typeface="Times New Roman" pitchFamily="18" charset="0"/>
                      </a:defRPr>
                    </a:lvl9pPr>
                  </a:lstStyle>
                  <a:p>
                    <a:pPr eaLnBrk="1" hangingPunct="1"/>
                    <a:endParaRPr lang="en-US" altLang="en-US">
                      <a:latin typeface="+mn-lt"/>
                    </a:endParaRPr>
                  </a:p>
                </p:txBody>
              </p:sp>
            </p:grpSp>
          </p:grpSp>
          <p:sp>
            <p:nvSpPr>
              <p:cNvPr id="148" name="Rectangle 139"/>
              <p:cNvSpPr>
                <a:spLocks noChangeArrowheads="1"/>
              </p:cNvSpPr>
              <p:nvPr/>
            </p:nvSpPr>
            <p:spPr bwMode="auto">
              <a:xfrm>
                <a:off x="-2" y="516"/>
                <a:ext cx="5243" cy="3860"/>
              </a:xfrm>
              <a:prstGeom prst="rect">
                <a:avLst/>
              </a:prstGeom>
              <a:noFill/>
              <a:ln w="6350">
                <a:solidFill>
                  <a:srgbClr val="A0A0A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Tahoma" pitchFamily="34" charset="0"/>
                    <a:cs typeface="Times New Roman" pitchFamily="18" charset="0"/>
                  </a:defRPr>
                </a:lvl9pPr>
              </a:lstStyle>
              <a:p>
                <a:pPr eaLnBrk="1" hangingPunct="1"/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281" name="TextBox 280"/>
            <p:cNvSpPr txBox="1"/>
            <p:nvPr/>
          </p:nvSpPr>
          <p:spPr>
            <a:xfrm>
              <a:off x="4472396" y="3763774"/>
              <a:ext cx="8040663" cy="5334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50800" tIns="50800" rIns="50800" bIns="50800" numCol="1" spcCol="38100" rtlCol="0" anchor="ctr">
              <a:spAutoFit/>
            </a:bodyPr>
            <a:lstStyle/>
            <a:p>
              <a:pPr marL="0" marR="0" indent="0" algn="ctr" defTabSz="584200" rtl="0" fontAlgn="auto" latinLnBrk="1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lang="en-US" sz="2800" dirty="0">
                  <a:solidFill>
                    <a:srgbClr val="000000"/>
                  </a:solidFill>
                  <a:latin typeface="+mn-lt"/>
                </a:rPr>
                <a:t>Time (sec.) for creating 50,000 processes/threads</a:t>
              </a:r>
              <a:endParaRPr kumimoji="0" lang="en-US" sz="24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sym typeface="Helvetica Neue Light"/>
              </a:endParaRPr>
            </a:p>
          </p:txBody>
        </p:sp>
      </p:grpSp>
      <p:sp>
        <p:nvSpPr>
          <p:cNvPr id="142" name="TextBox 141">
            <a:extLst>
              <a:ext uri="{FF2B5EF4-FFF2-40B4-BE49-F238E27FC236}">
                <a16:creationId xmlns:a16="http://schemas.microsoft.com/office/drawing/2014/main" id="{8000B1CF-00DE-4876-8A1C-A3E936E824A9}"/>
              </a:ext>
            </a:extLst>
          </p:cNvPr>
          <p:cNvSpPr txBox="1"/>
          <p:nvPr/>
        </p:nvSpPr>
        <p:spPr>
          <a:xfrm>
            <a:off x="673100" y="8552436"/>
            <a:ext cx="3025490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accent1"/>
                </a:solidFill>
              </a:rPr>
              <a:t>The lower, the better.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41150417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Advantages of threads </a:t>
            </a: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482600" y="2017713"/>
            <a:ext cx="11682186" cy="369728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8100" tIns="38100" rIns="38100" bIns="38100"/>
          <a:lstStyle>
            <a:lvl1pPr marL="2032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1pPr>
            <a:lvl2pPr marL="5461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2pPr>
            <a:lvl3pPr marL="8890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3pPr>
            <a:lvl4pPr marL="12319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4pPr>
            <a:lvl5pPr marL="15748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747474"/>
                </a:solidFill>
                <a:latin typeface="+mn-lt"/>
                <a:ea typeface="+mn-ea"/>
                <a:cs typeface="+mn-cs"/>
                <a:sym typeface="Helvetica Neue"/>
              </a:defRPr>
            </a:lvl5pPr>
            <a:lvl6pPr marL="19177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6pPr>
            <a:lvl7pPr marL="22606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7pPr>
            <a:lvl8pPr marL="26035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8pPr>
            <a:lvl9pPr marL="2946400" indent="-203200" defTabSz="584200">
              <a:spcBef>
                <a:spcPts val="1500"/>
              </a:spcBef>
              <a:buSzPct val="100000"/>
              <a:buChar char="•"/>
              <a:defRPr sz="3000">
                <a:solidFill>
                  <a:srgbClr val="941100"/>
                </a:solidFill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l" eaLnBrk="1" hangingPunct="1"/>
            <a:r>
              <a:rPr lang="en-US" altLang="en-US" sz="2800" dirty="0"/>
              <a:t>Shared State</a:t>
            </a:r>
          </a:p>
          <a:p>
            <a:pPr lvl="1" algn="l" eaLnBrk="1" hangingPunct="1"/>
            <a:r>
              <a:rPr lang="en-US" altLang="en-US" sz="2800" dirty="0"/>
              <a:t>Simpler programming model</a:t>
            </a:r>
          </a:p>
          <a:p>
            <a:pPr lvl="1" algn="l" eaLnBrk="1" hangingPunct="1"/>
            <a:r>
              <a:rPr lang="en-US" altLang="en-US" sz="2800" dirty="0"/>
              <a:t>Don’t need IPC-like mechanisms to communicate between threads</a:t>
            </a:r>
          </a:p>
        </p:txBody>
      </p:sp>
      <p:graphicFrame>
        <p:nvGraphicFramePr>
          <p:cNvPr id="418" name="Table 417"/>
          <p:cNvGraphicFramePr>
            <a:graphicFrameLocks noGrp="1"/>
          </p:cNvGraphicFramePr>
          <p:nvPr/>
        </p:nvGraphicFramePr>
        <p:xfrm>
          <a:off x="5283200" y="4572000"/>
          <a:ext cx="7590153" cy="4343401"/>
        </p:xfrm>
        <a:graphic>
          <a:graphicData uri="http://schemas.openxmlformats.org/drawingml/2006/table">
            <a:tbl>
              <a:tblPr>
                <a:tableStyleId>{8F44A2F1-9E1F-4B54-A3A2-5F16C0AD49E2}</a:tableStyleId>
              </a:tblPr>
              <a:tblGrid>
                <a:gridCol w="3235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4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5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92067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Platform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MPI Shared Memory Bandwidth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(GB/sec)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err="1"/>
                        <a:t>Pthreads</a:t>
                      </a:r>
                      <a:r>
                        <a:rPr lang="en-US" sz="1800" dirty="0"/>
                        <a:t> Worst Case</a:t>
                      </a:r>
                      <a:br>
                        <a:rPr lang="en-US" sz="1800" dirty="0"/>
                      </a:br>
                      <a:r>
                        <a:rPr lang="en-US" sz="1800" dirty="0"/>
                        <a:t>Memory-to-CPU Bandwidth </a:t>
                      </a:r>
                      <a:r>
                        <a:rPr lang="en-US" sz="1800" baseline="0" dirty="0"/>
                        <a:t> </a:t>
                      </a:r>
                      <a:r>
                        <a:rPr lang="en-US" sz="1800" dirty="0"/>
                        <a:t>(GB/sec)</a:t>
                      </a: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104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Intel 2.6 GHz Xeon E5-2670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4.5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51.2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104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Intel 2.8 GHz Xeon 5660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5.6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32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04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AMD 2.3 GHz Opteron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1.8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5.3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04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AMD 2.4 GHz Opteron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1.2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5.3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3991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IBM 1.9 GHz POWER5 p5-575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4.1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/>
                        <a:t>16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04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IBM 1.5 GHz POWER4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2.1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049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Intel 2.4 GHz Xeon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0.3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4.3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1049">
                <a:tc>
                  <a:txBody>
                    <a:bodyPr/>
                    <a:lstStyle/>
                    <a:p>
                      <a:pPr algn="l"/>
                      <a:r>
                        <a:rPr lang="de-DE" sz="1800" dirty="0"/>
                        <a:t>Intel 1.4 GHz Itanium 2 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1.8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/>
                        <a:t>6.4</a:t>
                      </a:r>
                    </a:p>
                  </a:txBody>
                  <a:tcPr marL="38100" marR="38100" marT="38100" marB="38100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42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2726" y="4191000"/>
            <a:ext cx="5172507" cy="4038600"/>
          </a:xfrm>
          <a:noFill/>
        </p:spPr>
      </p:pic>
      <p:sp>
        <p:nvSpPr>
          <p:cNvPr id="8" name="TextBox 7"/>
          <p:cNvSpPr txBox="1"/>
          <p:nvPr/>
        </p:nvSpPr>
        <p:spPr>
          <a:xfrm>
            <a:off x="8728426" y="9333900"/>
            <a:ext cx="3993081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lvl="1" indent="0" rtl="0" latinLnBrk="1" hangingPunct="0"/>
            <a:r>
              <a:rPr lang="en-US" altLang="en-US" sz="1600" dirty="0">
                <a:solidFill>
                  <a:schemeClr val="bg1">
                    <a:lumMod val="90000"/>
                  </a:schemeClr>
                </a:solidFill>
                <a:latin typeface="+mn-lt"/>
              </a:rPr>
              <a:t>https://computing.llnl.gov/tutorials/pthreads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00B1CF-00DE-4876-8A1C-A3E936E824A9}"/>
              </a:ext>
            </a:extLst>
          </p:cNvPr>
          <p:cNvSpPr txBox="1"/>
          <p:nvPr/>
        </p:nvSpPr>
        <p:spPr>
          <a:xfrm>
            <a:off x="1396538" y="8679439"/>
            <a:ext cx="361546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400" dirty="0">
                <a:solidFill>
                  <a:schemeClr val="accent1"/>
                </a:solidFill>
              </a:rPr>
              <a:t>The larger, the better.</a:t>
            </a:r>
            <a:endParaRPr kumimoji="0" lang="en-US" sz="2400" b="0" i="0" u="none" strike="noStrike" cap="none" spc="0" normalizeH="0" baseline="0" dirty="0">
              <a:ln>
                <a:noFill/>
              </a:ln>
              <a:solidFill>
                <a:schemeClr val="accent1"/>
              </a:solidFill>
              <a:effectLst/>
              <a:uFillTx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1132310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5BDB2-5998-47A9-9532-75D635CBE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data: global, heap, and even local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63822D-5011-441E-81E5-43F31AFB93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	a[100];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a, defined outside of functions,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can be accessed in all threads.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 main(void) 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</a:t>
            </a:r>
            <a:r>
              <a:rPr lang="en-US" sz="2400" dirty="0" err="1">
                <a:latin typeface="Consolas" panose="020B0609020204030204" pitchFamily="49" charset="0"/>
              </a:rPr>
              <a:t>int</a:t>
            </a:r>
            <a:r>
              <a:rPr lang="en-US" sz="2400" dirty="0">
                <a:latin typeface="Consolas" panose="020B0609020204030204" pitchFamily="49" charset="0"/>
              </a:rPr>
              <a:t>		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	// stack</a:t>
            </a:r>
            <a:endParaRPr 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char * p = </a:t>
            </a:r>
            <a:r>
              <a:rPr lang="en-US" sz="2400" dirty="0" err="1">
                <a:latin typeface="Consolas" panose="020B0609020204030204" pitchFamily="49" charset="0"/>
              </a:rPr>
              <a:t>malloc</a:t>
            </a:r>
            <a:r>
              <a:rPr lang="en-US" sz="2400" dirty="0">
                <a:latin typeface="Consolas" panose="020B0609020204030204" pitchFamily="49" charset="0"/>
              </a:rPr>
              <a:t>(1000); 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heap</a:t>
            </a:r>
          </a:p>
          <a:p>
            <a:pPr marL="0" indent="0">
              <a:buNone/>
            </a:pPr>
            <a:r>
              <a:rPr lang="en-US" sz="2400" dirty="0">
                <a:latin typeface="Consolas" panose="020B0609020204030204" pitchFamily="49" charset="0"/>
              </a:rPr>
              <a:t>	void * </a:t>
            </a:r>
            <a:r>
              <a:rPr lang="en-US" sz="2400" dirty="0" err="1">
                <a:latin typeface="Consolas" panose="020B0609020204030204" pitchFamily="49" charset="0"/>
              </a:rPr>
              <a:t>arg</a:t>
            </a:r>
            <a:r>
              <a:rPr lang="en-US" sz="2400" dirty="0">
                <a:latin typeface="Consolas" panose="020B0609020204030204" pitchFamily="49" charset="0"/>
              </a:rPr>
              <a:t> = &amp;</a:t>
            </a:r>
            <a:r>
              <a:rPr lang="en-US" sz="2400" dirty="0" err="1">
                <a:latin typeface="Consolas" panose="020B0609020204030204" pitchFamily="49" charset="0"/>
              </a:rPr>
              <a:t>i</a:t>
            </a:r>
            <a:r>
              <a:rPr lang="en-US" sz="2400" dirty="0">
                <a:latin typeface="Consolas" panose="020B0609020204030204" pitchFamily="49" charset="0"/>
              </a:rPr>
              <a:t>;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	// pass p or </a:t>
            </a:r>
            <a:r>
              <a:rPr lang="en-US" sz="2400" dirty="0" err="1">
                <a:solidFill>
                  <a:schemeClr val="accent1"/>
                </a:solidFill>
                <a:latin typeface="Consolas" panose="020B0609020204030204" pitchFamily="49" charset="0"/>
              </a:rPr>
              <a:t>arg</a:t>
            </a: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to threads</a:t>
            </a:r>
          </a:p>
          <a:p>
            <a:pPr marL="0" indent="0">
              <a:buNone/>
            </a:pPr>
            <a:endParaRPr lang="en-US" sz="24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sz="2800" dirty="0"/>
              <a:t>}</a:t>
            </a:r>
          </a:p>
        </p:txBody>
      </p:sp>
      <p:sp>
        <p:nvSpPr>
          <p:cNvPr id="5" name="Rectangle">
            <a:extLst>
              <a:ext uri="{FF2B5EF4-FFF2-40B4-BE49-F238E27FC236}">
                <a16:creationId xmlns:a16="http://schemas.microsoft.com/office/drawing/2014/main" id="{662679FF-925D-4C2A-A70D-C3CF6BAC54F2}"/>
              </a:ext>
            </a:extLst>
          </p:cNvPr>
          <p:cNvSpPr/>
          <p:nvPr/>
        </p:nvSpPr>
        <p:spPr>
          <a:xfrm>
            <a:off x="10483402" y="2222626"/>
            <a:ext cx="2027399" cy="6840380"/>
          </a:xfrm>
          <a:prstGeom prst="rect">
            <a:avLst/>
          </a:prstGeom>
          <a:solidFill>
            <a:srgbClr val="CBCBCB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6" name="0xffffffff">
            <a:extLst>
              <a:ext uri="{FF2B5EF4-FFF2-40B4-BE49-F238E27FC236}">
                <a16:creationId xmlns:a16="http://schemas.microsoft.com/office/drawing/2014/main" id="{F31D4BC9-AA9B-407B-A6BA-A4AA5D57CAF9}"/>
              </a:ext>
            </a:extLst>
          </p:cNvPr>
          <p:cNvSpPr txBox="1"/>
          <p:nvPr/>
        </p:nvSpPr>
        <p:spPr>
          <a:xfrm>
            <a:off x="8233865" y="2209926"/>
            <a:ext cx="2172036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rPr dirty="0"/>
              <a:t>0xffffffff</a:t>
            </a:r>
          </a:p>
        </p:txBody>
      </p:sp>
      <p:sp>
        <p:nvSpPr>
          <p:cNvPr id="7" name="0x00000000">
            <a:extLst>
              <a:ext uri="{FF2B5EF4-FFF2-40B4-BE49-F238E27FC236}">
                <a16:creationId xmlns:a16="http://schemas.microsoft.com/office/drawing/2014/main" id="{6ACFDBB1-B790-472E-B419-72334E501267}"/>
              </a:ext>
            </a:extLst>
          </p:cNvPr>
          <p:cNvSpPr txBox="1"/>
          <p:nvPr/>
        </p:nvSpPr>
        <p:spPr>
          <a:xfrm>
            <a:off x="8233863" y="8560929"/>
            <a:ext cx="2172036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rPr dirty="0"/>
              <a:t>0x00000000</a:t>
            </a:r>
          </a:p>
        </p:txBody>
      </p:sp>
      <p:sp>
        <p:nvSpPr>
          <p:cNvPr id="8" name="Rectangle">
            <a:extLst>
              <a:ext uri="{FF2B5EF4-FFF2-40B4-BE49-F238E27FC236}">
                <a16:creationId xmlns:a16="http://schemas.microsoft.com/office/drawing/2014/main" id="{A0926841-DA90-4C85-9017-5F71430E13BB}"/>
              </a:ext>
            </a:extLst>
          </p:cNvPr>
          <p:cNvSpPr/>
          <p:nvPr/>
        </p:nvSpPr>
        <p:spPr>
          <a:xfrm>
            <a:off x="10483400" y="8253790"/>
            <a:ext cx="2027402" cy="616152"/>
          </a:xfrm>
          <a:prstGeom prst="rect">
            <a:avLst/>
          </a:prstGeom>
          <a:solidFill>
            <a:srgbClr val="0433FF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9" name="Rectangle">
            <a:extLst>
              <a:ext uri="{FF2B5EF4-FFF2-40B4-BE49-F238E27FC236}">
                <a16:creationId xmlns:a16="http://schemas.microsoft.com/office/drawing/2014/main" id="{2A3E0A3D-8A6E-472E-A6B6-B348F87795C5}"/>
              </a:ext>
            </a:extLst>
          </p:cNvPr>
          <p:cNvSpPr/>
          <p:nvPr/>
        </p:nvSpPr>
        <p:spPr>
          <a:xfrm>
            <a:off x="10483400" y="8005692"/>
            <a:ext cx="2027401" cy="249023"/>
          </a:xfrm>
          <a:prstGeom prst="rect">
            <a:avLst/>
          </a:prstGeom>
          <a:solidFill>
            <a:srgbClr val="FF2F92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12" name="Rectangle">
            <a:extLst>
              <a:ext uri="{FF2B5EF4-FFF2-40B4-BE49-F238E27FC236}">
                <a16:creationId xmlns:a16="http://schemas.microsoft.com/office/drawing/2014/main" id="{E9105170-B6E7-49B2-939D-1E61C5D9127A}"/>
              </a:ext>
            </a:extLst>
          </p:cNvPr>
          <p:cNvSpPr/>
          <p:nvPr/>
        </p:nvSpPr>
        <p:spPr>
          <a:xfrm>
            <a:off x="10483402" y="7398548"/>
            <a:ext cx="2027400" cy="616152"/>
          </a:xfrm>
          <a:prstGeom prst="rect">
            <a:avLst/>
          </a:prstGeom>
          <a:solidFill>
            <a:srgbClr val="FFFB00"/>
          </a:solidFill>
          <a:ln w="25400">
            <a:solidFill>
              <a:srgbClr val="000000"/>
            </a:solidFill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13" name="Arrow">
            <a:extLst>
              <a:ext uri="{FF2B5EF4-FFF2-40B4-BE49-F238E27FC236}">
                <a16:creationId xmlns:a16="http://schemas.microsoft.com/office/drawing/2014/main" id="{A4DCE18D-B91D-45AD-9798-2028D6EFF038}"/>
              </a:ext>
            </a:extLst>
          </p:cNvPr>
          <p:cNvSpPr/>
          <p:nvPr/>
        </p:nvSpPr>
        <p:spPr>
          <a:xfrm rot="16200000">
            <a:off x="10810347" y="6348494"/>
            <a:ext cx="1270001" cy="1270001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B00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3400"/>
            </a:pPr>
            <a:endParaRPr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C4DF444-1005-445C-9054-EE674C39B3AB}"/>
              </a:ext>
            </a:extLst>
          </p:cNvPr>
          <p:cNvSpPr/>
          <p:nvPr/>
        </p:nvSpPr>
        <p:spPr>
          <a:xfrm>
            <a:off x="7387250" y="6358257"/>
            <a:ext cx="2743200" cy="714107"/>
          </a:xfrm>
          <a:prstGeom prst="ellips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Thread 1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0198B29-B750-4106-8511-A899ADFAF434}"/>
              </a:ext>
            </a:extLst>
          </p:cNvPr>
          <p:cNvSpPr/>
          <p:nvPr/>
        </p:nvSpPr>
        <p:spPr>
          <a:xfrm>
            <a:off x="7027881" y="7451043"/>
            <a:ext cx="2743200" cy="714107"/>
          </a:xfrm>
          <a:prstGeom prst="ellipse">
            <a:avLst/>
          </a:prstGeom>
          <a:noFill/>
          <a:ln w="254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38100" tIns="38100" rIns="38100" bIns="381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 Neue Light"/>
              </a:rPr>
              <a:t>Thread 2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B259012-2D2E-4488-92F7-E5399272E3C3}"/>
              </a:ext>
            </a:extLst>
          </p:cNvPr>
          <p:cNvCxnSpPr>
            <a:cxnSpLocks/>
            <a:stCxn id="14" idx="5"/>
            <a:endCxn id="12" idx="1"/>
          </p:cNvCxnSpPr>
          <p:nvPr/>
        </p:nvCxnSpPr>
        <p:spPr>
          <a:xfrm>
            <a:off x="9728718" y="6967785"/>
            <a:ext cx="754684" cy="738839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30B86F75-8466-46D7-AA68-718878285576}"/>
              </a:ext>
            </a:extLst>
          </p:cNvPr>
          <p:cNvCxnSpPr>
            <a:cxnSpLocks/>
            <a:stCxn id="15" idx="6"/>
            <a:endCxn id="12" idx="1"/>
          </p:cNvCxnSpPr>
          <p:nvPr/>
        </p:nvCxnSpPr>
        <p:spPr>
          <a:xfrm flipV="1">
            <a:off x="9771081" y="7706624"/>
            <a:ext cx="712321" cy="101473"/>
          </a:xfrm>
          <a:prstGeom prst="straightConnector1">
            <a:avLst/>
          </a:prstGeom>
          <a:noFill/>
          <a:ln w="50800" cap="flat">
            <a:solidFill>
              <a:srgbClr val="FF0000"/>
            </a:solidFill>
            <a:prstDash val="solid"/>
            <a:miter lim="400000"/>
            <a:tailEnd type="triangle" w="lg" len="med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85595266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array sum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two threads to compute the sum of integers in an array</a:t>
            </a:r>
          </a:p>
        </p:txBody>
      </p:sp>
    </p:spTree>
    <p:extLst>
      <p:ext uri="{BB962C8B-B14F-4D97-AF65-F5344CB8AC3E}">
        <p14:creationId xmlns:p14="http://schemas.microsoft.com/office/powerpoint/2010/main" val="25294593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Any downside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altLang="en-US" dirty="0"/>
              <a:t>Disadvantages of threads: </a:t>
            </a:r>
            <a:r>
              <a:rPr lang="en-US" dirty="0"/>
              <a:t>What if…</a:t>
            </a:r>
            <a:endParaRPr dirty="0"/>
          </a:p>
        </p:txBody>
      </p:sp>
      <p:sp>
        <p:nvSpPr>
          <p:cNvPr id="401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02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03" name="What if …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A thread does something </a:t>
            </a:r>
            <a:r>
              <a:rPr i="1" dirty="0"/>
              <a:t>stupid</a:t>
            </a:r>
            <a:r>
              <a:rPr dirty="0"/>
              <a:t> like</a:t>
            </a:r>
          </a:p>
          <a:p>
            <a:pPr lvl="1"/>
            <a:r>
              <a:rPr dirty="0"/>
              <a:t>A division by zero?</a:t>
            </a:r>
          </a:p>
          <a:p>
            <a:pPr lvl="1"/>
            <a:r>
              <a:rPr dirty="0"/>
              <a:t>Dereferencing a null pointer ?</a:t>
            </a:r>
          </a:p>
          <a:p>
            <a:pPr lvl="1"/>
            <a:r>
              <a:rPr dirty="0"/>
              <a:t>Corrupting a block of memory ? </a:t>
            </a:r>
          </a:p>
          <a:p>
            <a:pPr lvl="1"/>
            <a:r>
              <a:rPr dirty="0"/>
              <a:t>Access a bad file descriptor ?</a:t>
            </a:r>
          </a:p>
        </p:txBody>
      </p:sp>
      <p:sp>
        <p:nvSpPr>
          <p:cNvPr id="406" name="The entire process crashes and burns!"/>
          <p:cNvSpPr txBox="1"/>
          <p:nvPr/>
        </p:nvSpPr>
        <p:spPr>
          <a:xfrm>
            <a:off x="2072501" y="7556824"/>
            <a:ext cx="8859798" cy="718145"/>
          </a:xfrm>
          <a:prstGeom prst="rect">
            <a:avLst/>
          </a:prstGeom>
          <a:noFill/>
          <a:ln>
            <a:noFill/>
          </a:ln>
          <a:effectLst/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r>
              <a:rPr dirty="0">
                <a:solidFill>
                  <a:srgbClr val="FF0000"/>
                </a:solidFill>
              </a:rPr>
              <a:t>The entire process crashes and burns!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7984A-8933-45F0-9B64-CD59636CC420}"/>
              </a:ext>
            </a:extLst>
          </p:cNvPr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0780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30400" y="2268209"/>
            <a:ext cx="8186738" cy="5681663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</p:pic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Disadvantages of threads: Shared State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28426" y="9333900"/>
            <a:ext cx="3993081" cy="34881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lvl="1" indent="0" rtl="0" latinLnBrk="1" hangingPunct="0"/>
            <a:r>
              <a:rPr lang="en-US" altLang="en-US" sz="1600" dirty="0">
                <a:solidFill>
                  <a:schemeClr val="bg1">
                    <a:lumMod val="90000"/>
                  </a:schemeClr>
                </a:solidFill>
                <a:latin typeface="+mn-lt"/>
              </a:rPr>
              <a:t>https://computing.llnl.gov/tutorials/pthreads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00B1CF-00DE-4876-8A1C-A3E936E824A9}"/>
              </a:ext>
            </a:extLst>
          </p:cNvPr>
          <p:cNvSpPr txBox="1"/>
          <p:nvPr/>
        </p:nvSpPr>
        <p:spPr>
          <a:xfrm>
            <a:off x="673100" y="8490881"/>
            <a:ext cx="8186738" cy="59503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/>
              <a:t>You may not be aware of shared resources!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  <p:extLst>
      <p:ext uri="{BB962C8B-B14F-4D97-AF65-F5344CB8AC3E}">
        <p14:creationId xmlns:p14="http://schemas.microsoft.com/office/powerpoint/2010/main" val="2342873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 dirty="0"/>
              <a:t>However, Sharing is Unsafe</a:t>
            </a:r>
            <a:br>
              <a:rPr lang="en-US" dirty="0"/>
            </a:br>
            <a:r>
              <a:rPr lang="en-US" dirty="0"/>
              <a:t>A simple counting program…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54618-15D3-4854-9C62-DD9451BD8C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60" name="Shape 260"/>
          <p:cNvSpPr/>
          <p:nvPr/>
        </p:nvSpPr>
        <p:spPr>
          <a:xfrm>
            <a:off x="2592876" y="4673600"/>
            <a:ext cx="724000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defRPr sz="20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261" name="Shape 261"/>
          <p:cNvSpPr/>
          <p:nvPr/>
        </p:nvSpPr>
        <p:spPr>
          <a:xfrm>
            <a:off x="314040" y="2190809"/>
            <a:ext cx="12376720" cy="707886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0" tIns="0" rIns="0" bIns="0" anchor="ctr">
            <a:spAutoFit/>
          </a:bodyPr>
          <a:lstStyle/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#include &lt;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stdio.h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&gt;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#include &lt;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stdlib.h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&gt;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#include &lt;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pthread.h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&gt;</a:t>
            </a:r>
          </a:p>
          <a:p>
            <a:pPr lvl="0" algn="l" defTabSz="457200">
              <a:defRPr sz="1800"/>
            </a:pPr>
            <a:endParaRPr lang="en-US" sz="20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long count = 0;</a:t>
            </a:r>
          </a:p>
          <a:p>
            <a:pPr lvl="0" algn="l" defTabSz="457200">
              <a:defRPr sz="1800"/>
            </a:pPr>
            <a:endParaRPr lang="en-US" sz="20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void* increase(void *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arg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){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long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inc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*(long *)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arg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for (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=0;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&lt;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inc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;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++)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    count++;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pthread_exit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(NULL);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</a:p>
          <a:p>
            <a:pPr lvl="0" algn="l" defTabSz="457200">
              <a:defRPr sz="1800"/>
            </a:pPr>
            <a:endParaRPr lang="en-US" sz="2000" dirty="0">
              <a:solidFill>
                <a:schemeClr val="tx1"/>
              </a:solidFill>
              <a:latin typeface="Courier"/>
              <a:ea typeface="Courier"/>
              <a:cs typeface="Courier"/>
              <a:sym typeface="Courier"/>
            </a:endParaRP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int main(int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argc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, char*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argv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[]){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pthread_t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tid1, tid2;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long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inc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atol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argc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&gt;= 2 ?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argv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[1] : "100");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000" dirty="0" err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pthread_create</a:t>
            </a:r>
            <a:r>
              <a:rPr lang="en-US" sz="2000" dirty="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(&amp;tid1, NULL, increase, &amp;</a:t>
            </a:r>
            <a:r>
              <a:rPr lang="en-US" sz="2000" dirty="0" err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inc</a:t>
            </a:r>
            <a:r>
              <a:rPr lang="en-US" sz="2000" dirty="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000" dirty="0" err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pthread_create</a:t>
            </a:r>
            <a:r>
              <a:rPr lang="en-US" sz="2000" dirty="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(&amp;tid2, NULL, increase, &amp;</a:t>
            </a:r>
            <a:r>
              <a:rPr lang="en-US" sz="2000" dirty="0" err="1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inc</a:t>
            </a:r>
            <a:r>
              <a:rPr lang="en-US" sz="2000" dirty="0">
                <a:solidFill>
                  <a:schemeClr val="accent1"/>
                </a:solidFill>
                <a:latin typeface="Courier"/>
                <a:ea typeface="Courier"/>
                <a:cs typeface="Courier"/>
                <a:sym typeface="Courier"/>
              </a:rPr>
              <a:t>);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000" dirty="0" err="1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</a:rPr>
              <a:t>pthread_join</a:t>
            </a:r>
            <a:r>
              <a:rPr lang="en-US" sz="2000" dirty="0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</a:rPr>
              <a:t>(tid1, NULL);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000" dirty="0" err="1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</a:rPr>
              <a:t>pthread_join</a:t>
            </a:r>
            <a:r>
              <a:rPr lang="en-US" sz="2000" dirty="0">
                <a:solidFill>
                  <a:schemeClr val="accent5"/>
                </a:solidFill>
                <a:latin typeface="Courier"/>
                <a:ea typeface="Courier"/>
                <a:cs typeface="Courier"/>
                <a:sym typeface="Courier"/>
              </a:rPr>
              <a:t>(tid2, NULL);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printf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("counter is %</a:t>
            </a:r>
            <a:r>
              <a:rPr lang="en-US" sz="2000" dirty="0" err="1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ld</a:t>
            </a: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\n", count);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    return 0;</a:t>
            </a:r>
          </a:p>
          <a:p>
            <a:pPr lvl="0" algn="l" defTabSz="457200">
              <a:defRPr sz="1800"/>
            </a:pPr>
            <a:r>
              <a:rPr lang="en-US" sz="2000" dirty="0">
                <a:solidFill>
                  <a:schemeClr val="tx1"/>
                </a:solidFill>
                <a:latin typeface="Courier"/>
                <a:ea typeface="Courier"/>
                <a:cs typeface="Courier"/>
                <a:sym typeface="Courier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2097732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</a:t>
            </a:r>
          </a:p>
        </p:txBody>
      </p:sp>
      <p:sp>
        <p:nvSpPr>
          <p:cNvPr id="424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25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26" name="Consider two threads each doing the following with cnt = 100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Consider two threads each doing the following</a:t>
            </a:r>
          </a:p>
        </p:txBody>
      </p:sp>
      <p:sp>
        <p:nvSpPr>
          <p:cNvPr id="42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28" name="void increase(int cnt) {…"/>
          <p:cNvSpPr txBox="1"/>
          <p:nvPr/>
        </p:nvSpPr>
        <p:spPr>
          <a:xfrm>
            <a:off x="1289083" y="4794250"/>
            <a:ext cx="4108192" cy="16256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96A700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</a:t>
            </a:r>
            <a:r>
              <a:t>increase(</a:t>
            </a:r>
            <a:r>
              <a:rPr>
                <a:solidFill>
                  <a:srgbClr val="96A700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88E95"/>
                </a:solidFill>
              </a:rPr>
              <a:t>cnt</a:t>
            </a:r>
            <a:r>
              <a:t>)</a:t>
            </a:r>
            <a:r>
              <a:rPr>
                <a:solidFill>
                  <a:srgbClr val="000000"/>
                </a:solidFill>
              </a:rPr>
              <a:t> </a:t>
            </a:r>
            <a:r>
              <a:t>{</a:t>
            </a:r>
            <a:endParaRPr>
              <a:solidFill>
                <a:srgbClr val="000000"/>
              </a:solidFill>
            </a:endParaRPr>
          </a:p>
          <a:p>
            <a:pPr algn="l" defTabSz="457200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96A700"/>
                </a:solidFill>
              </a:rPr>
              <a:t>int</a:t>
            </a:r>
            <a:r>
              <a:t> 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;</a:t>
            </a:r>
          </a:p>
          <a:p>
            <a:pPr algn="l" defTabSz="457200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D7601B"/>
                </a:solidFill>
              </a:rPr>
              <a:t>for</a:t>
            </a:r>
            <a:r>
              <a:rPr>
                <a:solidFill>
                  <a:srgbClr val="6A8188"/>
                </a:solidFill>
              </a:rPr>
              <a:t>(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=</a:t>
            </a:r>
            <a:r>
              <a:rPr>
                <a:solidFill>
                  <a:srgbClr val="E5493D"/>
                </a:solidFill>
              </a:rPr>
              <a:t>0</a:t>
            </a:r>
            <a:r>
              <a:rPr>
                <a:solidFill>
                  <a:srgbClr val="6A8188"/>
                </a:solidFill>
              </a:rPr>
              <a:t>;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&lt;</a:t>
            </a:r>
            <a:r>
              <a:rPr>
                <a:solidFill>
                  <a:srgbClr val="788E95"/>
                </a:solidFill>
              </a:rPr>
              <a:t>cnt</a:t>
            </a:r>
            <a:r>
              <a:rPr>
                <a:solidFill>
                  <a:srgbClr val="6A8188"/>
                </a:solidFill>
              </a:rPr>
              <a:t>;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++)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x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A8188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</a:t>
            </a:r>
            <a:r>
              <a:t>x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A8188"/>
                </a:solidFill>
              </a:rPr>
              <a:t>+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E5493D"/>
                </a:solidFill>
              </a:rPr>
              <a:t>1</a:t>
            </a:r>
            <a:r>
              <a:rPr>
                <a:solidFill>
                  <a:srgbClr val="6A8188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algn="l" defTabSz="457200">
              <a:defRPr sz="20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429" name="void increase(int cnt) {…"/>
          <p:cNvSpPr txBox="1"/>
          <p:nvPr/>
        </p:nvSpPr>
        <p:spPr>
          <a:xfrm>
            <a:off x="7861500" y="4794250"/>
            <a:ext cx="4108192" cy="16256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>
                <a:solidFill>
                  <a:srgbClr val="96A700"/>
                </a:solidFill>
              </a:rPr>
              <a:t>void</a:t>
            </a:r>
            <a:r>
              <a:rPr>
                <a:solidFill>
                  <a:srgbClr val="000000"/>
                </a:solidFill>
              </a:rPr>
              <a:t> </a:t>
            </a:r>
            <a:r>
              <a:t>increase(</a:t>
            </a:r>
            <a:r>
              <a:rPr>
                <a:solidFill>
                  <a:srgbClr val="96A700"/>
                </a:solidFill>
              </a:rP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88E95"/>
                </a:solidFill>
              </a:rPr>
              <a:t>cnt</a:t>
            </a:r>
            <a:r>
              <a:t>)</a:t>
            </a:r>
            <a:r>
              <a:rPr>
                <a:solidFill>
                  <a:srgbClr val="000000"/>
                </a:solidFill>
              </a:rPr>
              <a:t> </a:t>
            </a:r>
            <a:r>
              <a:t>{</a:t>
            </a:r>
            <a:endParaRPr>
              <a:solidFill>
                <a:srgbClr val="000000"/>
              </a:solidFill>
            </a:endParaRPr>
          </a:p>
          <a:p>
            <a:pPr algn="l" defTabSz="457200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96A700"/>
                </a:solidFill>
              </a:rPr>
              <a:t>int</a:t>
            </a:r>
            <a:r>
              <a:t> 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;</a:t>
            </a:r>
          </a:p>
          <a:p>
            <a:pPr algn="l" defTabSz="457200">
              <a:defRPr sz="2000">
                <a:latin typeface="Courier"/>
                <a:ea typeface="Courier"/>
                <a:cs typeface="Courier"/>
                <a:sym typeface="Courier"/>
              </a:defRPr>
            </a:pPr>
            <a:r>
              <a:t>   </a:t>
            </a:r>
            <a:r>
              <a:rPr>
                <a:solidFill>
                  <a:srgbClr val="D7601B"/>
                </a:solidFill>
              </a:rPr>
              <a:t>for</a:t>
            </a:r>
            <a:r>
              <a:rPr>
                <a:solidFill>
                  <a:srgbClr val="6A8188"/>
                </a:solidFill>
              </a:rPr>
              <a:t>(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=</a:t>
            </a:r>
            <a:r>
              <a:rPr>
                <a:solidFill>
                  <a:srgbClr val="E5493D"/>
                </a:solidFill>
              </a:rPr>
              <a:t>0</a:t>
            </a:r>
            <a:r>
              <a:rPr>
                <a:solidFill>
                  <a:srgbClr val="6A8188"/>
                </a:solidFill>
              </a:rPr>
              <a:t>;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&lt;</a:t>
            </a:r>
            <a:r>
              <a:rPr>
                <a:solidFill>
                  <a:srgbClr val="788E95"/>
                </a:solidFill>
              </a:rPr>
              <a:t>cnt</a:t>
            </a:r>
            <a:r>
              <a:rPr>
                <a:solidFill>
                  <a:srgbClr val="6A8188"/>
                </a:solidFill>
              </a:rPr>
              <a:t>;</a:t>
            </a:r>
            <a:r>
              <a:rPr>
                <a:solidFill>
                  <a:srgbClr val="788E95"/>
                </a:solidFill>
              </a:rPr>
              <a:t>i</a:t>
            </a:r>
            <a:r>
              <a:rPr>
                <a:solidFill>
                  <a:srgbClr val="6A8188"/>
                </a:solidFill>
              </a:rPr>
              <a:t>++)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      x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A8188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</a:t>
            </a:r>
            <a:r>
              <a:t>x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A8188"/>
                </a:solidFill>
              </a:rPr>
              <a:t>+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E5493D"/>
                </a:solidFill>
              </a:rPr>
              <a:t>1</a:t>
            </a:r>
            <a:r>
              <a:rPr>
                <a:solidFill>
                  <a:srgbClr val="6A8188"/>
                </a:solidFill>
              </a:rPr>
              <a:t>;</a:t>
            </a:r>
            <a:endParaRPr>
              <a:solidFill>
                <a:srgbClr val="000000"/>
              </a:solidFill>
            </a:endParaRPr>
          </a:p>
          <a:p>
            <a:pPr algn="l" defTabSz="457200">
              <a:defRPr sz="2000">
                <a:solidFill>
                  <a:srgbClr val="6A8188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}</a:t>
            </a:r>
          </a:p>
        </p:txBody>
      </p:sp>
      <p:sp>
        <p:nvSpPr>
          <p:cNvPr id="430" name="int x = 0;"/>
          <p:cNvSpPr txBox="1"/>
          <p:nvPr/>
        </p:nvSpPr>
        <p:spPr>
          <a:xfrm>
            <a:off x="4448304" y="3359181"/>
            <a:ext cx="4108192" cy="406401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defTabSz="457200">
              <a:defRPr sz="2000">
                <a:solidFill>
                  <a:srgbClr val="96A70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t>int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788E95"/>
                </a:solidFill>
              </a:rPr>
              <a:t>x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6A8188"/>
                </a:solidFill>
              </a:rPr>
              <a:t>=</a:t>
            </a:r>
            <a:r>
              <a:rPr>
                <a:solidFill>
                  <a:srgbClr val="000000"/>
                </a:solidFill>
              </a:rPr>
              <a:t> </a:t>
            </a:r>
            <a:r>
              <a:rPr>
                <a:solidFill>
                  <a:srgbClr val="E5493D"/>
                </a:solidFill>
              </a:rPr>
              <a:t>0</a:t>
            </a:r>
            <a:r>
              <a:rPr>
                <a:solidFill>
                  <a:srgbClr val="6A8188"/>
                </a:solidFill>
              </a:rPr>
              <a:t>;</a:t>
            </a:r>
          </a:p>
        </p:txBody>
      </p:sp>
      <p:pic>
        <p:nvPicPr>
          <p:cNvPr id="43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0516" y="5627779"/>
            <a:ext cx="758934" cy="757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6178" y="5627779"/>
            <a:ext cx="758933" cy="757669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What will happen ?"/>
          <p:cNvSpPr txBox="1"/>
          <p:nvPr/>
        </p:nvSpPr>
        <p:spPr>
          <a:xfrm>
            <a:off x="4366006" y="7649954"/>
            <a:ext cx="4272789" cy="7091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What will happen ?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What is happening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happening?</a:t>
            </a:r>
          </a:p>
        </p:txBody>
      </p:sp>
      <p:sp>
        <p:nvSpPr>
          <p:cNvPr id="449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50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51" name="The addition…"/>
          <p:cNvSpPr txBox="1">
            <a:spLocks noGrp="1"/>
          </p:cNvSpPr>
          <p:nvPr>
            <p:ph type="body" idx="1"/>
          </p:nvPr>
        </p:nvSpPr>
        <p:spPr>
          <a:xfrm>
            <a:off x="571500" y="2270188"/>
            <a:ext cx="11861800" cy="6565901"/>
          </a:xfrm>
          <a:prstGeom prst="rect">
            <a:avLst/>
          </a:prstGeom>
        </p:spPr>
        <p:txBody>
          <a:bodyPr/>
          <a:lstStyle/>
          <a:p>
            <a:r>
              <a:rPr dirty="0"/>
              <a:t>The addition</a:t>
            </a:r>
          </a:p>
          <a:p>
            <a:endParaRPr dirty="0"/>
          </a:p>
          <a:p>
            <a:endParaRPr dirty="0"/>
          </a:p>
          <a:p>
            <a:pPr lvl="1"/>
            <a:endParaRPr lang="en-US" dirty="0"/>
          </a:p>
          <a:p>
            <a:pPr lvl="1"/>
            <a:r>
              <a:rPr dirty="0"/>
              <a:t>Becomes more complex in assembly</a:t>
            </a:r>
          </a:p>
          <a:p>
            <a:pPr lvl="1"/>
            <a:r>
              <a:rPr dirty="0"/>
              <a:t>Something like  (pseudo-code)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453" name="void increase(int cnt) {…"/>
          <p:cNvSpPr txBox="1"/>
          <p:nvPr/>
        </p:nvSpPr>
        <p:spPr>
          <a:xfrm>
            <a:off x="3859724" y="2281626"/>
            <a:ext cx="4108192" cy="2318583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void increase(int </a:t>
            </a:r>
            <a:r>
              <a:rPr sz="2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cnt</a:t>
            </a: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) {</a:t>
            </a:r>
          </a:p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int </a:t>
            </a:r>
            <a:r>
              <a:rPr sz="2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;</a:t>
            </a:r>
          </a:p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   for(</a:t>
            </a:r>
            <a:r>
              <a:rPr sz="2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i</a:t>
            </a: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=0;i&lt;</a:t>
            </a:r>
            <a:r>
              <a:rPr sz="2400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cnt;i</a:t>
            </a:r>
            <a:r>
              <a:rPr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Consolas" panose="020B0609020204030204" pitchFamily="49" charset="0"/>
              </a:rPr>
              <a:t>++)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</a:rPr>
              <a:t>      x = x + 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</a:rPr>
              <a:t>1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;</a:t>
            </a:r>
            <a:endParaRPr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54" name="void increase(int cnt) {…"/>
          <p:cNvSpPr txBox="1"/>
          <p:nvPr/>
        </p:nvSpPr>
        <p:spPr>
          <a:xfrm>
            <a:off x="3859724" y="6739068"/>
            <a:ext cx="4108192" cy="1949252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		// 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</a:rPr>
              <a:t>x = x + 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</a:rPr>
              <a:t>1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7030A0"/>
                </a:solidFill>
                <a:latin typeface="Consolas" panose="020B0609020204030204" pitchFamily="49" charset="0"/>
              </a:rPr>
              <a:t>		LOAD RAX, &amp;x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7030A0"/>
                </a:solidFill>
                <a:latin typeface="Consolas" panose="020B0609020204030204" pitchFamily="49" charset="0"/>
              </a:rPr>
              <a:t>		ADD  RAX, 1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7030A0"/>
                </a:solidFill>
                <a:latin typeface="Consolas" panose="020B0609020204030204" pitchFamily="49" charset="0"/>
              </a:rPr>
              <a:t>		STORE RAX, &amp;x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What is happening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happening?</a:t>
            </a:r>
          </a:p>
        </p:txBody>
      </p:sp>
      <p:sp>
        <p:nvSpPr>
          <p:cNvPr id="457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58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59" name="Threads execute this concurrently…"/>
          <p:cNvSpPr txBox="1">
            <a:spLocks noGrp="1"/>
          </p:cNvSpPr>
          <p:nvPr>
            <p:ph type="body" sz="half" idx="1"/>
          </p:nvPr>
        </p:nvSpPr>
        <p:spPr>
          <a:xfrm>
            <a:off x="571500" y="2324100"/>
            <a:ext cx="6995734" cy="6565900"/>
          </a:xfrm>
          <a:prstGeom prst="rect">
            <a:avLst/>
          </a:prstGeom>
        </p:spPr>
        <p:txBody>
          <a:bodyPr/>
          <a:lstStyle/>
          <a:p>
            <a:r>
              <a:rPr dirty="0"/>
              <a:t>Threads execute this concurrently</a:t>
            </a:r>
            <a:endParaRPr lang="en-US" dirty="0"/>
          </a:p>
          <a:p>
            <a:r>
              <a:rPr lang="en-US" dirty="0"/>
              <a:t>Even on a single core, the execution of a thread can be interrupted</a:t>
            </a:r>
            <a:endParaRPr dirty="0"/>
          </a:p>
        </p:txBody>
      </p:sp>
      <p:sp>
        <p:nvSpPr>
          <p:cNvPr id="46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462" name="Core 1"/>
          <p:cNvSpPr txBox="1"/>
          <p:nvPr/>
        </p:nvSpPr>
        <p:spPr>
          <a:xfrm>
            <a:off x="1766783" y="4613702"/>
            <a:ext cx="673261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/>
              <a:t>T</a:t>
            </a:r>
            <a:r>
              <a:rPr dirty="0"/>
              <a:t>1</a:t>
            </a:r>
          </a:p>
        </p:txBody>
      </p:sp>
      <p:sp>
        <p:nvSpPr>
          <p:cNvPr id="463" name="Core 2"/>
          <p:cNvSpPr txBox="1"/>
          <p:nvPr/>
        </p:nvSpPr>
        <p:spPr>
          <a:xfrm>
            <a:off x="6641630" y="4613702"/>
            <a:ext cx="673261" cy="7181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rPr lang="en-US" dirty="0"/>
              <a:t>T</a:t>
            </a:r>
            <a:r>
              <a:rPr dirty="0"/>
              <a:t>2</a:t>
            </a:r>
          </a:p>
        </p:txBody>
      </p:sp>
      <p:pic>
        <p:nvPicPr>
          <p:cNvPr id="46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946" y="4026924"/>
            <a:ext cx="758934" cy="757669"/>
          </a:xfrm>
          <a:prstGeom prst="rect">
            <a:avLst/>
          </a:prstGeom>
          <a:ln w="12700">
            <a:miter lim="400000"/>
          </a:ln>
        </p:spPr>
      </p:pic>
      <p:pic>
        <p:nvPicPr>
          <p:cNvPr id="46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8794" y="4026924"/>
            <a:ext cx="758934" cy="757669"/>
          </a:xfrm>
          <a:prstGeom prst="rect">
            <a:avLst/>
          </a:prstGeom>
          <a:ln w="12700">
            <a:miter lim="400000"/>
          </a:ln>
        </p:spPr>
      </p:pic>
      <p:sp>
        <p:nvSpPr>
          <p:cNvPr id="466" name="LOAD RAX, &amp;x…"/>
          <p:cNvSpPr txBox="1"/>
          <p:nvPr/>
        </p:nvSpPr>
        <p:spPr>
          <a:xfrm>
            <a:off x="875852" y="5301025"/>
            <a:ext cx="2397463" cy="4165243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/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LOAD </a:t>
            </a:r>
            <a:r>
              <a:rPr lang="en-US" sz="2400" dirty="0">
                <a:solidFill>
                  <a:srgbClr val="6A8188"/>
                </a:solidFill>
                <a:latin typeface="Consolas" panose="020B0609020204030204" pitchFamily="49" charset="0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RAX, &amp;x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ADD  </a:t>
            </a:r>
            <a:r>
              <a:rPr lang="en-US" sz="2400" dirty="0">
                <a:solidFill>
                  <a:srgbClr val="6A8188"/>
                </a:solidFill>
                <a:latin typeface="Consolas" panose="020B0609020204030204" pitchFamily="49" charset="0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RAX, 1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STORE RAX, &amp;x</a:t>
            </a:r>
            <a:endParaRPr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000000"/>
              </a:solidFill>
              <a:latin typeface="Consolas" panose="020B0609020204030204" pitchFamily="49" charset="0"/>
            </a:endParaRPr>
          </a:p>
        </p:txBody>
      </p:sp>
      <p:sp>
        <p:nvSpPr>
          <p:cNvPr id="467" name="LOAD RAX, &amp;x…"/>
          <p:cNvSpPr txBox="1"/>
          <p:nvPr/>
        </p:nvSpPr>
        <p:spPr>
          <a:xfrm>
            <a:off x="6032788" y="5566372"/>
            <a:ext cx="2397463" cy="3365024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lang="en-US"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LOAD </a:t>
            </a:r>
            <a:r>
              <a:rPr lang="en-US" sz="2400" dirty="0">
                <a:solidFill>
                  <a:srgbClr val="6A8188"/>
                </a:solidFill>
                <a:latin typeface="Consolas" panose="020B0609020204030204" pitchFamily="49" charset="0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RAX, &amp;x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ADD  </a:t>
            </a:r>
            <a:r>
              <a:rPr lang="en-US" sz="2400" dirty="0">
                <a:solidFill>
                  <a:srgbClr val="6A8188"/>
                </a:solidFill>
                <a:latin typeface="Consolas" panose="020B0609020204030204" pitchFamily="49" charset="0"/>
              </a:rPr>
              <a:t> 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RAX, 1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STORE RAX, &amp;x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…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dirty="0">
              <a:solidFill>
                <a:srgbClr val="000000"/>
              </a:solidFill>
            </a:endParaRPr>
          </a:p>
        </p:txBody>
      </p:sp>
      <p:sp>
        <p:nvSpPr>
          <p:cNvPr id="14" name="void increase(int cnt) {…">
            <a:extLst>
              <a:ext uri="{FF2B5EF4-FFF2-40B4-BE49-F238E27FC236}">
                <a16:creationId xmlns:a16="http://schemas.microsoft.com/office/drawing/2014/main" id="{3C10A221-D12E-4E82-A6AC-949985F4D719}"/>
              </a:ext>
            </a:extLst>
          </p:cNvPr>
          <p:cNvSpPr txBox="1"/>
          <p:nvPr/>
        </p:nvSpPr>
        <p:spPr>
          <a:xfrm>
            <a:off x="8325108" y="2722701"/>
            <a:ext cx="4108192" cy="1949252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		// </a:t>
            </a:r>
            <a:r>
              <a:rPr sz="2400" dirty="0">
                <a:solidFill>
                  <a:schemeClr val="accent1"/>
                </a:solidFill>
                <a:latin typeface="Consolas" panose="020B0609020204030204" pitchFamily="49" charset="0"/>
              </a:rPr>
              <a:t>x = x + </a:t>
            </a:r>
            <a:r>
              <a:rPr sz="2400" dirty="0">
                <a:solidFill>
                  <a:srgbClr val="E5493D"/>
                </a:solidFill>
                <a:latin typeface="Consolas" panose="020B0609020204030204" pitchFamily="49" charset="0"/>
              </a:rPr>
              <a:t>1</a:t>
            </a:r>
            <a:r>
              <a:rPr sz="2400" dirty="0">
                <a:solidFill>
                  <a:srgbClr val="6A8188"/>
                </a:solidFill>
                <a:latin typeface="Consolas" panose="020B0609020204030204" pitchFamily="49" charset="0"/>
              </a:rPr>
              <a:t>;</a:t>
            </a:r>
            <a:endParaRPr lang="en-US"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DCDEE0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 sz="2400" dirty="0">
              <a:solidFill>
                <a:srgbClr val="6A8188"/>
              </a:solidFill>
              <a:latin typeface="Consolas" panose="020B0609020204030204" pitchFamily="49" charset="0"/>
            </a:endParaRP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7030A0"/>
                </a:solidFill>
                <a:latin typeface="Consolas" panose="020B0609020204030204" pitchFamily="49" charset="0"/>
              </a:rPr>
              <a:t>		LOAD RAX, &amp;x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7030A0"/>
                </a:solidFill>
                <a:latin typeface="Consolas" panose="020B0609020204030204" pitchFamily="49" charset="0"/>
              </a:rPr>
              <a:t>		ADD  RAX, 1</a:t>
            </a:r>
          </a:p>
          <a:p>
            <a:pPr algn="l" defTabSz="457200">
              <a:defRPr sz="2000">
                <a:solidFill>
                  <a:srgbClr val="788E95"/>
                </a:solidFill>
                <a:latin typeface="Courier"/>
                <a:ea typeface="Courier"/>
                <a:cs typeface="Courier"/>
                <a:sym typeface="Courier"/>
              </a:defRPr>
            </a:pPr>
            <a:r>
              <a:rPr sz="2400" dirty="0">
                <a:solidFill>
                  <a:srgbClr val="7030A0"/>
                </a:solidFill>
                <a:latin typeface="Consolas" panose="020B0609020204030204" pitchFamily="49" charset="0"/>
              </a:rPr>
              <a:t>		STORE RAX, &amp;x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8F227BD3-38AE-4797-AAF4-7F699F6C7881}"/>
              </a:ext>
            </a:extLst>
          </p:cNvPr>
          <p:cNvCxnSpPr>
            <a:cxnSpLocks/>
          </p:cNvCxnSpPr>
          <p:nvPr/>
        </p:nvCxnSpPr>
        <p:spPr>
          <a:xfrm>
            <a:off x="3414054" y="6458358"/>
            <a:ext cx="2356125" cy="315311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552BE96-F203-477D-8753-BD345DBF5F69}"/>
              </a:ext>
            </a:extLst>
          </p:cNvPr>
          <p:cNvCxnSpPr>
            <a:cxnSpLocks/>
          </p:cNvCxnSpPr>
          <p:nvPr/>
        </p:nvCxnSpPr>
        <p:spPr>
          <a:xfrm flipH="1">
            <a:off x="3414055" y="7785100"/>
            <a:ext cx="2356124" cy="654707"/>
          </a:xfrm>
          <a:prstGeom prst="straightConnector1">
            <a:avLst/>
          </a:prstGeom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219570E-0B23-4261-B3EB-D75FE53F3BB2}"/>
              </a:ext>
            </a:extLst>
          </p:cNvPr>
          <p:cNvSpPr txBox="1"/>
          <p:nvPr/>
        </p:nvSpPr>
        <p:spPr>
          <a:xfrm>
            <a:off x="3752193" y="5296174"/>
            <a:ext cx="1755228" cy="96436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context</a:t>
            </a:r>
          </a:p>
          <a:p>
            <a:pPr marL="0" marR="0" indent="0" algn="ctr" defTabSz="5842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2800" dirty="0"/>
              <a:t>switching</a:t>
            </a:r>
            <a:endParaRPr kumimoji="0" lang="en-US" sz="2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 Neue Light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Bottom lin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US" dirty="0"/>
              <a:t>Lesson</a:t>
            </a:r>
            <a:endParaRPr dirty="0"/>
          </a:p>
        </p:txBody>
      </p:sp>
      <p:sp>
        <p:nvSpPr>
          <p:cNvPr id="470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71" name="Seal 3 SPOT281.jpg" descr="Seal 3 SPOT281.jpg"/>
          <p:cNvPicPr>
            <a:picLocks noChangeAspect="1"/>
          </p:cNvPicPr>
          <p:nvPr/>
        </p:nvPicPr>
        <p:blipFill>
          <a:blip r:embed="rId3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72" name="Even a simple computation sharing one integer can be wrong!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Even sharing </a:t>
            </a:r>
            <a:r>
              <a:rPr lang="en-US" b="1" dirty="0">
                <a:solidFill>
                  <a:schemeClr val="accent1"/>
                </a:solidFill>
              </a:rPr>
              <a:t>a single</a:t>
            </a:r>
            <a:r>
              <a:rPr b="1" i="1" dirty="0">
                <a:solidFill>
                  <a:schemeClr val="accent1"/>
                </a:solidFill>
              </a:rPr>
              <a:t> integer</a:t>
            </a:r>
            <a:r>
              <a:rPr i="1" dirty="0"/>
              <a:t> </a:t>
            </a:r>
            <a:r>
              <a:rPr dirty="0"/>
              <a:t>can </a:t>
            </a:r>
            <a:r>
              <a:rPr lang="en-US" dirty="0"/>
              <a:t>go</a:t>
            </a:r>
            <a:r>
              <a:rPr dirty="0"/>
              <a:t> wrong!</a:t>
            </a:r>
          </a:p>
          <a:p>
            <a:r>
              <a:rPr dirty="0"/>
              <a:t>What to do ?</a:t>
            </a:r>
          </a:p>
          <a:p>
            <a:r>
              <a:rPr lang="en-US" dirty="0"/>
              <a:t>W</a:t>
            </a:r>
            <a:r>
              <a:rPr dirty="0"/>
              <a:t>e need</a:t>
            </a:r>
            <a:r>
              <a:rPr lang="en-US" dirty="0"/>
              <a:t> </a:t>
            </a:r>
            <a:r>
              <a:rPr lang="en-US" dirty="0" err="1"/>
              <a:t>coordinations</a:t>
            </a:r>
            <a:r>
              <a:rPr lang="en-US" dirty="0"/>
              <a:t>!</a:t>
            </a:r>
            <a:endParaRPr dirty="0"/>
          </a:p>
          <a:p>
            <a:pPr lvl="1"/>
            <a:r>
              <a:rPr dirty="0"/>
              <a:t>RULES</a:t>
            </a:r>
            <a:r>
              <a:rPr lang="en-US" dirty="0"/>
              <a:t> and </a:t>
            </a:r>
            <a:r>
              <a:rPr dirty="0"/>
              <a:t>PROTOCOLS</a:t>
            </a:r>
          </a:p>
          <a:p>
            <a:pPr lvl="1"/>
            <a:r>
              <a:rPr dirty="0"/>
              <a:t>T</a:t>
            </a:r>
            <a:r>
              <a:rPr lang="en-US" dirty="0"/>
              <a:t>o</a:t>
            </a:r>
            <a:r>
              <a:rPr dirty="0"/>
              <a:t> establish how to share </a:t>
            </a:r>
            <a:r>
              <a:rPr lang="en-US" dirty="0"/>
              <a:t>data </a:t>
            </a:r>
            <a:r>
              <a:rPr dirty="0"/>
              <a:t>safely and keep everyone happy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800" dirty="0"/>
              <a:t>Remember the lesson!</a:t>
            </a:r>
          </a:p>
        </p:txBody>
      </p:sp>
      <p:sp>
        <p:nvSpPr>
          <p:cNvPr id="47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pic>
        <p:nvPicPr>
          <p:cNvPr id="7" name="pasted-image.tif">
            <a:extLst>
              <a:ext uri="{FF2B5EF4-FFF2-40B4-BE49-F238E27FC236}">
                <a16:creationId xmlns:a16="http://schemas.microsoft.com/office/drawing/2014/main" id="{BE76519B-A089-4695-9F6E-7B16D13F1F22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8798559" y="6527799"/>
            <a:ext cx="3441701" cy="23622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The Road Ahea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Road Ahead</a:t>
            </a:r>
          </a:p>
        </p:txBody>
      </p:sp>
      <p:sp>
        <p:nvSpPr>
          <p:cNvPr id="523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524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525" name="What we will do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spcBef>
                <a:spcPts val="1100"/>
              </a:spcBef>
            </a:pPr>
            <a:r>
              <a:rPr dirty="0"/>
              <a:t>What we will do</a:t>
            </a:r>
          </a:p>
          <a:p>
            <a:pPr lvl="1">
              <a:spcBef>
                <a:spcPts val="1100"/>
              </a:spcBef>
            </a:pPr>
            <a:r>
              <a:rPr dirty="0"/>
              <a:t>Define PROTOCOLS and DATA STRUCTURES to safely share</a:t>
            </a:r>
          </a:p>
          <a:p>
            <a:pPr>
              <a:spcBef>
                <a:spcPts val="1100"/>
              </a:spcBef>
            </a:pPr>
            <a:r>
              <a:rPr dirty="0"/>
              <a:t>Examples</a:t>
            </a:r>
          </a:p>
          <a:p>
            <a:pPr lvl="1">
              <a:spcBef>
                <a:spcPts val="1100"/>
              </a:spcBef>
            </a:pPr>
            <a:r>
              <a:rPr dirty="0"/>
              <a:t>Mutexes / Spinlocks</a:t>
            </a:r>
          </a:p>
          <a:p>
            <a:pPr lvl="1">
              <a:spcBef>
                <a:spcPts val="1100"/>
              </a:spcBef>
            </a:pPr>
            <a:r>
              <a:rPr dirty="0"/>
              <a:t>Conditions</a:t>
            </a:r>
            <a:endParaRPr lang="en-US" dirty="0"/>
          </a:p>
          <a:p>
            <a:pPr lvl="1">
              <a:spcBef>
                <a:spcPts val="1100"/>
              </a:spcBef>
            </a:pPr>
            <a:endParaRPr dirty="0"/>
          </a:p>
          <a:p>
            <a:pPr lvl="1">
              <a:spcBef>
                <a:spcPts val="1100"/>
              </a:spcBef>
            </a:pPr>
            <a:r>
              <a:rPr lang="en-US" dirty="0"/>
              <a:t>Semaphores</a:t>
            </a:r>
          </a:p>
          <a:p>
            <a:pPr lvl="1">
              <a:spcBef>
                <a:spcPts val="1100"/>
              </a:spcBef>
            </a:pPr>
            <a:r>
              <a:rPr dirty="0"/>
              <a:t>Barriers</a:t>
            </a:r>
            <a:endParaRPr lang="en-US" dirty="0"/>
          </a:p>
          <a:p>
            <a:pPr lvl="1">
              <a:spcBef>
                <a:spcPts val="1100"/>
              </a:spcBef>
            </a:pPr>
            <a:r>
              <a:rPr dirty="0"/>
              <a:t>Producer / Consumer</a:t>
            </a:r>
          </a:p>
          <a:p>
            <a:pPr lvl="1">
              <a:spcBef>
                <a:spcPts val="1100"/>
              </a:spcBef>
            </a:pPr>
            <a:r>
              <a:rPr dirty="0"/>
              <a:t>Reader / Writer</a:t>
            </a:r>
          </a:p>
          <a:p>
            <a:pPr lvl="1">
              <a:spcBef>
                <a:spcPts val="1100"/>
              </a:spcBef>
            </a:pPr>
            <a:r>
              <a:rPr dirty="0"/>
              <a:t>…</a:t>
            </a:r>
          </a:p>
        </p:txBody>
      </p:sp>
      <p:sp>
        <p:nvSpPr>
          <p:cNvPr id="52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765448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How unsafe can this be 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How unsafe can this be ? </a:t>
            </a:r>
          </a:p>
        </p:txBody>
      </p:sp>
      <p:sp>
        <p:nvSpPr>
          <p:cNvPr id="418" name="Line"/>
          <p:cNvSpPr/>
          <p:nvPr/>
        </p:nvSpPr>
        <p:spPr>
          <a:xfrm>
            <a:off x="647700" y="1968500"/>
            <a:ext cx="11709400" cy="127"/>
          </a:xfrm>
          <a:prstGeom prst="line">
            <a:avLst/>
          </a:prstGeom>
          <a:ln w="12700">
            <a:solidFill>
              <a:srgbClr val="9A9A9A"/>
            </a:solidFill>
            <a:miter lim="400000"/>
          </a:ln>
        </p:spPr>
        <p:txBody>
          <a:bodyPr lIns="50800" tIns="50800" rIns="50800" bIns="50800" anchor="ctr"/>
          <a:lstStyle/>
          <a:p>
            <a:pPr algn="l" defTabSz="457200">
              <a:defRPr sz="1200">
                <a:latin typeface="Helvetica"/>
                <a:ea typeface="Helvetica"/>
                <a:cs typeface="Helvetica"/>
                <a:sym typeface="Helvetica"/>
              </a:defRPr>
            </a:pPr>
            <a:endParaRPr/>
          </a:p>
        </p:txBody>
      </p:sp>
      <p:pic>
        <p:nvPicPr>
          <p:cNvPr id="419" name="Seal 3 SPOT281.jpg" descr="Seal 3 SPOT281.jpg"/>
          <p:cNvPicPr>
            <a:picLocks noChangeAspect="1"/>
          </p:cNvPicPr>
          <p:nvPr/>
        </p:nvPicPr>
        <p:blipFill>
          <a:blip r:embed="rId2"/>
          <a:srcRect l="3468" t="3251" r="3361" b="3531"/>
          <a:stretch>
            <a:fillRect/>
          </a:stretch>
        </p:blipFill>
        <p:spPr>
          <a:xfrm>
            <a:off x="11585193" y="813825"/>
            <a:ext cx="757284" cy="7576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903" h="20862" extrusionOk="0">
                <a:moveTo>
                  <a:pt x="10430" y="0"/>
                </a:moveTo>
                <a:cubicBezTo>
                  <a:pt x="7833" y="7"/>
                  <a:pt x="5231" y="1066"/>
                  <a:pt x="3123" y="3169"/>
                </a:cubicBezTo>
                <a:cubicBezTo>
                  <a:pt x="148" y="6137"/>
                  <a:pt x="-690" y="9603"/>
                  <a:pt x="560" y="13802"/>
                </a:cubicBezTo>
                <a:cubicBezTo>
                  <a:pt x="1344" y="16435"/>
                  <a:pt x="4228" y="19373"/>
                  <a:pt x="6892" y="20249"/>
                </a:cubicBezTo>
                <a:cubicBezTo>
                  <a:pt x="10975" y="21593"/>
                  <a:pt x="14774" y="20713"/>
                  <a:pt x="17748" y="17747"/>
                </a:cubicBezTo>
                <a:cubicBezTo>
                  <a:pt x="19860" y="15640"/>
                  <a:pt x="20910" y="13054"/>
                  <a:pt x="20903" y="10458"/>
                </a:cubicBezTo>
                <a:cubicBezTo>
                  <a:pt x="20896" y="7862"/>
                  <a:pt x="19828" y="5256"/>
                  <a:pt x="17704" y="3125"/>
                </a:cubicBezTo>
                <a:cubicBezTo>
                  <a:pt x="15620" y="1034"/>
                  <a:pt x="13028" y="-7"/>
                  <a:pt x="10430" y="0"/>
                </a:cubicBezTo>
                <a:close/>
              </a:path>
            </a:pathLst>
          </a:custGeom>
          <a:ln w="12700">
            <a:miter lim="400000"/>
          </a:ln>
        </p:spPr>
      </p:pic>
      <p:sp>
        <p:nvSpPr>
          <p:cNvPr id="420" name="Lots of subtle issues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Lots of subtle issues</a:t>
            </a:r>
          </a:p>
          <a:p>
            <a:pPr lvl="1"/>
            <a:r>
              <a:rPr dirty="0"/>
              <a:t>It is very easy to get it wrong.</a:t>
            </a:r>
          </a:p>
          <a:p>
            <a:r>
              <a:rPr dirty="0"/>
              <a:t>Good multi-threading programming must be disciplined</a:t>
            </a:r>
          </a:p>
          <a:p>
            <a:pPr lvl="1"/>
            <a:r>
              <a:rPr dirty="0"/>
              <a:t>Good code</a:t>
            </a:r>
          </a:p>
          <a:p>
            <a:pPr lvl="1"/>
            <a:r>
              <a:rPr dirty="0"/>
              <a:t>Good practice</a:t>
            </a:r>
          </a:p>
          <a:p>
            <a:pPr lvl="1"/>
            <a:r>
              <a:rPr dirty="0"/>
              <a:t>Good synchronization</a:t>
            </a:r>
          </a:p>
          <a:p>
            <a:pPr lvl="1"/>
            <a:r>
              <a:rPr dirty="0"/>
              <a:t>Low overhead</a:t>
            </a:r>
          </a:p>
        </p:txBody>
      </p:sp>
      <p:sp>
        <p:nvSpPr>
          <p:cNvPr id="4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29137959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Study the remaining slides yourself</a:t>
            </a:r>
          </a:p>
        </p:txBody>
      </p:sp>
    </p:spTree>
    <p:extLst>
      <p:ext uri="{BB962C8B-B14F-4D97-AF65-F5344CB8AC3E}">
        <p14:creationId xmlns:p14="http://schemas.microsoft.com/office/powerpoint/2010/main" val="2564340112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Detaching a thread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138E58F-CAAC-4EF6-84CF-8B95BB3DB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en-US" sz="3200" dirty="0">
                <a:latin typeface="Consolas" panose="020B0609020204030204" pitchFamily="49" charset="0"/>
              </a:rPr>
              <a:t>int </a:t>
            </a:r>
            <a:r>
              <a:rPr lang="en-US" altLang="en-US" sz="32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pthread_detach</a:t>
            </a:r>
            <a:r>
              <a:rPr lang="en-US" altLang="en-US" sz="3200" dirty="0">
                <a:latin typeface="Consolas" panose="020B0609020204030204" pitchFamily="49" charset="0"/>
              </a:rPr>
              <a:t>(</a:t>
            </a:r>
            <a:r>
              <a:rPr lang="en-US" altLang="en-US" sz="3200" dirty="0" err="1">
                <a:latin typeface="Consolas" panose="020B0609020204030204" pitchFamily="49" charset="0"/>
              </a:rPr>
              <a:t>pthread_t</a:t>
            </a:r>
            <a:r>
              <a:rPr lang="en-US" altLang="en-US" sz="3200" dirty="0">
                <a:latin typeface="Consolas" panose="020B0609020204030204" pitchFamily="49" charset="0"/>
              </a:rPr>
              <a:t> </a:t>
            </a:r>
            <a:r>
              <a:rPr lang="en-US" altLang="en-US" sz="3200" dirty="0" err="1">
                <a:latin typeface="Consolas" panose="020B0609020204030204" pitchFamily="49" charset="0"/>
              </a:rPr>
              <a:t>tid</a:t>
            </a:r>
            <a:r>
              <a:rPr lang="en-US" altLang="en-US" sz="3200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altLang="en-US" sz="2800" dirty="0"/>
          </a:p>
          <a:p>
            <a:pPr marL="0" indent="0">
              <a:buNone/>
            </a:pPr>
            <a:r>
              <a:rPr lang="en-US" altLang="en-US" sz="2800" dirty="0"/>
              <a:t>The "parent" thread doesn’t need to wait</a:t>
            </a:r>
          </a:p>
          <a:p>
            <a:pPr marL="0" indent="0">
              <a:buNone/>
            </a:pPr>
            <a:r>
              <a:rPr lang="en-US" altLang="en-US" sz="2800" dirty="0"/>
              <a:t>A thread can detach another thread</a:t>
            </a:r>
          </a:p>
          <a:p>
            <a:pPr marL="0" indent="0">
              <a:buNone/>
            </a:pPr>
            <a:r>
              <a:rPr lang="en-US" altLang="en-US" sz="2800" dirty="0"/>
              <a:t>When a detached thread terminates, its resources are automatically released</a:t>
            </a:r>
          </a:p>
          <a:p>
            <a:pPr lvl="1"/>
            <a:endParaRPr lang="en-US" altLang="en-US" sz="2400" b="1" dirty="0"/>
          </a:p>
          <a:p>
            <a:pPr marL="0" indent="0">
              <a:buNone/>
            </a:pPr>
            <a:r>
              <a:rPr lang="en-US" altLang="en-US" sz="2800" dirty="0"/>
              <a:t>A thread can detach itself:</a:t>
            </a:r>
          </a:p>
          <a:p>
            <a:pPr>
              <a:buNone/>
            </a:pPr>
            <a:r>
              <a:rPr lang="en-US" alt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 			</a:t>
            </a:r>
            <a:r>
              <a:rPr lang="en-US" alt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pthread_detach</a:t>
            </a:r>
            <a:r>
              <a:rPr lang="en-US" alt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</a:t>
            </a:r>
            <a:r>
              <a:rPr lang="en-US" altLang="en-US" sz="2800" dirty="0" err="1">
                <a:solidFill>
                  <a:schemeClr val="accent1"/>
                </a:solidFill>
                <a:latin typeface="Consolas" panose="020B0609020204030204" pitchFamily="49" charset="0"/>
              </a:rPr>
              <a:t>pthread_self</a:t>
            </a:r>
            <a:r>
              <a:rPr lang="en-US" altLang="en-US" sz="2800" dirty="0">
                <a:solidFill>
                  <a:schemeClr val="accent1"/>
                </a:solidFill>
                <a:latin typeface="Consolas" panose="020B0609020204030204" pitchFamily="49" charset="0"/>
              </a:rPr>
              <a:t>());</a:t>
            </a:r>
          </a:p>
          <a:p>
            <a:pPr>
              <a:buNone/>
            </a:pPr>
            <a:endParaRPr lang="en-US" alt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altLang="en-US" sz="2800" dirty="0"/>
              <a:t>Only threads created as </a:t>
            </a:r>
            <a:r>
              <a:rPr lang="en-US" altLang="en-US" sz="2800" b="1" dirty="0"/>
              <a:t>joinable</a:t>
            </a:r>
            <a:r>
              <a:rPr lang="en-US" altLang="en-US" sz="2800" dirty="0"/>
              <a:t> and not detached can be joined</a:t>
            </a:r>
            <a:endParaRPr lang="en-US" altLang="en-US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687503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4000" dirty="0"/>
              <a:t>Passing Arguments to Threads - 1</a:t>
            </a:r>
            <a:endParaRPr sz="4000" dirty="0"/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59" name="Shape 25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400"/>
              <a:t>23</a:t>
            </a:fld>
            <a:endParaRPr sz="1400"/>
          </a:p>
        </p:txBody>
      </p:sp>
      <p:sp>
        <p:nvSpPr>
          <p:cNvPr id="260" name="Shape 260"/>
          <p:cNvSpPr/>
          <p:nvPr/>
        </p:nvSpPr>
        <p:spPr>
          <a:xfrm>
            <a:off x="2592876" y="4673600"/>
            <a:ext cx="724000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defRPr sz="20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261" name="Shape 261"/>
          <p:cNvSpPr/>
          <p:nvPr/>
        </p:nvSpPr>
        <p:spPr>
          <a:xfrm>
            <a:off x="314040" y="2114920"/>
            <a:ext cx="12376720" cy="7355860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pthread.h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stdlib.h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unistd.h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string.h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algn="l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#define NUM_THREADS	  8</a:t>
            </a:r>
          </a:p>
          <a:p>
            <a:pPr algn="l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char* message;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};</a:t>
            </a:r>
          </a:p>
          <a:p>
            <a:pPr algn="l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void*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(void*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threadarg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*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*)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threadarg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algn="l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sleep(1 + 5*(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% 2) );</a:t>
            </a:r>
          </a:p>
          <a:p>
            <a:pPr algn="l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("Thread #%d: %s  length=%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zd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\n",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-&gt;message, 	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strlen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my_data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-&gt;message));</a:t>
            </a:r>
          </a:p>
          <a:p>
            <a:pPr algn="l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pthread_exit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(NULL);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2660094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Shape 258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defRPr sz="1800"/>
            </a:pPr>
            <a:r>
              <a:rPr lang="en-US" sz="4000" dirty="0"/>
              <a:t>Passing Arguments to Threads - 2</a:t>
            </a:r>
            <a:endParaRPr sz="4000" dirty="0"/>
          </a:p>
        </p:txBody>
      </p:sp>
      <p:sp>
        <p:nvSpPr>
          <p:cNvPr id="259" name="Shape 259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/>
          <a:lstStyle/>
          <a:p>
            <a:pPr lvl="0">
              <a:defRPr sz="1800"/>
            </a:pPr>
            <a:fld id="{86CB4B4D-7CA3-9044-876B-883B54F8677D}" type="slidenum">
              <a:rPr sz="1400"/>
              <a:t>24</a:t>
            </a:fld>
            <a:endParaRPr sz="1400"/>
          </a:p>
        </p:txBody>
      </p:sp>
      <p:sp>
        <p:nvSpPr>
          <p:cNvPr id="260" name="Shape 260"/>
          <p:cNvSpPr/>
          <p:nvPr/>
        </p:nvSpPr>
        <p:spPr>
          <a:xfrm>
            <a:off x="2592876" y="4673600"/>
            <a:ext cx="724000" cy="4064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/>
          <a:p>
            <a:pPr lvl="0" algn="l" defTabSz="457200">
              <a:defRPr sz="2000">
                <a:solidFill>
                  <a:srgbClr val="7F87CF"/>
                </a:solidFill>
                <a:latin typeface="Courier"/>
                <a:ea typeface="Courier"/>
                <a:cs typeface="Courier"/>
                <a:sym typeface="Courier"/>
              </a:defRPr>
            </a:pPr>
            <a:endParaRPr/>
          </a:p>
        </p:txBody>
      </p:sp>
      <p:sp>
        <p:nvSpPr>
          <p:cNvPr id="261" name="Shape 261"/>
          <p:cNvSpPr/>
          <p:nvPr/>
        </p:nvSpPr>
        <p:spPr>
          <a:xfrm>
            <a:off x="314040" y="2812498"/>
            <a:ext cx="12512960" cy="5909310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main(int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char*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argv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[]) 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threads[NUM_THREADS];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static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4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[NUM_THREADS];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char* messages[NUM_THREADS];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t;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messages[0] = "English: Hello World!";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messages[1] = "French: Bonjour, le monde!";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messages[2] = "Spanish: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Hola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al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mundo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";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messages[3] = "Klingon: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Nuq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neH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!";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messages[4] = "German: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Guten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Tag, Welt!";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messages[5] = "Russian: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Zdravstvuyte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mir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!";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messages[6] = "Japan: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Sekai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e konnichiwa!";</a:t>
            </a: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messages[7] = "Latin: Orbis,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saluto</a:t>
            </a:r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!";</a:t>
            </a:r>
          </a:p>
          <a:p>
            <a:pPr algn="l"/>
            <a:endParaRPr lang="en-US" sz="2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   // continue on the next slide</a:t>
            </a:r>
          </a:p>
        </p:txBody>
      </p:sp>
    </p:spTree>
    <p:extLst>
      <p:ext uri="{BB962C8B-B14F-4D97-AF65-F5344CB8AC3E}">
        <p14:creationId xmlns:p14="http://schemas.microsoft.com/office/powerpoint/2010/main" val="1371857797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D1CA5D-8188-4B5E-AB51-39FD5D82E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Passing Arguments to Threads - 3</a:t>
            </a:r>
          </a:p>
        </p:txBody>
      </p:sp>
      <p:sp>
        <p:nvSpPr>
          <p:cNvPr id="4" name="Shape 261">
            <a:extLst>
              <a:ext uri="{FF2B5EF4-FFF2-40B4-BE49-F238E27FC236}">
                <a16:creationId xmlns:a16="http://schemas.microsoft.com/office/drawing/2014/main" id="{7BD77CC6-C35C-4740-8D9B-09AD40FFBAB9}"/>
              </a:ext>
            </a:extLst>
          </p:cNvPr>
          <p:cNvSpPr/>
          <p:nvPr/>
        </p:nvSpPr>
        <p:spPr>
          <a:xfrm>
            <a:off x="314040" y="2535500"/>
            <a:ext cx="12512960" cy="6463308"/>
          </a:xfrm>
          <a:prstGeom prst="rect">
            <a:avLst/>
          </a:prstGeom>
          <a:solidFill>
            <a:srgbClr val="EEE9D4"/>
          </a:solidFill>
          <a:ln w="12700">
            <a:miter lim="400000"/>
          </a:ln>
          <a:effectLst>
            <a:outerShdw blurRad="177800" dist="1397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for( t=0; t&lt;NUM_THREADS; t++ ) {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//set up struct for thread t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[t].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thread_num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t;         </a:t>
            </a:r>
          </a:p>
          <a:p>
            <a:pPr algn="l"/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[t].message = messages[t];</a:t>
            </a:r>
          </a:p>
          <a:p>
            <a:pPr algn="l"/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("Creating thread #%d\n", t);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(&amp;threads[t], NULL,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PrintHello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					(void*)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thread_data_array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[t]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 (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("ERROR; return code from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pthread_create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is %d\n",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exit(-1);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("Detaching thread #%d\n", t);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pthread_detach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 threads[t] ); </a:t>
            </a:r>
            <a:r>
              <a:rPr lang="en-US" sz="20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detach a thread</a:t>
            </a:r>
            <a:endParaRPr lang="en-US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if(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){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("ERROR; return code from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pthread_detach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() is %d\n",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rc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exit(-1);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2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pthread_exit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(NULL);</a:t>
            </a:r>
          </a:p>
          <a:p>
            <a:pPr algn="l"/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36314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thread as detached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When calling </a:t>
            </a:r>
            <a:r>
              <a:rPr lang="en-US" altLang="en-US" dirty="0" err="1"/>
              <a:t>pthread_create</a:t>
            </a:r>
            <a:r>
              <a:rPr lang="en-US" altLang="en-US" dirty="0"/>
              <a:t>(), one of the attributes defines whether the thread is joinable or detached</a:t>
            </a:r>
          </a:p>
          <a:p>
            <a:pPr lvl="1"/>
            <a:r>
              <a:rPr lang="en-US" altLang="en-US" dirty="0"/>
              <a:t>By default (NULL attribute) threads are created as joinable </a:t>
            </a:r>
          </a:p>
          <a:p>
            <a:pPr marL="0" indent="0">
              <a:buNone/>
            </a:pPr>
            <a:endParaRPr lang="en-US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2400" dirty="0" err="1">
                <a:latin typeface="Consolas" panose="020B0609020204030204" pitchFamily="49" charset="0"/>
              </a:rPr>
              <a:t>pthread_t</a:t>
            </a:r>
            <a:r>
              <a:rPr lang="en-US" altLang="en-US" sz="2400" dirty="0">
                <a:latin typeface="Consolas" panose="020B0609020204030204" pitchFamily="49" charset="0"/>
              </a:rPr>
              <a:t> </a:t>
            </a:r>
            <a:r>
              <a:rPr lang="en-US" altLang="en-US" sz="2400" dirty="0" err="1">
                <a:latin typeface="Consolas" panose="020B0609020204030204" pitchFamily="49" charset="0"/>
              </a:rPr>
              <a:t>tid</a:t>
            </a:r>
            <a:r>
              <a:rPr lang="en-US" altLang="en-US" sz="2400" dirty="0">
                <a:latin typeface="Consolas" panose="020B0609020204030204" pitchFamily="49" charset="0"/>
              </a:rPr>
              <a:t>; void * </a:t>
            </a:r>
            <a:r>
              <a:rPr lang="en-US" altLang="en-US" sz="2400" dirty="0" err="1">
                <a:latin typeface="Consolas" panose="020B0609020204030204" pitchFamily="49" charset="0"/>
              </a:rPr>
              <a:t>arg</a:t>
            </a:r>
            <a:r>
              <a:rPr lang="en-US" altLang="en-US" sz="2400" dirty="0">
                <a:latin typeface="Consolas" panose="020B0609020204030204" pitchFamily="49" charset="0"/>
              </a:rPr>
              <a:t>;</a:t>
            </a: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 // thread id and argument</a:t>
            </a:r>
            <a:endParaRPr lang="en-US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2400" dirty="0" err="1">
                <a:latin typeface="Consolas" panose="020B0609020204030204" pitchFamily="49" charset="0"/>
              </a:rPr>
              <a:t>pthread_attr_t</a:t>
            </a:r>
            <a:r>
              <a:rPr lang="en-US" altLang="en-US" sz="2400" dirty="0">
                <a:latin typeface="Consolas" panose="020B0609020204030204" pitchFamily="49" charset="0"/>
              </a:rPr>
              <a:t> </a:t>
            </a:r>
            <a:r>
              <a:rPr lang="en-US" altLang="en-US" sz="2400" dirty="0" err="1">
                <a:latin typeface="Consolas" panose="020B0609020204030204" pitchFamily="49" charset="0"/>
              </a:rPr>
              <a:t>attr</a:t>
            </a:r>
            <a:r>
              <a:rPr lang="en-US" altLang="en-US" sz="2400" dirty="0">
                <a:latin typeface="Consolas" panose="020B0609020204030204" pitchFamily="49" charset="0"/>
              </a:rPr>
              <a:t>; 		</a:t>
            </a: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an attribute variable</a:t>
            </a:r>
          </a:p>
          <a:p>
            <a:pPr marL="0" indent="0">
              <a:buNone/>
            </a:pPr>
            <a:endParaRPr lang="en-US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2400" dirty="0" err="1">
                <a:latin typeface="Consolas" panose="020B0609020204030204" pitchFamily="49" charset="0"/>
              </a:rPr>
              <a:t>pthread_attr_init</a:t>
            </a:r>
            <a:r>
              <a:rPr lang="en-US" altLang="en-US" sz="2400" dirty="0">
                <a:latin typeface="Consolas" panose="020B0609020204030204" pitchFamily="49" charset="0"/>
              </a:rPr>
              <a:t>(&amp;</a:t>
            </a:r>
            <a:r>
              <a:rPr lang="en-US" altLang="en-US" sz="2400" dirty="0" err="1">
                <a:latin typeface="Consolas" panose="020B0609020204030204" pitchFamily="49" charset="0"/>
              </a:rPr>
              <a:t>tattr</a:t>
            </a:r>
            <a:r>
              <a:rPr lang="en-US" altLang="en-US" sz="2400" dirty="0">
                <a:latin typeface="Consolas" panose="020B0609020204030204" pitchFamily="49" charset="0"/>
              </a:rPr>
              <a:t>); </a:t>
            </a: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initialize with default attributes</a:t>
            </a:r>
          </a:p>
          <a:p>
            <a:pPr marL="0" indent="0">
              <a:buNone/>
            </a:pP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set detach state</a:t>
            </a:r>
            <a:endParaRPr lang="en-US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2400" dirty="0" err="1">
                <a:latin typeface="Consolas" panose="020B0609020204030204" pitchFamily="49" charset="0"/>
              </a:rPr>
              <a:t>pthread_attr_setdetachstate</a:t>
            </a:r>
            <a:r>
              <a:rPr lang="en-US" altLang="en-US" sz="2400" dirty="0">
                <a:latin typeface="Consolas" panose="020B0609020204030204" pitchFamily="49" charset="0"/>
              </a:rPr>
              <a:t>(&amp;</a:t>
            </a:r>
            <a:r>
              <a:rPr lang="en-US" altLang="en-US" sz="2400" dirty="0" err="1">
                <a:latin typeface="Consolas" panose="020B0609020204030204" pitchFamily="49" charset="0"/>
              </a:rPr>
              <a:t>tattr</a:t>
            </a:r>
            <a:r>
              <a:rPr lang="en-US" altLang="en-US" sz="2400" dirty="0">
                <a:latin typeface="Consolas" panose="020B0609020204030204" pitchFamily="49" charset="0"/>
              </a:rPr>
              <a:t>, PTHREAD_CREATE_DETACHED);</a:t>
            </a:r>
          </a:p>
          <a:p>
            <a:pPr marL="0" indent="0">
              <a:buNone/>
            </a:pPr>
            <a:r>
              <a:rPr lang="en-US" altLang="en-US" sz="2400" dirty="0" err="1">
                <a:latin typeface="Consolas" panose="020B0609020204030204" pitchFamily="49" charset="0"/>
              </a:rPr>
              <a:t>pthread_create</a:t>
            </a:r>
            <a:r>
              <a:rPr lang="en-US" altLang="en-US" sz="2400" dirty="0">
                <a:latin typeface="Consolas" panose="020B0609020204030204" pitchFamily="49" charset="0"/>
              </a:rPr>
              <a:t>(&amp;</a:t>
            </a:r>
            <a:r>
              <a:rPr lang="en-US" altLang="en-US" sz="2400" dirty="0" err="1">
                <a:latin typeface="Consolas" panose="020B0609020204030204" pitchFamily="49" charset="0"/>
              </a:rPr>
              <a:t>tid</a:t>
            </a:r>
            <a:r>
              <a:rPr lang="en-US" altLang="en-US" sz="2400" dirty="0">
                <a:latin typeface="Consolas" panose="020B0609020204030204" pitchFamily="49" charset="0"/>
              </a:rPr>
              <a:t>, &amp;</a:t>
            </a:r>
            <a:r>
              <a:rPr lang="en-US" altLang="en-US" sz="2400" dirty="0" err="1">
                <a:latin typeface="Consolas" panose="020B0609020204030204" pitchFamily="49" charset="0"/>
              </a:rPr>
              <a:t>tattr</a:t>
            </a:r>
            <a:r>
              <a:rPr lang="en-US" altLang="en-US" sz="2400" dirty="0">
                <a:latin typeface="Consolas" panose="020B0609020204030204" pitchFamily="49" charset="0"/>
              </a:rPr>
              <a:t>, </a:t>
            </a:r>
            <a:r>
              <a:rPr lang="en-US" altLang="en-US" sz="2400" dirty="0" err="1">
                <a:latin typeface="Consolas" panose="020B0609020204030204" pitchFamily="49" charset="0"/>
              </a:rPr>
              <a:t>start_routine</a:t>
            </a:r>
            <a:r>
              <a:rPr lang="en-US" altLang="en-US" sz="2400" dirty="0">
                <a:latin typeface="Consolas" panose="020B0609020204030204" pitchFamily="49" charset="0"/>
              </a:rPr>
              <a:t>, </a:t>
            </a:r>
            <a:r>
              <a:rPr lang="en-US" altLang="en-US" sz="2400" dirty="0" err="1">
                <a:latin typeface="Consolas" panose="020B0609020204030204" pitchFamily="49" charset="0"/>
              </a:rPr>
              <a:t>arg</a:t>
            </a:r>
            <a:r>
              <a:rPr lang="en-US" altLang="en-US" sz="2400" dirty="0">
                <a:latin typeface="Consolas" panose="020B0609020204030204" pitchFamily="49" charset="0"/>
              </a:rPr>
              <a:t>);</a:t>
            </a: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 // create thread</a:t>
            </a:r>
            <a:endParaRPr lang="en-US" altLang="en-US" sz="24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altLang="en-US" sz="2400" dirty="0" err="1">
                <a:latin typeface="Consolas" panose="020B0609020204030204" pitchFamily="49" charset="0"/>
              </a:rPr>
              <a:t>pthread_attr_destroy</a:t>
            </a:r>
            <a:r>
              <a:rPr lang="en-US" altLang="en-US" sz="2400" dirty="0">
                <a:latin typeface="Consolas" panose="020B0609020204030204" pitchFamily="49" charset="0"/>
              </a:rPr>
              <a:t>(&amp;</a:t>
            </a:r>
            <a:r>
              <a:rPr lang="en-US" altLang="en-US" sz="2400" dirty="0" err="1">
                <a:latin typeface="Consolas" panose="020B0609020204030204" pitchFamily="49" charset="0"/>
              </a:rPr>
              <a:t>attr</a:t>
            </a:r>
            <a:r>
              <a:rPr lang="en-US" altLang="en-US" sz="2400" dirty="0">
                <a:latin typeface="Consolas" panose="020B0609020204030204" pitchFamily="49" charset="0"/>
              </a:rPr>
              <a:t>); </a:t>
            </a:r>
            <a:r>
              <a:rPr lang="en-US" altLang="en-US" sz="2400" dirty="0">
                <a:solidFill>
                  <a:schemeClr val="accent1"/>
                </a:solidFill>
                <a:latin typeface="Consolas" panose="020B0609020204030204" pitchFamily="49" charset="0"/>
              </a:rPr>
              <a:t>// destroy the attribute</a:t>
            </a:r>
            <a:endParaRPr lang="en-US" alt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46940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Explicitly create a thread as detached</a:t>
            </a:r>
          </a:p>
        </p:txBody>
      </p:sp>
      <p:sp>
        <p:nvSpPr>
          <p:cNvPr id="6" name="Conten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3200" dirty="0"/>
              <a:t>Use the </a:t>
            </a:r>
            <a:r>
              <a:rPr lang="en-US" sz="3200" dirty="0" err="1"/>
              <a:t>attr</a:t>
            </a:r>
            <a:r>
              <a:rPr lang="en-US" sz="3200" dirty="0"/>
              <a:t> argument in </a:t>
            </a:r>
            <a:r>
              <a:rPr lang="en-US" sz="3200" dirty="0" err="1"/>
              <a:t>pthread_create</a:t>
            </a:r>
            <a:r>
              <a:rPr lang="en-US" sz="3200" dirty="0"/>
              <a:t>()</a:t>
            </a:r>
            <a:br>
              <a:rPr lang="en-US" sz="3200" dirty="0"/>
            </a:br>
            <a:endParaRPr lang="en-US" sz="3200" dirty="0"/>
          </a:p>
          <a:p>
            <a:pPr marL="0" indent="0">
              <a:buNone/>
              <a:defRPr/>
            </a:pPr>
            <a:r>
              <a:rPr lang="en-US" sz="3200" b="1" dirty="0"/>
              <a:t>4 step process: </a:t>
            </a:r>
            <a:endParaRPr lang="en-US" sz="1200" dirty="0"/>
          </a:p>
          <a:p>
            <a:pPr marL="650230" indent="-650230">
              <a:buFont typeface="+mj-lt"/>
              <a:buAutoNum type="arabicPeriod"/>
              <a:defRPr/>
            </a:pPr>
            <a:r>
              <a:rPr lang="en-US" sz="3200" dirty="0"/>
              <a:t>Declare a </a:t>
            </a:r>
            <a:r>
              <a:rPr lang="en-US" sz="3200" dirty="0" err="1"/>
              <a:t>pthread</a:t>
            </a:r>
            <a:r>
              <a:rPr lang="en-US" sz="3200" dirty="0"/>
              <a:t> attribute variable of the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pthread_attr_t</a:t>
            </a:r>
            <a:r>
              <a:rPr lang="en-US" sz="3200" dirty="0"/>
              <a:t> data type </a:t>
            </a:r>
            <a:br>
              <a:rPr lang="en-US" sz="3200" dirty="0"/>
            </a:br>
            <a:endParaRPr lang="en-US" sz="1200" dirty="0"/>
          </a:p>
          <a:p>
            <a:pPr marL="650230" indent="-650230">
              <a:buFont typeface="+mj-lt"/>
              <a:buAutoNum type="arabicPeriod"/>
              <a:defRPr/>
            </a:pPr>
            <a:r>
              <a:rPr lang="en-US" sz="3200" dirty="0"/>
              <a:t>Initialize the attribute variable with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pthread_attr_init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()</a:t>
            </a:r>
            <a:br>
              <a:rPr lang="en-US" sz="3200" dirty="0">
                <a:latin typeface="Courier New" pitchFamily="49" charset="0"/>
                <a:cs typeface="Courier New" pitchFamily="49" charset="0"/>
              </a:rPr>
            </a:br>
            <a:r>
              <a:rPr lang="en-US" sz="1200" dirty="0">
                <a:latin typeface="Courier New" pitchFamily="49" charset="0"/>
                <a:cs typeface="Courier New" pitchFamily="49" charset="0"/>
              </a:rPr>
              <a:t> </a:t>
            </a:r>
          </a:p>
          <a:p>
            <a:pPr marL="650230" indent="-650230">
              <a:buFont typeface="+mj-lt"/>
              <a:buAutoNum type="arabicPeriod"/>
              <a:defRPr/>
            </a:pPr>
            <a:r>
              <a:rPr lang="en-US" sz="3200" dirty="0"/>
              <a:t>Set the attribute detached status with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pthread_attr_setdetachstate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()</a:t>
            </a:r>
            <a:r>
              <a:rPr lang="en-US" sz="3200" dirty="0"/>
              <a:t> </a:t>
            </a:r>
            <a:br>
              <a:rPr lang="en-US" sz="3200" dirty="0"/>
            </a:br>
            <a:endParaRPr lang="en-US" sz="1200" dirty="0"/>
          </a:p>
          <a:p>
            <a:pPr marL="650230" indent="-650230">
              <a:buFont typeface="+mj-lt"/>
              <a:buAutoNum type="arabicPeriod"/>
              <a:defRPr/>
            </a:pPr>
            <a:r>
              <a:rPr lang="en-US" sz="3200" dirty="0"/>
              <a:t>When done, free library resources used by the attribute with </a:t>
            </a:r>
            <a:r>
              <a:rPr lang="en-US" sz="3200" dirty="0" err="1">
                <a:latin typeface="Courier New" pitchFamily="49" charset="0"/>
                <a:cs typeface="Courier New" pitchFamily="49" charset="0"/>
              </a:rPr>
              <a:t>pthread_attr_destroy</a:t>
            </a:r>
            <a:r>
              <a:rPr lang="en-US" sz="3200" dirty="0">
                <a:latin typeface="Courier New" pitchFamily="49" charset="0"/>
                <a:cs typeface="Courier New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6604004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D6D6D6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Neue Light"/>
        <a:ea typeface="Helvetica Neue Light"/>
        <a:cs typeface="Helvetica Neue Light"/>
      </a:majorFont>
      <a:minorFont>
        <a:latin typeface="Helvetica Neue"/>
        <a:ea typeface="Helvetica Neue"/>
        <a:cs typeface="Helvetica Neue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CBCBCB"/>
        </a:solidFill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38100" tIns="38100" rIns="38100" bIns="381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 Neue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2511</TotalTime>
  <Words>2114</Words>
  <Application>Microsoft Macintosh PowerPoint</Application>
  <PresentationFormat>Custom</PresentationFormat>
  <Paragraphs>392</Paragraphs>
  <Slides>27</Slides>
  <Notes>6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Consolas</vt:lpstr>
      <vt:lpstr>Courier</vt:lpstr>
      <vt:lpstr>Courier New</vt:lpstr>
      <vt:lpstr>Helvetica</vt:lpstr>
      <vt:lpstr>Helvetica Neue</vt:lpstr>
      <vt:lpstr>Helvetica Neue Light</vt:lpstr>
      <vt:lpstr>Lucida Grande</vt:lpstr>
      <vt:lpstr>White</vt:lpstr>
      <vt:lpstr>(T2)Threads: Resource Sharing</vt:lpstr>
      <vt:lpstr>Review</vt:lpstr>
      <vt:lpstr>Virtual Address Space</vt:lpstr>
      <vt:lpstr>Virtual Address Space with Multiple threads</vt:lpstr>
      <vt:lpstr>32-bit Implication</vt:lpstr>
      <vt:lpstr>Circumventing the limit?</vt:lpstr>
      <vt:lpstr>Advantages of Threads</vt:lpstr>
      <vt:lpstr>Advantages of threads </vt:lpstr>
      <vt:lpstr>Advantages of threads </vt:lpstr>
      <vt:lpstr>Shared data: global, heap, and even local </vt:lpstr>
      <vt:lpstr>Example: array sum</vt:lpstr>
      <vt:lpstr>Disadvantages of threads: What if…</vt:lpstr>
      <vt:lpstr>Disadvantages of threads: Shared State</vt:lpstr>
      <vt:lpstr>However, Sharing is Unsafe A simple counting program…</vt:lpstr>
      <vt:lpstr>Example</vt:lpstr>
      <vt:lpstr>What is happening?</vt:lpstr>
      <vt:lpstr>What is happening?</vt:lpstr>
      <vt:lpstr>Lesson</vt:lpstr>
      <vt:lpstr>The Road Ahead</vt:lpstr>
      <vt:lpstr>How unsafe can this be ? </vt:lpstr>
      <vt:lpstr>PowerPoint Presentation</vt:lpstr>
      <vt:lpstr>Detaching a thread</vt:lpstr>
      <vt:lpstr>Passing Arguments to Threads - 1</vt:lpstr>
      <vt:lpstr>Passing Arguments to Threads - 2</vt:lpstr>
      <vt:lpstr>Passing Arguments to Threads - 3</vt:lpstr>
      <vt:lpstr>Create a thread as detached</vt:lpstr>
      <vt:lpstr>Explicitly create a thread as detached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Introduction</dc:title>
  <dc:creator>maifi</dc:creator>
  <cp:lastModifiedBy>SWAMY NARAYAN JIGNAAS PATTIPATI</cp:lastModifiedBy>
  <cp:revision>443</cp:revision>
  <dcterms:modified xsi:type="dcterms:W3CDTF">2026-03-30T16:09:57Z</dcterms:modified>
</cp:coreProperties>
</file>