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343" r:id="rId8"/>
    <p:sldId id="344" r:id="rId9"/>
    <p:sldId id="264" r:id="rId10"/>
    <p:sldId id="265" r:id="rId11"/>
    <p:sldId id="266" r:id="rId12"/>
    <p:sldId id="267" r:id="rId13"/>
    <p:sldId id="268" r:id="rId14"/>
    <p:sldId id="269" r:id="rId15"/>
    <p:sldId id="287" r:id="rId16"/>
    <p:sldId id="374" r:id="rId17"/>
    <p:sldId id="290" r:id="rId18"/>
    <p:sldId id="291" r:id="rId19"/>
    <p:sldId id="292" r:id="rId20"/>
    <p:sldId id="361" r:id="rId21"/>
    <p:sldId id="270" r:id="rId22"/>
    <p:sldId id="309" r:id="rId23"/>
    <p:sldId id="310" r:id="rId24"/>
    <p:sldId id="271" r:id="rId25"/>
    <p:sldId id="272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72" r:id="rId37"/>
    <p:sldId id="373" r:id="rId3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1pPr>
    <a:lvl2pPr marL="0" marR="0" indent="266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2pPr>
    <a:lvl3pPr marL="0" marR="0" indent="533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3pPr>
    <a:lvl4pPr marL="0" marR="0" indent="8001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4pPr>
    <a:lvl5pPr marL="0" marR="0" indent="1066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5pPr>
    <a:lvl6pPr marL="0" marR="0" indent="1333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6pPr>
    <a:lvl7pPr marL="0" marR="0" indent="161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7pPr>
    <a:lvl8pPr marL="0" marR="0" indent="1879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8pPr>
    <a:lvl9pPr marL="0" marR="0" indent="2146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/>
    <p:restoredTop sz="86333" autoAdjust="0"/>
  </p:normalViewPr>
  <p:slideViewPr>
    <p:cSldViewPr snapToGrid="0">
      <p:cViewPr varScale="1">
        <p:scale>
          <a:sx n="95" d="100"/>
          <a:sy n="95" d="100"/>
        </p:scale>
        <p:origin x="1824" y="208"/>
      </p:cViewPr>
      <p:guideLst>
        <p:guide orient="horz" pos="3072"/>
        <p:guide pos="409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6" name="Shape 20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374959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0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0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0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0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0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0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0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0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0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95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413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Provider</a:t>
            </a:r>
          </a:p>
          <a:p>
            <a:pPr lvl="1"/>
            <a:r>
              <a:rPr lang="en-US"/>
              <a:t>The Operating System</a:t>
            </a:r>
          </a:p>
          <a:p>
            <a:pPr lvl="2"/>
            <a:r>
              <a:rPr lang="en-US"/>
              <a:t>Or through thread implementation</a:t>
            </a:r>
          </a:p>
          <a:p>
            <a:pPr marL="0" marR="0" lvl="2" indent="45720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lock is released</a:t>
            </a:r>
          </a:p>
          <a:p>
            <a:pPr lvl="2"/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100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099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24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283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Why?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561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647700" y="47498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4" name="Seal 3 SPOT281.jpg" descr="Seal 3 SPOT281.jpg"/>
          <p:cNvPicPr>
            <a:picLocks noChangeAspect="1"/>
          </p:cNvPicPr>
          <p:nvPr/>
        </p:nvPicPr>
        <p:blipFill>
          <a:blip r:embed="rId2"/>
          <a:srcRect l="3469" t="3249" r="3360" b="3533"/>
          <a:stretch>
            <a:fillRect/>
          </a:stretch>
        </p:blipFill>
        <p:spPr>
          <a:xfrm>
            <a:off x="12017002" y="166113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571500" y="1320800"/>
            <a:ext cx="118618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5029200"/>
            <a:ext cx="118618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5" name="Seal 3 SPOT281.jpg" descr="Seal 3 SPOT281.jpg"/>
          <p:cNvPicPr>
            <a:picLocks noChangeAspect="1"/>
          </p:cNvPicPr>
          <p:nvPr/>
        </p:nvPicPr>
        <p:blipFill>
          <a:blip r:embed="rId2"/>
          <a:srcRect l="3953" t="3727" r="4037" b="3957"/>
          <a:stretch>
            <a:fillRect/>
          </a:stretch>
        </p:blipFill>
        <p:spPr>
          <a:xfrm>
            <a:off x="11652633" y="843096"/>
            <a:ext cx="747854" cy="750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2" h="21361" extrusionOk="0">
                <a:moveTo>
                  <a:pt x="11422" y="16"/>
                </a:moveTo>
                <a:cubicBezTo>
                  <a:pt x="7331" y="-203"/>
                  <a:pt x="3227" y="1854"/>
                  <a:pt x="1122" y="5835"/>
                </a:cubicBezTo>
                <a:cubicBezTo>
                  <a:pt x="406" y="7190"/>
                  <a:pt x="27" y="8923"/>
                  <a:pt x="2" y="10637"/>
                </a:cubicBezTo>
                <a:cubicBezTo>
                  <a:pt x="-23" y="12351"/>
                  <a:pt x="307" y="14046"/>
                  <a:pt x="985" y="15337"/>
                </a:cubicBezTo>
                <a:cubicBezTo>
                  <a:pt x="2583" y="18378"/>
                  <a:pt x="4999" y="20320"/>
                  <a:pt x="8244" y="21167"/>
                </a:cubicBezTo>
                <a:cubicBezTo>
                  <a:pt x="8700" y="21286"/>
                  <a:pt x="9272" y="21346"/>
                  <a:pt x="9902" y="21359"/>
                </a:cubicBezTo>
                <a:cubicBezTo>
                  <a:pt x="11791" y="21397"/>
                  <a:pt x="14195" y="20985"/>
                  <a:pt x="15560" y="20308"/>
                </a:cubicBezTo>
                <a:cubicBezTo>
                  <a:pt x="17837" y="19180"/>
                  <a:pt x="19258" y="17799"/>
                  <a:pt x="20453" y="15529"/>
                </a:cubicBezTo>
                <a:cubicBezTo>
                  <a:pt x="21226" y="14062"/>
                  <a:pt x="21577" y="12337"/>
                  <a:pt x="21539" y="10603"/>
                </a:cubicBezTo>
                <a:cubicBezTo>
                  <a:pt x="21476" y="7712"/>
                  <a:pt x="20339" y="4789"/>
                  <a:pt x="18327" y="2942"/>
                </a:cubicBezTo>
                <a:cubicBezTo>
                  <a:pt x="16323" y="1103"/>
                  <a:pt x="13877" y="148"/>
                  <a:pt x="11422" y="16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709400" cy="6565900"/>
          </a:xfrm>
          <a:prstGeom prst="rect">
            <a:avLst/>
          </a:prstGeom>
        </p:spPr>
        <p:txBody>
          <a:bodyPr numCol="2" spcCol="585470"/>
          <a:lstStyle>
            <a:lvl1pPr>
              <a:spcBef>
                <a:spcPts val="49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4900"/>
              </a:spcBef>
              <a:defRPr sz="2400"/>
            </a:lvl2pPr>
            <a:lvl3pPr>
              <a:spcBef>
                <a:spcPts val="4900"/>
              </a:spcBef>
              <a:defRPr sz="2400"/>
            </a:lvl3pPr>
            <a:lvl4pPr>
              <a:spcBef>
                <a:spcPts val="4900"/>
              </a:spcBef>
              <a:defRPr sz="2400"/>
            </a:lvl4pPr>
            <a:lvl5pPr>
              <a:spcBef>
                <a:spcPts val="49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863600"/>
            <a:ext cx="11861800" cy="8026400"/>
          </a:xfrm>
          <a:prstGeom prst="rect">
            <a:avLst/>
          </a:prstGeom>
        </p:spPr>
        <p:txBody>
          <a:bodyPr/>
          <a:lstStyle>
            <a:lvl1pPr>
              <a:spcBef>
                <a:spcPts val="72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7200"/>
              </a:spcBef>
              <a:defRPr sz="2400"/>
            </a:lvl2pPr>
            <a:lvl3pPr>
              <a:spcBef>
                <a:spcPts val="7200"/>
              </a:spcBef>
              <a:defRPr sz="2400"/>
            </a:lvl3pPr>
            <a:lvl4pPr>
              <a:spcBef>
                <a:spcPts val="7200"/>
              </a:spcBef>
              <a:defRPr sz="2400"/>
            </a:lvl4pPr>
            <a:lvl5pPr>
              <a:spcBef>
                <a:spcPts val="72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2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571500" y="3708400"/>
            <a:ext cx="11861800" cy="23368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ModernPortfolio_photo-h-2.pdf" descr="ModernPortfolio_photo-h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Line"/>
          <p:cNvSpPr/>
          <p:nvPr/>
        </p:nvSpPr>
        <p:spPr>
          <a:xfrm>
            <a:off x="7543800" y="7975599"/>
            <a:ext cx="1" cy="14225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1409700" y="7785100"/>
            <a:ext cx="5791200" cy="17018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848600" y="8470900"/>
            <a:ext cx="4953000" cy="508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Line"/>
          <p:cNvSpPr/>
          <p:nvPr/>
        </p:nvSpPr>
        <p:spPr>
          <a:xfrm>
            <a:off x="647700" y="4749800"/>
            <a:ext cx="4882122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571500" y="1320800"/>
            <a:ext cx="50927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1500" y="5029200"/>
            <a:ext cx="50927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080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Line"/>
          <p:cNvSpPr/>
          <p:nvPr/>
        </p:nvSpPr>
        <p:spPr>
          <a:xfrm>
            <a:off x="647700" y="1968500"/>
            <a:ext cx="48768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5092700" cy="1397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50927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49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4900"/>
              </a:spcBef>
              <a:defRPr sz="2400"/>
            </a:lvl2pPr>
            <a:lvl3pPr>
              <a:spcBef>
                <a:spcPts val="4900"/>
              </a:spcBef>
              <a:defRPr sz="2400"/>
            </a:lvl3pPr>
            <a:lvl4pPr>
              <a:spcBef>
                <a:spcPts val="4900"/>
              </a:spcBef>
              <a:defRPr sz="2400"/>
            </a:lvl4pPr>
            <a:lvl5pPr>
              <a:spcBef>
                <a:spcPts val="49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10743" y="9258300"/>
            <a:ext cx="258370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ModernPortfolio_2-up-h.pdf" descr="ModernPortfolio_2-up-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 &amp;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ModernPortfolio_2-up-vh.pdf" descr="ModernPortfolio_2-up-v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ModernPortfolio_2-up-v-2.pdf" descr="ModernPortfolio_2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ModernPortfolio_3-up-v-2.pdf" descr="ModernPortfolio_3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Big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ModernPortfolio_photo-big-2.pdf" descr="ModernPortfolio_photo-big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ModernPortfolio_3-up.pdf" descr="ModernPortfolio_3-up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4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ModernPortfolio_4-up-2.pdf" descr="ModernPortfolio_4-up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50927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8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69300" y="2324100"/>
            <a:ext cx="40640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 marL="901700"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9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97" name="Seal 3 SPOT281.jpg" descr="Seal 3 SPOT281.jpg"/>
          <p:cNvPicPr>
            <a:picLocks noChangeAspect="1"/>
          </p:cNvPicPr>
          <p:nvPr/>
        </p:nvPicPr>
        <p:blipFill>
          <a:blip r:embed="rId2"/>
          <a:srcRect l="4069" t="4341" r="4032" b="3948"/>
          <a:stretch>
            <a:fillRect/>
          </a:stretch>
        </p:blipFill>
        <p:spPr>
          <a:xfrm>
            <a:off x="11653573" y="848089"/>
            <a:ext cx="746954" cy="745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0" h="21564" extrusionOk="0">
                <a:moveTo>
                  <a:pt x="10791" y="0"/>
                </a:moveTo>
                <a:cubicBezTo>
                  <a:pt x="6286" y="0"/>
                  <a:pt x="3129" y="1889"/>
                  <a:pt x="1079" y="5832"/>
                </a:cubicBezTo>
                <a:cubicBezTo>
                  <a:pt x="380" y="7176"/>
                  <a:pt x="22" y="8927"/>
                  <a:pt x="1" y="10666"/>
                </a:cubicBezTo>
                <a:cubicBezTo>
                  <a:pt x="-20" y="12405"/>
                  <a:pt x="298" y="14141"/>
                  <a:pt x="964" y="15442"/>
                </a:cubicBezTo>
                <a:cubicBezTo>
                  <a:pt x="2541" y="18521"/>
                  <a:pt x="4983" y="20504"/>
                  <a:pt x="8245" y="21366"/>
                </a:cubicBezTo>
                <a:cubicBezTo>
                  <a:pt x="8703" y="21487"/>
                  <a:pt x="9276" y="21548"/>
                  <a:pt x="9908" y="21561"/>
                </a:cubicBezTo>
                <a:cubicBezTo>
                  <a:pt x="11802" y="21600"/>
                  <a:pt x="14214" y="21181"/>
                  <a:pt x="15583" y="20494"/>
                </a:cubicBezTo>
                <a:cubicBezTo>
                  <a:pt x="17867" y="19348"/>
                  <a:pt x="19292" y="17944"/>
                  <a:pt x="20491" y="15637"/>
                </a:cubicBezTo>
                <a:cubicBezTo>
                  <a:pt x="21218" y="14239"/>
                  <a:pt x="21580" y="12485"/>
                  <a:pt x="21580" y="10735"/>
                </a:cubicBezTo>
                <a:cubicBezTo>
                  <a:pt x="21580" y="8985"/>
                  <a:pt x="21218" y="7231"/>
                  <a:pt x="20491" y="5832"/>
                </a:cubicBezTo>
                <a:cubicBezTo>
                  <a:pt x="18441" y="1889"/>
                  <a:pt x="15295" y="0"/>
                  <a:pt x="10791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9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/>
            </a:lvl2pPr>
            <a:lvl3pPr marL="901700">
              <a:spcBef>
                <a:spcPts val="1000"/>
              </a:spcBef>
              <a:defRPr sz="2400"/>
            </a:lvl3pPr>
            <a:lvl4pPr marL="1244600">
              <a:spcBef>
                <a:spcPts val="1000"/>
              </a:spcBef>
              <a:defRPr sz="2400"/>
            </a:lvl4pPr>
            <a:lvl5pPr marL="1587500">
              <a:spcBef>
                <a:spcPts val="10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483362" y="9076267"/>
            <a:ext cx="10342879" cy="510258"/>
          </a:xfrm>
          <a:prstGeom prst="rect">
            <a:avLst/>
          </a:prstGeom>
          <a:ln/>
        </p:spPr>
        <p:txBody>
          <a:bodyPr lIns="130046" tIns="65023" rIns="130046" bIns="65023"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0824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483362" y="9076267"/>
            <a:ext cx="10342879" cy="510258"/>
          </a:xfrm>
          <a:prstGeom prst="rect">
            <a:avLst/>
          </a:prstGeom>
          <a:ln/>
        </p:spPr>
        <p:txBody>
          <a:bodyPr lIns="130046" tIns="65023" rIns="130046" bIns="65023"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4790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11861800" cy="139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 anchor="b"/>
          <a:lstStyle/>
          <a:p>
            <a:r>
              <a:t>Title Text</a:t>
            </a:r>
          </a:p>
        </p:txBody>
      </p:sp>
      <p:sp>
        <p:nvSpPr>
          <p:cNvPr id="3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" name="Seal 3 SPOT281.jpg" descr="Seal 3 SPOT281.jpg"/>
          <p:cNvPicPr>
            <a:picLocks noChangeAspect="1"/>
          </p:cNvPicPr>
          <p:nvPr/>
        </p:nvPicPr>
        <p:blipFill>
          <a:blip r:embed="rId24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861800" cy="656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/>
          <a:lstStyle>
            <a:lvl2pPr>
              <a:defRPr>
                <a:solidFill>
                  <a:srgbClr val="747474"/>
                </a:solidFill>
              </a:defRPr>
            </a:lvl2pPr>
            <a:lvl3pPr>
              <a:defRPr>
                <a:solidFill>
                  <a:srgbClr val="747474"/>
                </a:solidFill>
              </a:defRPr>
            </a:lvl3pPr>
            <a:lvl4pPr>
              <a:defRPr>
                <a:solidFill>
                  <a:srgbClr val="747474"/>
                </a:solidFill>
              </a:defRPr>
            </a:lvl4pPr>
            <a:lvl5pPr>
              <a:defRPr>
                <a:solidFill>
                  <a:srgbClr val="74747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71679" y="9131300"/>
            <a:ext cx="286615" cy="274422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r">
              <a:defRPr sz="14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 spd="med"/>
  <p:hf hdr="0" ftr="0" dt="0"/>
  <p:txStyles>
    <p:title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1pPr>
      <a:lvl2pPr marL="0" marR="0" indent="228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2pPr>
      <a:lvl3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3pPr>
      <a:lvl4pPr marL="0" marR="0" indent="685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4pPr>
      <a:lvl5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5pPr>
      <a:lvl6pPr marL="0" marR="0" indent="1143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6pPr>
      <a:lvl7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7pPr>
      <a:lvl8pPr marL="0" marR="0" indent="1600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8pPr>
      <a:lvl9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9pPr>
    </p:titleStyle>
    <p:bodyStyle>
      <a:lvl1pPr marL="2032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1pPr>
      <a:lvl2pPr marL="5461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2pPr>
      <a:lvl3pPr marL="8890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3pPr>
      <a:lvl4pPr marL="12319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4pPr>
      <a:lvl5pPr marL="15748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5pPr>
      <a:lvl6pPr marL="19177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6pPr>
      <a:lvl7pPr marL="22606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7pPr>
      <a:lvl8pPr marL="26035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8pPr>
      <a:lvl9pPr marL="29464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i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Line"/>
          <p:cNvSpPr/>
          <p:nvPr/>
        </p:nvSpPr>
        <p:spPr>
          <a:xfrm>
            <a:off x="647700" y="47498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09" name="Seal 3 SPOT281.jpg" descr="Seal 3 SPOT281.jpg"/>
          <p:cNvPicPr>
            <a:picLocks noChangeAspect="1"/>
          </p:cNvPicPr>
          <p:nvPr/>
        </p:nvPicPr>
        <p:blipFill>
          <a:blip r:embed="rId2"/>
          <a:srcRect l="3469" t="3249" r="3360" b="3533"/>
          <a:stretch>
            <a:fillRect/>
          </a:stretch>
        </p:blipFill>
        <p:spPr>
          <a:xfrm>
            <a:off x="12017002" y="166113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10" name="Threads &amp; Mutual Exclusion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(T2) </a:t>
            </a:r>
            <a:r>
              <a:rPr dirty="0"/>
              <a:t>Threads</a:t>
            </a:r>
            <a:r>
              <a:rPr lang="en-US" dirty="0"/>
              <a:t>: </a:t>
            </a:r>
            <a:r>
              <a:rPr dirty="0"/>
              <a:t>Mutual Exclusion</a:t>
            </a:r>
            <a:r>
              <a:rPr lang="en-US" dirty="0"/>
              <a:t> (mutex)</a:t>
            </a:r>
            <a:endParaRPr dirty="0"/>
          </a:p>
        </p:txBody>
      </p:sp>
      <p:sp>
        <p:nvSpPr>
          <p:cNvPr id="211" name="Ion Mandoiu…"/>
          <p:cNvSpPr txBox="1">
            <a:spLocks noGrp="1"/>
          </p:cNvSpPr>
          <p:nvPr>
            <p:ph type="subTitle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pic>
        <p:nvPicPr>
          <p:cNvPr id="21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908" y="6005655"/>
            <a:ext cx="5080001" cy="3581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15" name="Summ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Review</a:t>
            </a:r>
            <a:endParaRPr dirty="0"/>
          </a:p>
        </p:txBody>
      </p:sp>
      <p:pic>
        <p:nvPicPr>
          <p:cNvPr id="216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17" name="So far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 far</a:t>
            </a:r>
          </a:p>
          <a:p>
            <a:pPr lvl="1"/>
            <a:r>
              <a:rPr dirty="0"/>
              <a:t>You learned how to create threads</a:t>
            </a:r>
            <a:r>
              <a:rPr lang="en-US" dirty="0"/>
              <a:t> (</a:t>
            </a:r>
            <a:r>
              <a:rPr lang="en-US" dirty="0" err="1"/>
              <a:t>pthread_create</a:t>
            </a:r>
            <a:r>
              <a:rPr lang="en-US" dirty="0"/>
              <a:t>)</a:t>
            </a:r>
            <a:endParaRPr dirty="0"/>
          </a:p>
          <a:p>
            <a:pPr lvl="1"/>
            <a:r>
              <a:rPr dirty="0"/>
              <a:t>You learned how to </a:t>
            </a:r>
            <a:r>
              <a:rPr lang="en-US" dirty="0"/>
              <a:t>terminate</a:t>
            </a:r>
            <a:r>
              <a:rPr dirty="0"/>
              <a:t> thread</a:t>
            </a:r>
            <a:r>
              <a:rPr lang="en-US" dirty="0"/>
              <a:t> execution (</a:t>
            </a:r>
            <a:r>
              <a:rPr lang="en-US" dirty="0" err="1"/>
              <a:t>pthread_exit</a:t>
            </a:r>
            <a:r>
              <a:rPr lang="en-US" dirty="0"/>
              <a:t>)</a:t>
            </a:r>
            <a:endParaRPr dirty="0"/>
          </a:p>
          <a:p>
            <a:pPr lvl="1"/>
            <a:r>
              <a:rPr dirty="0"/>
              <a:t>You learned how to wait on thread</a:t>
            </a:r>
            <a:r>
              <a:rPr lang="en-US" dirty="0"/>
              <a:t>s (</a:t>
            </a:r>
            <a:r>
              <a:rPr lang="en-US" dirty="0" err="1"/>
              <a:t>pthread_join</a:t>
            </a:r>
            <a:r>
              <a:rPr lang="en-US" dirty="0"/>
              <a:t>)</a:t>
            </a:r>
            <a:endParaRPr dirty="0"/>
          </a:p>
          <a:p>
            <a:r>
              <a:rPr dirty="0"/>
              <a:t>You </a:t>
            </a:r>
            <a:r>
              <a:rPr lang="en-US" dirty="0"/>
              <a:t>can </a:t>
            </a:r>
            <a:r>
              <a:rPr dirty="0"/>
              <a:t>carry out independent computations with threads</a:t>
            </a:r>
            <a:endParaRPr lang="en-US" dirty="0"/>
          </a:p>
          <a:p>
            <a:endParaRPr lang="en-US" dirty="0"/>
          </a:p>
          <a:p>
            <a:r>
              <a:rPr lang="en-US" dirty="0"/>
              <a:t>However, sharing is a problem</a:t>
            </a:r>
          </a:p>
          <a:p>
            <a:pPr lvl="1"/>
            <a:r>
              <a:rPr lang="en-US" dirty="0"/>
              <a:t>Remember the shared counter?</a:t>
            </a:r>
            <a:endParaRPr dirty="0"/>
          </a:p>
        </p:txBody>
      </p:sp>
      <p:grpSp>
        <p:nvGrpSpPr>
          <p:cNvPr id="3" name="Group 2"/>
          <p:cNvGrpSpPr/>
          <p:nvPr/>
        </p:nvGrpSpPr>
        <p:grpSpPr>
          <a:xfrm>
            <a:off x="7243064" y="5607050"/>
            <a:ext cx="5761736" cy="3879850"/>
            <a:chOff x="7243064" y="5607050"/>
            <a:chExt cx="5761736" cy="3879850"/>
          </a:xfrm>
        </p:grpSpPr>
        <p:pic>
          <p:nvPicPr>
            <p:cNvPr id="6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01569" y="5607050"/>
              <a:ext cx="2783624" cy="2931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7243064" y="8522533"/>
              <a:ext cx="5761736" cy="964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j-lt"/>
                  <a:ea typeface="+mj-ea"/>
                  <a:cs typeface="+mj-cs"/>
                  <a:sym typeface="Helvetica Neue Light"/>
                </a:rPr>
                <a:t>What if the shared counter is the balance on your bank account?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Overvie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Overview</a:t>
            </a:r>
          </a:p>
        </p:txBody>
      </p:sp>
      <p:sp>
        <p:nvSpPr>
          <p:cNvPr id="22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25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26" name="Basic Shari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1000"/>
              </a:spcBef>
            </a:pPr>
            <a:r>
              <a:rPr dirty="0"/>
              <a:t>Basic Sharing</a:t>
            </a:r>
          </a:p>
          <a:p>
            <a:pPr lvl="1">
              <a:spcBef>
                <a:spcPts val="1000"/>
              </a:spcBef>
            </a:pPr>
            <a:r>
              <a:rPr dirty="0"/>
              <a:t>Mutual exclusion</a:t>
            </a:r>
          </a:p>
          <a:p>
            <a:pPr lvl="1">
              <a:spcBef>
                <a:spcPts val="1000"/>
              </a:spcBef>
            </a:pPr>
            <a:r>
              <a:rPr dirty="0"/>
              <a:t>Critical section</a:t>
            </a:r>
          </a:p>
          <a:p>
            <a:pPr lvl="1">
              <a:spcBef>
                <a:spcPts val="1000"/>
              </a:spcBef>
            </a:pPr>
            <a:r>
              <a:rPr dirty="0" err="1"/>
              <a:t>Mutex</a:t>
            </a:r>
            <a:endParaRPr dirty="0"/>
          </a:p>
          <a:p>
            <a:pPr>
              <a:spcBef>
                <a:spcPts val="1000"/>
              </a:spcBef>
            </a:pPr>
            <a:r>
              <a:rPr dirty="0"/>
              <a:t>Application</a:t>
            </a:r>
          </a:p>
          <a:p>
            <a:pPr lvl="1">
              <a:spcBef>
                <a:spcPts val="1000"/>
              </a:spcBef>
            </a:pPr>
            <a:r>
              <a:rPr dirty="0"/>
              <a:t>Concurrent access to shared data structures</a:t>
            </a:r>
          </a:p>
          <a:p>
            <a:pPr lvl="2">
              <a:spcBef>
                <a:spcPts val="1000"/>
              </a:spcBef>
            </a:pPr>
            <a:r>
              <a:rPr dirty="0"/>
              <a:t>Counter</a:t>
            </a:r>
          </a:p>
          <a:p>
            <a:pPr lvl="2">
              <a:spcBef>
                <a:spcPts val="1000"/>
              </a:spcBef>
            </a:pPr>
            <a:r>
              <a:rPr dirty="0"/>
              <a:t>Arrays</a:t>
            </a:r>
          </a:p>
          <a:p>
            <a:pPr lvl="2">
              <a:spcBef>
                <a:spcPts val="1000"/>
              </a:spcBef>
            </a:pPr>
            <a:r>
              <a:rPr dirty="0"/>
              <a:t>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Mutual Exclu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Mutual Exclusion</a:t>
            </a:r>
          </a:p>
        </p:txBody>
      </p:sp>
      <p:sp>
        <p:nvSpPr>
          <p:cNvPr id="230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31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32" name="Objectiv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Objective</a:t>
            </a:r>
          </a:p>
          <a:p>
            <a:pPr lvl="1"/>
            <a:r>
              <a:rPr dirty="0"/>
              <a:t>Protect shared </a:t>
            </a:r>
            <a:r>
              <a:rPr lang="en-US" dirty="0"/>
              <a:t>resources</a:t>
            </a:r>
          </a:p>
          <a:p>
            <a:pPr lvl="1"/>
            <a:r>
              <a:rPr lang="en-US" dirty="0"/>
              <a:t>Only one thread can access the resources</a:t>
            </a:r>
          </a:p>
          <a:p>
            <a:r>
              <a:rPr lang="en-US" dirty="0"/>
              <a:t>Protocol</a:t>
            </a:r>
          </a:p>
          <a:p>
            <a:pPr lvl="1"/>
            <a:r>
              <a:rPr lang="en-US" dirty="0"/>
              <a:t>A set of procedures for accessing shared resources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	Lock the resource while using it. Cannot lock if it is already locked.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	Wait if the resource is already locked</a:t>
            </a:r>
          </a:p>
          <a:p>
            <a:pPr lvl="2"/>
            <a:endParaRPr dirty="0"/>
          </a:p>
          <a:p>
            <a:r>
              <a:rPr dirty="0"/>
              <a:t>Fact</a:t>
            </a:r>
          </a:p>
          <a:p>
            <a:pPr lvl="1"/>
            <a:r>
              <a:rPr lang="en-US" dirty="0"/>
              <a:t>Ask everyone nicely, and expect that everyone behaves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hread 2…"/>
          <p:cNvSpPr txBox="1"/>
          <p:nvPr/>
        </p:nvSpPr>
        <p:spPr>
          <a:xfrm>
            <a:off x="6643575" y="2550184"/>
            <a:ext cx="5662519" cy="656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/>
          <a:lstStyle/>
          <a:p>
            <a:pPr marL="203200" indent="-203200" algn="l">
              <a:spcBef>
                <a:spcPts val="1500"/>
              </a:spcBef>
              <a:buSzPct val="100000"/>
              <a:buChar char="•"/>
              <a:defRPr sz="3000">
                <a:solidFill>
                  <a:srgbClr val="941100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Thread 2</a:t>
            </a:r>
          </a:p>
          <a:p>
            <a:pPr algn="l">
              <a:spcBef>
                <a:spcPts val="1500"/>
              </a:spcBef>
              <a:defRPr sz="3000">
                <a:solidFill>
                  <a:srgbClr val="941100"/>
                </a:solidFill>
                <a:latin typeface="+mn-lt"/>
                <a:ea typeface="+mn-ea"/>
                <a:cs typeface="+mn-cs"/>
                <a:sym typeface="Helvetica Neue"/>
              </a:defRPr>
            </a:pPr>
            <a:endParaRPr dirty="0"/>
          </a:p>
          <a:p>
            <a:pPr marL="596900" lvl="1" indent="-254000" algn="l">
              <a:spcBef>
                <a:spcPts val="1500"/>
              </a:spcBef>
              <a:buSzPct val="100000"/>
              <a:buChar char="•"/>
              <a:defRPr sz="3000">
                <a:solidFill>
                  <a:srgbClr val="941100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I’d like to use variable “x”</a:t>
            </a:r>
          </a:p>
        </p:txBody>
      </p:sp>
      <p:sp>
        <p:nvSpPr>
          <p:cNvPr id="235" name="Protoco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Protocol</a:t>
            </a:r>
          </a:p>
        </p:txBody>
      </p:sp>
      <p:sp>
        <p:nvSpPr>
          <p:cNvPr id="23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37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38" name="Thread 1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5662519" cy="6565900"/>
          </a:xfrm>
          <a:prstGeom prst="rect">
            <a:avLst/>
          </a:prstGeom>
        </p:spPr>
        <p:txBody>
          <a:bodyPr/>
          <a:lstStyle/>
          <a:p>
            <a:r>
              <a:t>Thread 1</a:t>
            </a:r>
          </a:p>
          <a:p>
            <a:pPr lvl="1"/>
            <a:r>
              <a:t>I’d like to use variable “x”</a:t>
            </a:r>
          </a:p>
          <a:p>
            <a:pPr lvl="1"/>
            <a:r>
              <a:t>&lt;do something to x&gt;</a:t>
            </a:r>
          </a:p>
          <a:p>
            <a:pPr lvl="1"/>
            <a:r>
              <a:t>&lt;continue doing it&gt;</a:t>
            </a:r>
          </a:p>
          <a:p>
            <a:pPr lvl="1"/>
            <a:r>
              <a:t>&lt;almost done now!&gt;</a:t>
            </a:r>
          </a:p>
          <a:p>
            <a:pPr lvl="1"/>
            <a:r>
              <a:t>I’m done with variable “x”</a:t>
            </a:r>
          </a:p>
        </p:txBody>
      </p:sp>
      <p:grpSp>
        <p:nvGrpSpPr>
          <p:cNvPr id="245" name="Group"/>
          <p:cNvGrpSpPr/>
          <p:nvPr/>
        </p:nvGrpSpPr>
        <p:grpSpPr>
          <a:xfrm>
            <a:off x="589393" y="3594879"/>
            <a:ext cx="5632304" cy="2012172"/>
            <a:chOff x="0" y="0"/>
            <a:chExt cx="5632302" cy="2012171"/>
          </a:xfrm>
        </p:grpSpPr>
        <p:sp>
          <p:nvSpPr>
            <p:cNvPr id="241" name="Line"/>
            <p:cNvSpPr/>
            <p:nvPr/>
          </p:nvSpPr>
          <p:spPr>
            <a:xfrm>
              <a:off x="0" y="2012171"/>
              <a:ext cx="5385916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400"/>
              </a:pPr>
              <a:endParaRPr/>
            </a:p>
          </p:txBody>
        </p:sp>
        <p:sp>
          <p:nvSpPr>
            <p:cNvPr id="242" name="Line"/>
            <p:cNvSpPr/>
            <p:nvPr/>
          </p:nvSpPr>
          <p:spPr>
            <a:xfrm>
              <a:off x="0" y="0"/>
              <a:ext cx="5385916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400"/>
              </a:pPr>
              <a:endParaRPr/>
            </a:p>
          </p:txBody>
        </p:sp>
        <p:sp>
          <p:nvSpPr>
            <p:cNvPr id="243" name="Line"/>
            <p:cNvSpPr/>
            <p:nvPr/>
          </p:nvSpPr>
          <p:spPr>
            <a:xfrm flipV="1">
              <a:off x="4632198" y="95249"/>
              <a:ext cx="1" cy="182167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400"/>
              </a:pPr>
              <a:endParaRPr/>
            </a:p>
          </p:txBody>
        </p:sp>
        <p:sp>
          <p:nvSpPr>
            <p:cNvPr id="244" name="critical…"/>
            <p:cNvSpPr txBox="1"/>
            <p:nvPr/>
          </p:nvSpPr>
          <p:spPr>
            <a:xfrm>
              <a:off x="4580552" y="628953"/>
              <a:ext cx="1051751" cy="7542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100" b="1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t>critical</a:t>
              </a:r>
            </a:p>
            <a:p>
              <a:pPr>
                <a:defRPr sz="2100" b="1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t>section</a:t>
              </a:r>
            </a:p>
          </p:txBody>
        </p:sp>
      </p:grpSp>
      <p:sp>
        <p:nvSpPr>
          <p:cNvPr id="255" name="Line"/>
          <p:cNvSpPr/>
          <p:nvPr/>
        </p:nvSpPr>
        <p:spPr>
          <a:xfrm flipH="1">
            <a:off x="482410" y="2083767"/>
            <a:ext cx="1" cy="7345131"/>
          </a:xfrm>
          <a:prstGeom prst="line">
            <a:avLst/>
          </a:prstGeom>
          <a:ln w="139700">
            <a:solidFill>
              <a:schemeClr val="accent1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256" name="Time"/>
          <p:cNvSpPr txBox="1"/>
          <p:nvPr/>
        </p:nvSpPr>
        <p:spPr>
          <a:xfrm>
            <a:off x="824412" y="8759800"/>
            <a:ext cx="1175002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>
                <a:solidFill>
                  <a:schemeClr val="accent1"/>
                </a:solidFill>
              </a:rPr>
              <a:t>Time</a:t>
            </a:r>
          </a:p>
        </p:txBody>
      </p:sp>
      <p:pic>
        <p:nvPicPr>
          <p:cNvPr id="257" name="no overlap!" descr="no overlap!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43268" y="6223303"/>
            <a:ext cx="3539745" cy="1801366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5777801" y="2550184"/>
            <a:ext cx="7102410" cy="6565900"/>
            <a:chOff x="5777801" y="2550184"/>
            <a:chExt cx="7102410" cy="6565900"/>
          </a:xfrm>
        </p:grpSpPr>
        <p:sp>
          <p:nvSpPr>
            <p:cNvPr id="28" name="critical…"/>
            <p:cNvSpPr txBox="1"/>
            <p:nvPr/>
          </p:nvSpPr>
          <p:spPr>
            <a:xfrm>
              <a:off x="5777801" y="6839560"/>
              <a:ext cx="1045158" cy="7489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100" b="1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dirty="0"/>
                <a:t>critical</a:t>
              </a:r>
            </a:p>
            <a:p>
              <a:pPr>
                <a:defRPr sz="2100" b="1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lang="en-US" dirty="0"/>
                <a:t>s</a:t>
              </a:r>
              <a:r>
                <a:rPr dirty="0"/>
                <a:t>ection</a:t>
              </a:r>
            </a:p>
          </p:txBody>
        </p:sp>
        <p:sp>
          <p:nvSpPr>
            <p:cNvPr id="29" name="Thread 2…"/>
            <p:cNvSpPr txBox="1"/>
            <p:nvPr/>
          </p:nvSpPr>
          <p:spPr>
            <a:xfrm>
              <a:off x="7129584" y="2550184"/>
              <a:ext cx="5662519" cy="65659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38100" tIns="38100" rIns="38100" bIns="38100"/>
            <a:lstStyle/>
            <a:p>
              <a:pPr marL="203200" indent="-203200" algn="l">
                <a:spcBef>
                  <a:spcPts val="1500"/>
                </a:spcBef>
                <a:buSzPct val="100000"/>
                <a:buChar char="•"/>
                <a:defRPr sz="3000">
                  <a:solidFill>
                    <a:srgbClr val="941100"/>
                  </a:solidFill>
                  <a:latin typeface="+mn-lt"/>
                  <a:ea typeface="+mn-ea"/>
                  <a:cs typeface="+mn-cs"/>
                  <a:sym typeface="Helvetica Neue"/>
                </a:defRPr>
              </a:pPr>
              <a:endParaRPr lang="en-US" dirty="0"/>
            </a:p>
            <a:p>
              <a:pPr marL="203200" indent="-203200" algn="l">
                <a:spcBef>
                  <a:spcPts val="1500"/>
                </a:spcBef>
                <a:buSzPct val="100000"/>
                <a:buChar char="•"/>
                <a:defRPr sz="3000">
                  <a:solidFill>
                    <a:srgbClr val="941100"/>
                  </a:solidFill>
                  <a:latin typeface="+mn-lt"/>
                  <a:ea typeface="+mn-ea"/>
                  <a:cs typeface="+mn-cs"/>
                  <a:sym typeface="Helvetica Neue"/>
                </a:defRPr>
              </a:pPr>
              <a:endParaRPr lang="en-US" dirty="0"/>
            </a:p>
            <a:p>
              <a:pPr marL="203200" indent="-203200" algn="l">
                <a:spcBef>
                  <a:spcPts val="1500"/>
                </a:spcBef>
                <a:buSzPct val="100000"/>
                <a:buChar char="•"/>
                <a:defRPr sz="3000">
                  <a:solidFill>
                    <a:srgbClr val="941100"/>
                  </a:solidFill>
                  <a:latin typeface="+mn-lt"/>
                  <a:ea typeface="+mn-ea"/>
                  <a:cs typeface="+mn-cs"/>
                  <a:sym typeface="Helvetica Neue"/>
                </a:defRPr>
              </a:pPr>
              <a:endParaRPr dirty="0"/>
            </a:p>
            <a:p>
              <a:pPr marL="596900" lvl="1" indent="-254000" algn="l">
                <a:spcBef>
                  <a:spcPts val="1500"/>
                </a:spcBef>
                <a:buSzPct val="100000"/>
                <a:buChar char="•"/>
                <a:defRPr sz="3000">
                  <a:solidFill>
                    <a:srgbClr val="941100"/>
                  </a:solidFill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dirty="0"/>
                <a:t>SLEEPY TIME</a:t>
              </a:r>
            </a:p>
            <a:p>
              <a:pPr algn="l">
                <a:spcBef>
                  <a:spcPts val="1500"/>
                </a:spcBef>
                <a:defRPr sz="3000">
                  <a:solidFill>
                    <a:srgbClr val="941100"/>
                  </a:solidFill>
                  <a:latin typeface="+mn-lt"/>
                  <a:ea typeface="+mn-ea"/>
                  <a:cs typeface="+mn-cs"/>
                  <a:sym typeface="Helvetica Neue"/>
                </a:defRPr>
              </a:pPr>
              <a:endParaRPr dirty="0"/>
            </a:p>
            <a:p>
              <a:pPr marL="596900" lvl="1" indent="-254000" algn="l">
                <a:spcBef>
                  <a:spcPts val="1500"/>
                </a:spcBef>
                <a:buSzPct val="100000"/>
                <a:buChar char="•"/>
                <a:defRPr sz="3000">
                  <a:solidFill>
                    <a:srgbClr val="941100"/>
                  </a:solidFill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dirty="0"/>
                <a:t>WAKE UP!</a:t>
              </a:r>
            </a:p>
            <a:p>
              <a:pPr marL="596900" lvl="1" indent="-254000" algn="l">
                <a:spcBef>
                  <a:spcPts val="1500"/>
                </a:spcBef>
                <a:buSzPct val="100000"/>
                <a:buChar char="•"/>
                <a:defRPr sz="3000">
                  <a:solidFill>
                    <a:srgbClr val="941100"/>
                  </a:solidFill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dirty="0"/>
                <a:t>&lt;do something with x&gt;</a:t>
              </a:r>
              <a:endParaRPr lang="en-US" dirty="0"/>
            </a:p>
            <a:p>
              <a:pPr marL="596900" lvl="1" indent="-254000" algn="l">
                <a:spcBef>
                  <a:spcPts val="1500"/>
                </a:spcBef>
                <a:buSzPct val="100000"/>
                <a:buChar char="•"/>
                <a:defRPr sz="3000">
                  <a:solidFill>
                    <a:srgbClr val="941100"/>
                  </a:solidFill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lang="en-US" dirty="0"/>
                <a:t>&lt;continue doing it&gt;</a:t>
              </a:r>
            </a:p>
            <a:p>
              <a:pPr marL="596900" lvl="1" indent="-254000" algn="l">
                <a:spcBef>
                  <a:spcPts val="1500"/>
                </a:spcBef>
                <a:buSzPct val="100000"/>
                <a:buChar char="•"/>
                <a:defRPr sz="3000">
                  <a:solidFill>
                    <a:srgbClr val="941100"/>
                  </a:solidFill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lang="en-US" dirty="0"/>
                <a:t>&lt;almost done now!&gt;</a:t>
              </a:r>
              <a:endParaRPr dirty="0"/>
            </a:p>
            <a:p>
              <a:pPr marL="596900" lvl="1" indent="-254000" algn="l">
                <a:spcBef>
                  <a:spcPts val="1500"/>
                </a:spcBef>
                <a:buSzPct val="100000"/>
                <a:buChar char="•"/>
                <a:defRPr sz="3000">
                  <a:solidFill>
                    <a:srgbClr val="941100"/>
                  </a:solidFill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dirty="0"/>
                <a:t>I’m done with variable “x”</a:t>
              </a:r>
            </a:p>
          </p:txBody>
        </p:sp>
        <p:grpSp>
          <p:nvGrpSpPr>
            <p:cNvPr id="30" name="Group"/>
            <p:cNvGrpSpPr/>
            <p:nvPr/>
          </p:nvGrpSpPr>
          <p:grpSpPr>
            <a:xfrm>
              <a:off x="6716343" y="4462616"/>
              <a:ext cx="6163867" cy="2012172"/>
              <a:chOff x="0" y="0"/>
              <a:chExt cx="6163866" cy="2012171"/>
            </a:xfrm>
          </p:grpSpPr>
          <p:sp>
            <p:nvSpPr>
              <p:cNvPr id="33" name="Line"/>
              <p:cNvSpPr/>
              <p:nvPr/>
            </p:nvSpPr>
            <p:spPr>
              <a:xfrm>
                <a:off x="0" y="0"/>
                <a:ext cx="5920728" cy="1"/>
              </a:xfrm>
              <a:prstGeom prst="line">
                <a:avLst/>
              </a:prstGeom>
              <a:noFill/>
              <a:ln w="25400" cap="flat">
                <a:solidFill>
                  <a:srgbClr val="FF26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400"/>
                </a:pPr>
                <a:endParaRPr/>
              </a:p>
            </p:txBody>
          </p:sp>
          <p:sp>
            <p:nvSpPr>
              <p:cNvPr id="34" name="Line"/>
              <p:cNvSpPr/>
              <p:nvPr/>
            </p:nvSpPr>
            <p:spPr>
              <a:xfrm>
                <a:off x="0" y="2012171"/>
                <a:ext cx="5920728" cy="1"/>
              </a:xfrm>
              <a:prstGeom prst="line">
                <a:avLst/>
              </a:prstGeom>
              <a:noFill/>
              <a:ln w="25400" cap="flat">
                <a:solidFill>
                  <a:srgbClr val="FF26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400"/>
                </a:pPr>
                <a:endParaRPr/>
              </a:p>
            </p:txBody>
          </p:sp>
          <p:sp>
            <p:nvSpPr>
              <p:cNvPr id="35" name="Line"/>
              <p:cNvSpPr/>
              <p:nvPr/>
            </p:nvSpPr>
            <p:spPr>
              <a:xfrm flipV="1">
                <a:off x="4797412" y="95249"/>
                <a:ext cx="1" cy="1821673"/>
              </a:xfrm>
              <a:prstGeom prst="line">
                <a:avLst/>
              </a:prstGeom>
              <a:noFill/>
              <a:ln w="25400" cap="flat">
                <a:solidFill>
                  <a:srgbClr val="FF2600"/>
                </a:solidFill>
                <a:prstDash val="solid"/>
                <a:miter lim="400000"/>
                <a:headEnd type="triangle" w="med" len="med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400"/>
                </a:pPr>
                <a:endParaRPr/>
              </a:p>
            </p:txBody>
          </p:sp>
          <p:sp>
            <p:nvSpPr>
              <p:cNvPr id="36" name="Waiting…"/>
              <p:cNvSpPr txBox="1"/>
              <p:nvPr/>
            </p:nvSpPr>
            <p:spPr>
              <a:xfrm>
                <a:off x="4835281" y="794053"/>
                <a:ext cx="1328586" cy="4240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100" b="1">
                    <a:solidFill>
                      <a:srgbClr val="FF2600"/>
                    </a:solidFill>
                    <a:latin typeface="+mn-lt"/>
                    <a:ea typeface="+mn-ea"/>
                    <a:cs typeface="+mn-cs"/>
                    <a:sym typeface="Helvetica Neue"/>
                  </a:defRPr>
                </a:lvl1pPr>
              </a:lstStyle>
              <a:p>
                <a:r>
                  <a:t>Waiting…</a:t>
                </a:r>
              </a:p>
            </p:txBody>
          </p:sp>
        </p:grpSp>
        <p:sp>
          <p:nvSpPr>
            <p:cNvPr id="31" name="Line"/>
            <p:cNvSpPr/>
            <p:nvPr/>
          </p:nvSpPr>
          <p:spPr>
            <a:xfrm>
              <a:off x="6959482" y="8273297"/>
              <a:ext cx="5920729" cy="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400"/>
              </a:pPr>
              <a:endParaRPr/>
            </a:p>
          </p:txBody>
        </p:sp>
        <p:sp>
          <p:nvSpPr>
            <p:cNvPr id="32" name="Line"/>
            <p:cNvSpPr/>
            <p:nvPr/>
          </p:nvSpPr>
          <p:spPr>
            <a:xfrm flipH="1" flipV="1">
              <a:off x="6950847" y="6570036"/>
              <a:ext cx="8635" cy="154526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400"/>
              </a:pPr>
              <a:endParaRPr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5" grpId="1" animBg="1" advAuto="0"/>
      <p:bldP spid="257" grpId="4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Bottom Line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Race to critical section</a:t>
            </a:r>
            <a:endParaRPr dirty="0"/>
          </a:p>
        </p:txBody>
      </p:sp>
      <p:sp>
        <p:nvSpPr>
          <p:cNvPr id="260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61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62" name="The two thread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700"/>
              </a:spcBef>
            </a:pPr>
            <a:r>
              <a:rPr lang="en-US" dirty="0"/>
              <a:t>Multiple </a:t>
            </a:r>
            <a:r>
              <a:rPr dirty="0"/>
              <a:t>threads</a:t>
            </a:r>
            <a:r>
              <a:rPr lang="en-US" dirty="0"/>
              <a:t> r</a:t>
            </a:r>
            <a:r>
              <a:rPr dirty="0"/>
              <a:t>ace each other to get to critical section</a:t>
            </a:r>
            <a:endParaRPr lang="en-US" dirty="0"/>
          </a:p>
          <a:p>
            <a:pPr lvl="1">
              <a:spcBef>
                <a:spcPts val="700"/>
              </a:spcBef>
            </a:pPr>
            <a:r>
              <a:rPr lang="en-US" dirty="0">
                <a:solidFill>
                  <a:schemeClr val="accent1"/>
                </a:solidFill>
              </a:rPr>
              <a:t>Critical section</a:t>
            </a:r>
            <a:r>
              <a:rPr lang="en-US" dirty="0"/>
              <a:t> is a code segment that accesses shared resources</a:t>
            </a:r>
            <a:endParaRPr dirty="0"/>
          </a:p>
          <a:p>
            <a:pPr>
              <a:spcBef>
                <a:spcPts val="700"/>
              </a:spcBef>
            </a:pPr>
            <a:r>
              <a:rPr dirty="0"/>
              <a:t>One of them “wins” the race</a:t>
            </a:r>
          </a:p>
          <a:p>
            <a:pPr lvl="1">
              <a:spcBef>
                <a:spcPts val="700"/>
              </a:spcBef>
            </a:pPr>
            <a:r>
              <a:rPr dirty="0"/>
              <a:t>Winner </a:t>
            </a:r>
          </a:p>
          <a:p>
            <a:pPr lvl="2">
              <a:spcBef>
                <a:spcPts val="700"/>
              </a:spcBef>
            </a:pPr>
            <a:r>
              <a:rPr dirty="0"/>
              <a:t>acquires a “lock” first</a:t>
            </a:r>
          </a:p>
          <a:p>
            <a:pPr lvl="2">
              <a:spcBef>
                <a:spcPts val="700"/>
              </a:spcBef>
            </a:pPr>
            <a:r>
              <a:rPr dirty="0"/>
              <a:t>executes critical section</a:t>
            </a:r>
          </a:p>
          <a:p>
            <a:pPr lvl="2">
              <a:spcBef>
                <a:spcPts val="700"/>
              </a:spcBef>
            </a:pPr>
            <a:r>
              <a:rPr dirty="0"/>
              <a:t>releases the lock</a:t>
            </a:r>
            <a:r>
              <a:rPr lang="en-US" dirty="0"/>
              <a:t> (unlock)</a:t>
            </a:r>
            <a:endParaRPr dirty="0"/>
          </a:p>
          <a:p>
            <a:pPr lvl="1">
              <a:spcBef>
                <a:spcPts val="700"/>
              </a:spcBef>
            </a:pPr>
            <a:r>
              <a:rPr dirty="0"/>
              <a:t>Loser</a:t>
            </a:r>
          </a:p>
          <a:p>
            <a:pPr lvl="2">
              <a:spcBef>
                <a:spcPts val="700"/>
              </a:spcBef>
            </a:pPr>
            <a:r>
              <a:rPr lang="en-US" dirty="0"/>
              <a:t>w</a:t>
            </a:r>
            <a:r>
              <a:rPr dirty="0"/>
              <a:t>aits as </a:t>
            </a:r>
            <a:r>
              <a:rPr lang="en-US" dirty="0"/>
              <a:t>the resource is locked</a:t>
            </a:r>
            <a:endParaRPr dirty="0"/>
          </a:p>
          <a:p>
            <a:pPr lvl="2">
              <a:spcBef>
                <a:spcPts val="700"/>
              </a:spcBef>
            </a:pPr>
            <a:r>
              <a:rPr dirty="0"/>
              <a:t>wakes</a:t>
            </a:r>
            <a:r>
              <a:rPr lang="en-US" dirty="0"/>
              <a:t> </a:t>
            </a:r>
            <a:r>
              <a:rPr dirty="0"/>
              <a:t>up when </a:t>
            </a:r>
            <a:r>
              <a:rPr lang="en-US" dirty="0"/>
              <a:t>it is its turn to get the lock</a:t>
            </a:r>
            <a:endParaRPr dirty="0"/>
          </a:p>
          <a:p>
            <a:pPr lvl="2">
              <a:spcBef>
                <a:spcPts val="700"/>
              </a:spcBef>
            </a:pPr>
            <a:r>
              <a:rPr dirty="0"/>
              <a:t>executes critical section</a:t>
            </a:r>
          </a:p>
          <a:p>
            <a:pPr lvl="2">
              <a:spcBef>
                <a:spcPts val="700"/>
              </a:spcBef>
            </a:pPr>
            <a:r>
              <a:rPr dirty="0"/>
              <a:t>releases the lock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Protocol</a:t>
            </a:r>
          </a:p>
        </p:txBody>
      </p:sp>
      <p:sp>
        <p:nvSpPr>
          <p:cNvPr id="131" name="Shape 131"/>
          <p:cNvSpPr>
            <a:spLocks noGrp="1"/>
          </p:cNvSpPr>
          <p:nvPr>
            <p:ph type="body" idx="1"/>
          </p:nvPr>
        </p:nvSpPr>
        <p:spPr>
          <a:xfrm>
            <a:off x="571500" y="2324100"/>
            <a:ext cx="5662519" cy="65659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000">
                <a:solidFill>
                  <a:srgbClr val="941100"/>
                </a:solidFill>
              </a:rPr>
              <a:t>Thread 1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>
                <a:solidFill>
                  <a:srgbClr val="747474"/>
                </a:solidFill>
              </a:rPr>
              <a:t>I’d like to use variable “x”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>
                <a:solidFill>
                  <a:srgbClr val="747474"/>
                </a:solidFill>
              </a:rPr>
              <a:t>&lt;do something to x&gt;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>
                <a:solidFill>
                  <a:srgbClr val="747474"/>
                </a:solidFill>
              </a:rPr>
              <a:t>&lt;continue doing it&gt;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>
                <a:solidFill>
                  <a:srgbClr val="747474"/>
                </a:solidFill>
              </a:rPr>
              <a:t>&lt;almost done now!&gt;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>
                <a:solidFill>
                  <a:srgbClr val="747474"/>
                </a:solidFill>
              </a:rPr>
              <a:t>I’m done with variable “x”</a:t>
            </a:r>
          </a:p>
        </p:txBody>
      </p:sp>
      <p:sp>
        <p:nvSpPr>
          <p:cNvPr id="133" name="Shape 133"/>
          <p:cNvSpPr/>
          <p:nvPr/>
        </p:nvSpPr>
        <p:spPr>
          <a:xfrm flipH="1">
            <a:off x="482410" y="2083767"/>
            <a:ext cx="1" cy="7345131"/>
          </a:xfrm>
          <a:prstGeom prst="line">
            <a:avLst/>
          </a:prstGeom>
          <a:ln w="139700">
            <a:solidFill/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3400"/>
            </a:pPr>
            <a:endParaRPr/>
          </a:p>
        </p:txBody>
      </p:sp>
      <p:sp>
        <p:nvSpPr>
          <p:cNvPr id="134" name="Shape 134"/>
          <p:cNvSpPr/>
          <p:nvPr/>
        </p:nvSpPr>
        <p:spPr>
          <a:xfrm>
            <a:off x="817045" y="8764288"/>
            <a:ext cx="1189737" cy="709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4000"/>
              <a:t>Time</a:t>
            </a:r>
          </a:p>
        </p:txBody>
      </p:sp>
      <p:sp>
        <p:nvSpPr>
          <p:cNvPr id="135" name="Shape 135"/>
          <p:cNvSpPr/>
          <p:nvPr/>
        </p:nvSpPr>
        <p:spPr>
          <a:xfrm>
            <a:off x="890879" y="3470490"/>
            <a:ext cx="4682554" cy="2000208"/>
          </a:xfrm>
          <a:prstGeom prst="roundRect">
            <a:avLst>
              <a:gd name="adj" fmla="val 15000"/>
            </a:avLst>
          </a:prstGeom>
          <a:solidFill>
            <a:srgbClr val="FFFC79">
              <a:alpha val="25000"/>
            </a:srgbClr>
          </a:solidFill>
          <a:ln w="25400">
            <a:solidFill/>
            <a:miter lim="400000"/>
          </a:ln>
        </p:spPr>
        <p:txBody>
          <a:bodyPr lIns="0" tIns="0" rIns="0" bIns="0" anchor="ctr"/>
          <a:lstStyle/>
          <a:p>
            <a:pPr lvl="0">
              <a:defRPr sz="3400"/>
            </a:pPr>
            <a:endParaRPr/>
          </a:p>
        </p:txBody>
      </p:sp>
      <p:sp>
        <p:nvSpPr>
          <p:cNvPr id="136" name="Shape 136"/>
          <p:cNvSpPr/>
          <p:nvPr/>
        </p:nvSpPr>
        <p:spPr>
          <a:xfrm>
            <a:off x="6498108" y="2324100"/>
            <a:ext cx="5662520" cy="656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/>
          <a:lstStyle/>
          <a:p>
            <a:pPr marL="203200" lvl="0" indent="-203200" algn="l">
              <a:spcBef>
                <a:spcPts val="1500"/>
              </a:spcBef>
              <a:buSzPct val="100000"/>
              <a:buChar char="•"/>
              <a:defRPr sz="1800"/>
            </a:pPr>
            <a:r>
              <a:rPr sz="3000" dirty="0">
                <a:solidFill>
                  <a:srgbClr val="941100"/>
                </a:solidFill>
                <a:latin typeface="+mn-lt"/>
                <a:ea typeface="+mn-ea"/>
                <a:cs typeface="+mn-cs"/>
                <a:sym typeface="Helvetica Neue"/>
              </a:rPr>
              <a:t>Thread 1</a:t>
            </a:r>
          </a:p>
          <a:p>
            <a:pPr marL="546100" lvl="1" indent="-203200" algn="l">
              <a:spcBef>
                <a:spcPts val="1500"/>
              </a:spcBef>
              <a:buSzPct val="100000"/>
              <a:buChar char="•"/>
              <a:defRPr sz="1800"/>
            </a:pPr>
            <a:r>
              <a:rPr sz="3000" b="1" dirty="0">
                <a:solidFill>
                  <a:srgbClr val="EC5D57"/>
                </a:solidFill>
                <a:latin typeface="+mn-lt"/>
                <a:ea typeface="+mn-ea"/>
                <a:cs typeface="+mn-cs"/>
                <a:sym typeface="Helvetica Neue"/>
              </a:rPr>
              <a:t>lock </a:t>
            </a:r>
            <a:r>
              <a:rPr lang="en-US" sz="3000" b="1" dirty="0">
                <a:solidFill>
                  <a:srgbClr val="EC5D57"/>
                </a:solidFill>
                <a:latin typeface="+mn-lt"/>
                <a:ea typeface="+mn-ea"/>
                <a:cs typeface="+mn-cs"/>
                <a:sym typeface="Helvetica Neue"/>
              </a:rPr>
              <a:t>variable "x"</a:t>
            </a:r>
            <a:endParaRPr sz="3000" b="1" dirty="0">
              <a:solidFill>
                <a:srgbClr val="EC5D57"/>
              </a:solidFill>
              <a:latin typeface="+mn-lt"/>
              <a:ea typeface="+mn-ea"/>
              <a:cs typeface="+mn-cs"/>
              <a:sym typeface="Helvetica Neue"/>
            </a:endParaRPr>
          </a:p>
          <a:p>
            <a:pPr marL="546100" lvl="1" indent="-203200" algn="l">
              <a:spcBef>
                <a:spcPts val="1500"/>
              </a:spcBef>
              <a:buSzPct val="100000"/>
              <a:buChar char="•"/>
              <a:defRPr sz="1800"/>
            </a:pPr>
            <a:r>
              <a:rPr sz="3000" dirty="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rPr>
              <a:t>&lt;do something to x&gt;</a:t>
            </a:r>
          </a:p>
          <a:p>
            <a:pPr marL="546100" lvl="1" indent="-203200" algn="l">
              <a:spcBef>
                <a:spcPts val="1500"/>
              </a:spcBef>
              <a:buSzPct val="100000"/>
              <a:buChar char="•"/>
              <a:defRPr sz="1800"/>
            </a:pPr>
            <a:r>
              <a:rPr sz="3000" dirty="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rPr>
              <a:t>&lt;continue doing it&gt;</a:t>
            </a:r>
          </a:p>
          <a:p>
            <a:pPr marL="546100" lvl="1" indent="-203200" algn="l">
              <a:spcBef>
                <a:spcPts val="1500"/>
              </a:spcBef>
              <a:buSzPct val="100000"/>
              <a:buChar char="•"/>
              <a:defRPr sz="1800"/>
            </a:pPr>
            <a:r>
              <a:rPr sz="3000" dirty="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rPr>
              <a:t>&lt;almost done now!&gt;</a:t>
            </a:r>
          </a:p>
          <a:p>
            <a:pPr marL="546100" lvl="1" indent="-203200" algn="l">
              <a:spcBef>
                <a:spcPts val="1500"/>
              </a:spcBef>
              <a:buSzPct val="100000"/>
              <a:buChar char="•"/>
              <a:defRPr sz="1800"/>
            </a:pPr>
            <a:r>
              <a:rPr lang="en-US" sz="3000" dirty="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rPr>
              <a:t>unlock variable "x"</a:t>
            </a:r>
            <a:endParaRPr sz="3000" dirty="0">
              <a:solidFill>
                <a:srgbClr val="747474"/>
              </a:solidFill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37" name="Shape 137"/>
          <p:cNvSpPr/>
          <p:nvPr/>
        </p:nvSpPr>
        <p:spPr>
          <a:xfrm>
            <a:off x="6804825" y="3470490"/>
            <a:ext cx="4682554" cy="2000208"/>
          </a:xfrm>
          <a:prstGeom prst="roundRect">
            <a:avLst>
              <a:gd name="adj" fmla="val 15000"/>
            </a:avLst>
          </a:prstGeom>
          <a:solidFill>
            <a:srgbClr val="FFFC79">
              <a:alpha val="25000"/>
            </a:srgbClr>
          </a:solidFill>
          <a:ln w="25400">
            <a:solidFill/>
            <a:miter lim="400000"/>
          </a:ln>
        </p:spPr>
        <p:txBody>
          <a:bodyPr lIns="0" tIns="0" rIns="0" bIns="0" anchor="ctr"/>
          <a:lstStyle/>
          <a:p>
            <a:pPr lvl="0">
              <a:defRPr sz="3400"/>
            </a:pPr>
            <a:endParaRPr/>
          </a:p>
        </p:txBody>
      </p:sp>
      <p:pic>
        <p:nvPicPr>
          <p:cNvPr id="138" name="pasted-image.tif"/>
          <p:cNvPicPr/>
          <p:nvPr/>
        </p:nvPicPr>
        <p:blipFill>
          <a:blip r:embed="rId2"/>
          <a:stretch>
            <a:fillRect/>
          </a:stretch>
        </p:blipFill>
        <p:spPr>
          <a:xfrm rot="19389011">
            <a:off x="11172485" y="7314433"/>
            <a:ext cx="821358" cy="10302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asted-image.tif"/>
          <p:cNvPicPr/>
          <p:nvPr/>
        </p:nvPicPr>
        <p:blipFill>
          <a:blip r:embed="rId3"/>
          <a:stretch>
            <a:fillRect/>
          </a:stretch>
        </p:blipFill>
        <p:spPr>
          <a:xfrm rot="19241074">
            <a:off x="7286139" y="7198167"/>
            <a:ext cx="1084660" cy="1210153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642417" y="8171855"/>
            <a:ext cx="1041743" cy="718145"/>
          </a:xfrm>
          <a:prstGeom prst="rect">
            <a:avLst/>
          </a:prstGeom>
          <a:noFill/>
          <a:ln w="38100" cap="flat">
            <a:solidFill>
              <a:srgbClr val="00B05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1421" y="8171855"/>
            <a:ext cx="1041743" cy="718145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x</a:t>
            </a:r>
          </a:p>
        </p:txBody>
      </p:sp>
      <p:sp>
        <p:nvSpPr>
          <p:cNvPr id="4" name="Right Arrow 3"/>
          <p:cNvSpPr/>
          <p:nvPr/>
        </p:nvSpPr>
        <p:spPr>
          <a:xfrm>
            <a:off x="8696321" y="8451452"/>
            <a:ext cx="1266093" cy="276193"/>
          </a:xfrm>
          <a:prstGeom prst="rightArrow">
            <a:avLst/>
          </a:prstGeom>
          <a:solidFill>
            <a:schemeClr val="accent5"/>
          </a:solidFill>
          <a:ln w="25400" cap="flat">
            <a:solidFill>
              <a:srgbClr val="C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88555200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Protocol</a:t>
            </a:r>
          </a:p>
        </p:txBody>
      </p:sp>
      <p:sp>
        <p:nvSpPr>
          <p:cNvPr id="142" name="Shape 142"/>
          <p:cNvSpPr>
            <a:spLocks noGrp="1"/>
          </p:cNvSpPr>
          <p:nvPr>
            <p:ph type="body" idx="1"/>
          </p:nvPr>
        </p:nvSpPr>
        <p:spPr>
          <a:xfrm>
            <a:off x="571500" y="2324100"/>
            <a:ext cx="5662519" cy="65659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000">
                <a:solidFill>
                  <a:srgbClr val="941100"/>
                </a:solidFill>
              </a:rPr>
              <a:t>Thread 1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>
                <a:solidFill>
                  <a:srgbClr val="747474"/>
                </a:solidFill>
              </a:rPr>
              <a:t>I’d like to use variable “x”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>
                <a:solidFill>
                  <a:srgbClr val="747474"/>
                </a:solidFill>
              </a:rPr>
              <a:t>&lt;do something to x&gt;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>
                <a:solidFill>
                  <a:srgbClr val="747474"/>
                </a:solidFill>
              </a:rPr>
              <a:t>&lt;continue doing it&gt;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>
                <a:solidFill>
                  <a:srgbClr val="747474"/>
                </a:solidFill>
              </a:rPr>
              <a:t>&lt;almost done now!&gt;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>
                <a:solidFill>
                  <a:srgbClr val="747474"/>
                </a:solidFill>
              </a:rPr>
              <a:t>I’m done with variable “x”</a:t>
            </a:r>
          </a:p>
        </p:txBody>
      </p:sp>
      <p:sp>
        <p:nvSpPr>
          <p:cNvPr id="144" name="Shape 144"/>
          <p:cNvSpPr/>
          <p:nvPr/>
        </p:nvSpPr>
        <p:spPr>
          <a:xfrm flipH="1">
            <a:off x="482410" y="2083767"/>
            <a:ext cx="1" cy="7345131"/>
          </a:xfrm>
          <a:prstGeom prst="line">
            <a:avLst/>
          </a:prstGeom>
          <a:ln w="139700">
            <a:solidFill/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3400"/>
            </a:pPr>
            <a:endParaRPr/>
          </a:p>
        </p:txBody>
      </p:sp>
      <p:sp>
        <p:nvSpPr>
          <p:cNvPr id="145" name="Shape 145"/>
          <p:cNvSpPr/>
          <p:nvPr/>
        </p:nvSpPr>
        <p:spPr>
          <a:xfrm>
            <a:off x="817045" y="8764288"/>
            <a:ext cx="1189737" cy="709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4000"/>
              <a:t>Time</a:t>
            </a:r>
          </a:p>
        </p:txBody>
      </p:sp>
      <p:sp>
        <p:nvSpPr>
          <p:cNvPr id="146" name="Shape 146"/>
          <p:cNvSpPr/>
          <p:nvPr/>
        </p:nvSpPr>
        <p:spPr>
          <a:xfrm>
            <a:off x="890879" y="3470490"/>
            <a:ext cx="4682554" cy="2000208"/>
          </a:xfrm>
          <a:prstGeom prst="roundRect">
            <a:avLst>
              <a:gd name="adj" fmla="val 15000"/>
            </a:avLst>
          </a:prstGeom>
          <a:solidFill>
            <a:srgbClr val="FFFC79">
              <a:alpha val="25000"/>
            </a:srgbClr>
          </a:solidFill>
          <a:ln w="25400">
            <a:solidFill/>
            <a:miter lim="400000"/>
          </a:ln>
        </p:spPr>
        <p:txBody>
          <a:bodyPr lIns="0" tIns="0" rIns="0" bIns="0" anchor="ctr"/>
          <a:lstStyle/>
          <a:p>
            <a:pPr lvl="0">
              <a:defRPr sz="3400"/>
            </a:pPr>
            <a:endParaRPr/>
          </a:p>
        </p:txBody>
      </p:sp>
      <p:sp>
        <p:nvSpPr>
          <p:cNvPr id="147" name="Shape 147"/>
          <p:cNvSpPr/>
          <p:nvPr/>
        </p:nvSpPr>
        <p:spPr>
          <a:xfrm>
            <a:off x="6498108" y="2324100"/>
            <a:ext cx="5662520" cy="656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/>
          <a:lstStyle/>
          <a:p>
            <a:pPr marL="203200" lvl="0" indent="-203200" algn="l">
              <a:spcBef>
                <a:spcPts val="1500"/>
              </a:spcBef>
              <a:buSzPct val="100000"/>
              <a:buChar char="•"/>
              <a:defRPr sz="1800"/>
            </a:pPr>
            <a:r>
              <a:rPr sz="3000" dirty="0">
                <a:solidFill>
                  <a:srgbClr val="941100"/>
                </a:solidFill>
                <a:latin typeface="+mn-lt"/>
                <a:ea typeface="+mn-ea"/>
                <a:cs typeface="+mn-cs"/>
                <a:sym typeface="Helvetica Neue"/>
              </a:rPr>
              <a:t>Thread 1</a:t>
            </a:r>
          </a:p>
          <a:p>
            <a:pPr marL="546100" lvl="1" indent="-203200" algn="l">
              <a:spcBef>
                <a:spcPts val="1500"/>
              </a:spcBef>
              <a:buSzPct val="100000"/>
              <a:buChar char="•"/>
              <a:defRPr sz="1800"/>
            </a:pPr>
            <a:r>
              <a:rPr sz="3000" dirty="0">
                <a:solidFill>
                  <a:srgbClr val="A9A9A9"/>
                </a:solidFill>
                <a:latin typeface="+mn-lt"/>
                <a:ea typeface="+mn-ea"/>
                <a:cs typeface="+mn-cs"/>
                <a:sym typeface="Helvetica Neue"/>
              </a:rPr>
              <a:t>lock </a:t>
            </a:r>
            <a:r>
              <a:rPr lang="en-US" sz="3000" dirty="0">
                <a:solidFill>
                  <a:srgbClr val="A9A9A9"/>
                </a:solidFill>
                <a:latin typeface="+mn-lt"/>
                <a:ea typeface="+mn-ea"/>
                <a:cs typeface="+mn-cs"/>
                <a:sym typeface="Helvetica Neue"/>
              </a:rPr>
              <a:t>variable "x"</a:t>
            </a:r>
            <a:endParaRPr sz="3000" dirty="0">
              <a:solidFill>
                <a:srgbClr val="A9A9A9"/>
              </a:solidFill>
              <a:latin typeface="+mn-lt"/>
              <a:ea typeface="+mn-ea"/>
              <a:cs typeface="+mn-cs"/>
              <a:sym typeface="Helvetica Neue"/>
            </a:endParaRPr>
          </a:p>
          <a:p>
            <a:pPr marL="546100" lvl="1" indent="-203200" algn="l">
              <a:spcBef>
                <a:spcPts val="1500"/>
              </a:spcBef>
              <a:buSzPct val="100000"/>
              <a:buChar char="•"/>
              <a:defRPr sz="1800"/>
            </a:pPr>
            <a:r>
              <a:rPr sz="3000" dirty="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rPr>
              <a:t>&lt;do something to x&gt;</a:t>
            </a:r>
          </a:p>
          <a:p>
            <a:pPr marL="546100" lvl="1" indent="-203200" algn="l">
              <a:spcBef>
                <a:spcPts val="1500"/>
              </a:spcBef>
              <a:buSzPct val="100000"/>
              <a:buChar char="•"/>
              <a:defRPr sz="1800"/>
            </a:pPr>
            <a:r>
              <a:rPr sz="3000" dirty="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rPr>
              <a:t>&lt;continue doing it&gt;</a:t>
            </a:r>
          </a:p>
          <a:p>
            <a:pPr marL="546100" lvl="1" indent="-203200" algn="l">
              <a:spcBef>
                <a:spcPts val="1500"/>
              </a:spcBef>
              <a:buSzPct val="100000"/>
              <a:buChar char="•"/>
              <a:defRPr sz="1800"/>
            </a:pPr>
            <a:r>
              <a:rPr sz="3000" dirty="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rPr>
              <a:t>&lt;almost done now!&gt;</a:t>
            </a:r>
          </a:p>
          <a:p>
            <a:pPr marL="546100" lvl="1" indent="-203200" algn="l">
              <a:spcBef>
                <a:spcPts val="1500"/>
              </a:spcBef>
              <a:buSzPct val="100000"/>
              <a:buChar char="•"/>
              <a:defRPr sz="1800"/>
            </a:pPr>
            <a:r>
              <a:rPr sz="3000" b="1" dirty="0">
                <a:solidFill>
                  <a:schemeClr val="accent2"/>
                </a:solidFill>
                <a:latin typeface="+mn-lt"/>
                <a:ea typeface="+mn-ea"/>
                <a:cs typeface="+mn-cs"/>
                <a:sym typeface="Helvetica Neue"/>
              </a:rPr>
              <a:t>unlock </a:t>
            </a:r>
            <a:r>
              <a:rPr lang="en-US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  <a:sym typeface="Helvetica Neue"/>
              </a:rPr>
              <a:t>variable "x"</a:t>
            </a:r>
            <a:endParaRPr sz="3000" b="1" dirty="0">
              <a:solidFill>
                <a:schemeClr val="accent2"/>
              </a:solidFill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48" name="Shape 148"/>
          <p:cNvSpPr/>
          <p:nvPr/>
        </p:nvSpPr>
        <p:spPr>
          <a:xfrm>
            <a:off x="6804825" y="3470490"/>
            <a:ext cx="4682554" cy="2000208"/>
          </a:xfrm>
          <a:prstGeom prst="roundRect">
            <a:avLst>
              <a:gd name="adj" fmla="val 15000"/>
            </a:avLst>
          </a:prstGeom>
          <a:solidFill>
            <a:srgbClr val="FFFC79">
              <a:alpha val="25000"/>
            </a:srgbClr>
          </a:solidFill>
          <a:ln w="25400">
            <a:solidFill/>
            <a:miter lim="400000"/>
          </a:ln>
        </p:spPr>
        <p:txBody>
          <a:bodyPr lIns="0" tIns="0" rIns="0" bIns="0" anchor="ctr"/>
          <a:lstStyle/>
          <a:p>
            <a:pPr lvl="0">
              <a:defRPr sz="3400"/>
            </a:pP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8</a:t>
            </a:fld>
            <a:endParaRPr lang="en-US"/>
          </a:p>
        </p:txBody>
      </p:sp>
      <p:pic>
        <p:nvPicPr>
          <p:cNvPr id="12" name="pasted-image.tif"/>
          <p:cNvPicPr/>
          <p:nvPr/>
        </p:nvPicPr>
        <p:blipFill>
          <a:blip r:embed="rId2"/>
          <a:stretch>
            <a:fillRect/>
          </a:stretch>
        </p:blipFill>
        <p:spPr>
          <a:xfrm rot="19389011">
            <a:off x="11172485" y="7314433"/>
            <a:ext cx="821358" cy="10302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pasted-image.tif"/>
          <p:cNvPicPr/>
          <p:nvPr/>
        </p:nvPicPr>
        <p:blipFill>
          <a:blip r:embed="rId3"/>
          <a:stretch>
            <a:fillRect/>
          </a:stretch>
        </p:blipFill>
        <p:spPr>
          <a:xfrm rot="19241074">
            <a:off x="7286139" y="7198167"/>
            <a:ext cx="1084660" cy="1210153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/>
          <p:cNvSpPr txBox="1"/>
          <p:nvPr/>
        </p:nvSpPr>
        <p:spPr>
          <a:xfrm>
            <a:off x="6642417" y="8171855"/>
            <a:ext cx="1041743" cy="718145"/>
          </a:xfrm>
          <a:prstGeom prst="rect">
            <a:avLst/>
          </a:prstGeom>
          <a:noFill/>
          <a:ln w="38100" cap="flat">
            <a:solidFill>
              <a:srgbClr val="00B05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41421" y="8171855"/>
            <a:ext cx="1041743" cy="718145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x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96321" y="8451452"/>
            <a:ext cx="1266093" cy="276193"/>
          </a:xfrm>
          <a:prstGeom prst="rightArrow">
            <a:avLst/>
          </a:prstGeom>
          <a:solidFill>
            <a:srgbClr val="00B050"/>
          </a:solidFill>
          <a:ln w="25400" cap="flat">
            <a:solidFill>
              <a:srgbClr val="00B050"/>
            </a:solidFill>
            <a:prstDash val="solid"/>
            <a:miter lim="400000"/>
          </a:ln>
          <a:effectLst/>
          <a:scene3d>
            <a:camera prst="orthographicFront">
              <a:rot lat="0" lon="0" rev="10800000"/>
            </a:camera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74293348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Lock representation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Mutex</a:t>
            </a:r>
            <a:endParaRPr dirty="0"/>
          </a:p>
        </p:txBody>
      </p:sp>
      <p:sp>
        <p:nvSpPr>
          <p:cNvPr id="292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93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94" name="The Lock is a POSIX abstrac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The Lock is a POSIX abstraction</a:t>
            </a:r>
          </a:p>
          <a:p>
            <a:pPr lvl="1"/>
            <a:r>
              <a:rPr dirty="0"/>
              <a:t>Called a </a:t>
            </a:r>
            <a:r>
              <a:rPr dirty="0">
                <a:solidFill>
                  <a:schemeClr val="accent1"/>
                </a:solidFill>
              </a:rPr>
              <a:t>Mutex</a:t>
            </a:r>
            <a:r>
              <a:rPr dirty="0"/>
              <a:t> </a:t>
            </a:r>
            <a:r>
              <a:rPr lang="en-US" dirty="0"/>
              <a:t>(</a:t>
            </a:r>
            <a:r>
              <a:rPr dirty="0"/>
              <a:t>for </a:t>
            </a:r>
            <a:r>
              <a:rPr dirty="0" err="1">
                <a:solidFill>
                  <a:schemeClr val="accent5"/>
                </a:solidFill>
              </a:rPr>
              <a:t>MUT</a:t>
            </a:r>
            <a:r>
              <a:rPr dirty="0" err="1"/>
              <a:t>ual</a:t>
            </a:r>
            <a:r>
              <a:rPr dirty="0"/>
              <a:t> </a:t>
            </a:r>
            <a:r>
              <a:rPr dirty="0">
                <a:solidFill>
                  <a:schemeClr val="accent5"/>
                </a:solidFill>
              </a:rPr>
              <a:t>E</a:t>
            </a:r>
            <a:r>
              <a:rPr lang="en-US" dirty="0">
                <a:solidFill>
                  <a:schemeClr val="accent5"/>
                </a:solidFill>
              </a:rPr>
              <a:t>x</a:t>
            </a:r>
            <a:r>
              <a:rPr dirty="0"/>
              <a:t>clusion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Provided by the operating system</a:t>
            </a:r>
            <a:endParaRPr dirty="0"/>
          </a:p>
          <a:p>
            <a:r>
              <a:rPr dirty="0"/>
              <a:t>Semantics</a:t>
            </a:r>
          </a:p>
          <a:p>
            <a:pPr lvl="1"/>
            <a:r>
              <a:rPr lang="en-US" dirty="0"/>
              <a:t>At most</a:t>
            </a:r>
            <a:r>
              <a:rPr dirty="0"/>
              <a:t> one thread can acquire the lock at </a:t>
            </a:r>
            <a:r>
              <a:rPr lang="en-US" dirty="0"/>
              <a:t>any time</a:t>
            </a:r>
            <a:endParaRPr dirty="0"/>
          </a:p>
          <a:p>
            <a:pPr lvl="1"/>
            <a:r>
              <a:rPr dirty="0"/>
              <a:t>If a thread “loses” a race, </a:t>
            </a:r>
            <a:r>
              <a:rPr lang="en-US" dirty="0"/>
              <a:t>it</a:t>
            </a:r>
            <a:r>
              <a:rPr dirty="0"/>
              <a:t> </a:t>
            </a:r>
            <a:r>
              <a:rPr i="1" dirty="0">
                <a:solidFill>
                  <a:schemeClr val="accent5"/>
                </a:solidFill>
              </a:rPr>
              <a:t>falls asleep</a:t>
            </a:r>
            <a:endParaRPr i="1" dirty="0"/>
          </a:p>
          <a:p>
            <a:pPr lvl="1"/>
            <a:r>
              <a:rPr dirty="0"/>
              <a:t>Sleepy threads </a:t>
            </a:r>
            <a:r>
              <a:rPr i="1" dirty="0">
                <a:solidFill>
                  <a:schemeClr val="accent5"/>
                </a:solidFill>
              </a:rPr>
              <a:t>wake up</a:t>
            </a:r>
            <a:r>
              <a:rPr dirty="0"/>
              <a:t> when</a:t>
            </a:r>
            <a:r>
              <a:rPr lang="en-US" dirty="0"/>
              <a:t> the lock is released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We can use variable x in previous example to protect any critical sections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Mutex API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/>
              <a:t>pthread</a:t>
            </a:r>
            <a:r>
              <a:rPr lang="en-US" dirty="0"/>
              <a:t> </a:t>
            </a:r>
            <a:r>
              <a:rPr lang="en-US" dirty="0" err="1"/>
              <a:t>m</a:t>
            </a:r>
            <a:r>
              <a:rPr dirty="0" err="1"/>
              <a:t>utex</a:t>
            </a:r>
            <a:r>
              <a:rPr dirty="0"/>
              <a:t> </a:t>
            </a:r>
            <a:r>
              <a:rPr lang="en-US" dirty="0"/>
              <a:t>type and </a:t>
            </a:r>
            <a:r>
              <a:rPr dirty="0"/>
              <a:t>API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298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99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00" name="What we nee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  <a:latin typeface="Consolas" panose="020B0609020204030204" pitchFamily="49" charset="0"/>
              </a:rPr>
              <a:t>// define a </a:t>
            </a:r>
            <a:r>
              <a:rPr lang="en-US" sz="3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mutex</a:t>
            </a:r>
            <a:r>
              <a:rPr lang="en-US" sz="3200" dirty="0">
                <a:solidFill>
                  <a:schemeClr val="accent1"/>
                </a:solidFill>
                <a:latin typeface="Consolas" panose="020B0609020204030204" pitchFamily="49" charset="0"/>
              </a:rPr>
              <a:t>, a shared variable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  <a:latin typeface="Consolas" panose="020B0609020204030204" pitchFamily="49" charset="0"/>
              </a:rPr>
              <a:t>// only one thread can lock it!</a:t>
            </a:r>
            <a:endParaRPr lang="en-US" sz="32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3200" dirty="0" err="1">
                <a:latin typeface="Consolas" panose="020B0609020204030204" pitchFamily="49" charset="0"/>
              </a:rPr>
              <a:t>pthread_mutex_t</a:t>
            </a:r>
            <a:r>
              <a:rPr lang="en-US" sz="3200" dirty="0">
                <a:latin typeface="Consolas" panose="020B0609020204030204" pitchFamily="49" charset="0"/>
              </a:rPr>
              <a:t> mutex; </a:t>
            </a:r>
            <a:endParaRPr lang="en-US" dirty="0"/>
          </a:p>
          <a:p>
            <a:endParaRPr lang="en-US" dirty="0"/>
          </a:p>
          <a:p>
            <a:r>
              <a:rPr lang="en-US" dirty="0"/>
              <a:t>Functions</a:t>
            </a:r>
            <a:endParaRPr dirty="0"/>
          </a:p>
          <a:p>
            <a:pPr lvl="1"/>
            <a:r>
              <a:rPr dirty="0"/>
              <a:t>Initialize the </a:t>
            </a:r>
            <a:r>
              <a:rPr dirty="0" err="1"/>
              <a:t>Mutex</a:t>
            </a:r>
            <a:endParaRPr lang="en-US" dirty="0"/>
          </a:p>
          <a:p>
            <a:pPr lvl="1"/>
            <a:r>
              <a:rPr lang="en-US" dirty="0"/>
              <a:t>Destroy a </a:t>
            </a:r>
            <a:r>
              <a:rPr lang="en-US" dirty="0" err="1"/>
              <a:t>Mutex</a:t>
            </a:r>
            <a:r>
              <a:rPr lang="en-US" dirty="0"/>
              <a:t> we no longer need</a:t>
            </a:r>
          </a:p>
          <a:p>
            <a:pPr lvl="1"/>
            <a:r>
              <a:rPr dirty="0"/>
              <a:t>Lock a Mutex</a:t>
            </a:r>
          </a:p>
          <a:p>
            <a:pPr lvl="1"/>
            <a:r>
              <a:rPr dirty="0"/>
              <a:t>Unlock a </a:t>
            </a:r>
            <a:r>
              <a:rPr dirty="0" err="1"/>
              <a:t>Mutex</a:t>
            </a:r>
            <a:endParaRPr lang="en-US" dirty="0"/>
          </a:p>
          <a:p>
            <a:pPr lvl="1"/>
            <a:r>
              <a:rPr dirty="0"/>
              <a:t>[Attempt to Lock a </a:t>
            </a:r>
            <a:r>
              <a:rPr dirty="0" err="1"/>
              <a:t>Mutex</a:t>
            </a:r>
            <a:r>
              <a:rPr dirty="0"/>
              <a:t>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Cre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Initialization</a:t>
            </a:r>
            <a:endParaRPr dirty="0"/>
          </a:p>
        </p:txBody>
      </p:sp>
      <p:sp>
        <p:nvSpPr>
          <p:cNvPr id="30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05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06" name="API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#include &lt;</a:t>
            </a:r>
            <a:r>
              <a:rPr lang="en-US" sz="2800" dirty="0" err="1">
                <a:latin typeface="Consolas" panose="020B0609020204030204" pitchFamily="49" charset="0"/>
              </a:rPr>
              <a:t>pthread.h</a:t>
            </a:r>
            <a:r>
              <a:rPr lang="en-US" sz="28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800" dirty="0" err="1">
                <a:latin typeface="Consolas" panose="020B0609020204030204" pitchFamily="49" charset="0"/>
              </a:rPr>
              <a:t>int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pthread_mutex_init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 err="1">
                <a:latin typeface="Consolas" panose="020B0609020204030204" pitchFamily="49" charset="0"/>
              </a:rPr>
              <a:t>pthread_mutex_t</a:t>
            </a:r>
            <a:r>
              <a:rPr lang="en-US" sz="2800" dirty="0">
                <a:latin typeface="Consolas" panose="020B0609020204030204" pitchFamily="49" charset="0"/>
              </a:rPr>
              <a:t> * </a:t>
            </a:r>
            <a:r>
              <a:rPr lang="en-US" sz="2800" dirty="0" err="1">
                <a:latin typeface="Consolas" panose="020B0609020204030204" pitchFamily="49" charset="0"/>
              </a:rPr>
              <a:t>mutex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		              </a:t>
            </a:r>
            <a:r>
              <a:rPr lang="en-US" sz="2800" dirty="0" err="1">
                <a:latin typeface="Consolas" panose="020B0609020204030204" pitchFamily="49" charset="0"/>
              </a:rPr>
              <a:t>const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pthread_mutexattr_t</a:t>
            </a:r>
            <a:r>
              <a:rPr lang="en-US" sz="2800" dirty="0">
                <a:latin typeface="Consolas" panose="020B0609020204030204" pitchFamily="49" charset="0"/>
              </a:rPr>
              <a:t> * </a:t>
            </a:r>
            <a:r>
              <a:rPr lang="en-US" sz="2800" dirty="0" err="1">
                <a:latin typeface="Consolas" panose="020B0609020204030204" pitchFamily="49" charset="0"/>
              </a:rPr>
              <a:t>attr</a:t>
            </a:r>
            <a:r>
              <a:rPr lang="en-US" sz="2800" dirty="0"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dirty="0"/>
              <a:t>Initialize a mutex (i.e., allocate OS resources)</a:t>
            </a:r>
          </a:p>
          <a:p>
            <a:pPr lvl="1"/>
            <a:r>
              <a:rPr lang="en-US" dirty="0"/>
              <a:t>Return 0 on success</a:t>
            </a:r>
            <a:endParaRPr dirty="0"/>
          </a:p>
          <a:p>
            <a:r>
              <a:rPr sz="2800" dirty="0"/>
              <a:t>Example</a:t>
            </a:r>
          </a:p>
        </p:txBody>
      </p:sp>
      <p:sp>
        <p:nvSpPr>
          <p:cNvPr id="309" name="typedef struct MyRecord {…"/>
          <p:cNvSpPr txBox="1"/>
          <p:nvPr/>
        </p:nvSpPr>
        <p:spPr>
          <a:xfrm>
            <a:off x="1068431" y="5951321"/>
            <a:ext cx="10426633" cy="3454401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typedef</a:t>
            </a:r>
            <a:r>
              <a:rPr dirty="0"/>
              <a:t> </a:t>
            </a:r>
            <a:r>
              <a:rPr dirty="0" err="1"/>
              <a:t>struct</a:t>
            </a:r>
            <a:r>
              <a:rPr dirty="0"/>
              <a:t> </a:t>
            </a:r>
            <a:r>
              <a:rPr dirty="0" err="1"/>
              <a:t>MyRecord</a:t>
            </a:r>
            <a:r>
              <a:rPr dirty="0"/>
              <a:t> {</a:t>
            </a:r>
          </a:p>
          <a:p>
            <a:pPr lvl="1" indent="228600"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pthread_mutex_t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myLock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;</a:t>
            </a:r>
          </a:p>
          <a:p>
            <a:pPr lvl="1" indent="228600"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</a:t>
            </a:r>
            <a:r>
              <a:rPr dirty="0" err="1"/>
              <a:t>int</a:t>
            </a:r>
            <a:r>
              <a:rPr dirty="0"/>
              <a:t>              </a:t>
            </a:r>
            <a:r>
              <a:rPr dirty="0" err="1"/>
              <a:t>myValue</a:t>
            </a:r>
            <a:r>
              <a:rPr dirty="0"/>
              <a:t>;</a:t>
            </a:r>
          </a:p>
          <a:p>
            <a:pPr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} </a:t>
            </a:r>
            <a:r>
              <a:rPr dirty="0" err="1"/>
              <a:t>MyRec</a:t>
            </a:r>
            <a:r>
              <a:rPr dirty="0"/>
              <a:t>;</a:t>
            </a:r>
          </a:p>
          <a:p>
            <a:pPr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MyRec</a:t>
            </a:r>
            <a:r>
              <a:rPr dirty="0"/>
              <a:t>* </a:t>
            </a:r>
            <a:r>
              <a:rPr dirty="0" err="1"/>
              <a:t>makeARecord</a:t>
            </a:r>
            <a:r>
              <a:rPr dirty="0"/>
              <a:t>() {</a:t>
            </a:r>
          </a:p>
          <a:p>
            <a:pPr lvl="2" indent="457200"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MyRec</a:t>
            </a:r>
            <a:r>
              <a:rPr dirty="0"/>
              <a:t>* rec = (</a:t>
            </a:r>
            <a:r>
              <a:rPr dirty="0" err="1"/>
              <a:t>MyRec</a:t>
            </a:r>
            <a:r>
              <a:rPr dirty="0"/>
              <a:t>*)</a:t>
            </a:r>
            <a:r>
              <a:rPr dirty="0" err="1"/>
              <a:t>malloc</a:t>
            </a:r>
            <a:r>
              <a:rPr dirty="0"/>
              <a:t>(</a:t>
            </a:r>
            <a:r>
              <a:rPr dirty="0" err="1"/>
              <a:t>sizeof</a:t>
            </a:r>
            <a:r>
              <a:rPr dirty="0"/>
              <a:t>(</a:t>
            </a:r>
            <a:r>
              <a:rPr dirty="0" err="1"/>
              <a:t>MyRec</a:t>
            </a:r>
            <a:r>
              <a:rPr dirty="0"/>
              <a:t>));</a:t>
            </a:r>
          </a:p>
          <a:p>
            <a:pPr lvl="2" indent="457200"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pthread_mutex_init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(&amp;rec-&gt;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myLock,NULL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r>
              <a:rPr dirty="0"/>
              <a:t>;</a:t>
            </a:r>
          </a:p>
          <a:p>
            <a:pPr lvl="2" indent="457200"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rec-&gt;</a:t>
            </a:r>
            <a:r>
              <a:rPr dirty="0" err="1"/>
              <a:t>myValue</a:t>
            </a:r>
            <a:r>
              <a:rPr dirty="0"/>
              <a:t> = 0;</a:t>
            </a:r>
          </a:p>
          <a:p>
            <a:pPr lvl="2" indent="457200"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return rec;</a:t>
            </a:r>
          </a:p>
          <a:p>
            <a:pPr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}</a:t>
            </a:r>
          </a:p>
        </p:txBody>
      </p:sp>
      <p:grpSp>
        <p:nvGrpSpPr>
          <p:cNvPr id="313" name="Group"/>
          <p:cNvGrpSpPr/>
          <p:nvPr/>
        </p:nvGrpSpPr>
        <p:grpSpPr>
          <a:xfrm>
            <a:off x="6164903" y="6434296"/>
            <a:ext cx="4328675" cy="2222376"/>
            <a:chOff x="0" y="-4490"/>
            <a:chExt cx="4328674" cy="2222374"/>
          </a:xfrm>
        </p:grpSpPr>
        <p:sp>
          <p:nvSpPr>
            <p:cNvPr id="310" name="Oval"/>
            <p:cNvSpPr/>
            <p:nvPr/>
          </p:nvSpPr>
          <p:spPr>
            <a:xfrm>
              <a:off x="0" y="1485615"/>
              <a:ext cx="1270000" cy="732269"/>
            </a:xfrm>
            <a:prstGeom prst="ellipse">
              <a:avLst/>
            </a:prstGeom>
            <a:solidFill>
              <a:srgbClr val="FFFC79">
                <a:alpha val="23000"/>
              </a:srgb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>
                <a:defRPr sz="3400"/>
              </a:pPr>
              <a:endParaRPr/>
            </a:p>
          </p:txBody>
        </p:sp>
        <p:sp>
          <p:nvSpPr>
            <p:cNvPr id="311" name="More on this later!"/>
            <p:cNvSpPr txBox="1"/>
            <p:nvPr/>
          </p:nvSpPr>
          <p:spPr>
            <a:xfrm>
              <a:off x="917484" y="-4490"/>
              <a:ext cx="3411190" cy="7181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rPr lang="en-US" dirty="0"/>
                <a:t>mutex attribute</a:t>
              </a:r>
              <a:endParaRPr dirty="0"/>
            </a:p>
          </p:txBody>
        </p:sp>
        <p:sp>
          <p:nvSpPr>
            <p:cNvPr id="312" name="Line"/>
            <p:cNvSpPr/>
            <p:nvPr/>
          </p:nvSpPr>
          <p:spPr>
            <a:xfrm flipH="1">
              <a:off x="1255098" y="699382"/>
              <a:ext cx="1708516" cy="101068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400"/>
              </a:pPr>
              <a:endParaRPr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" grpId="1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Destru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Destruction</a:t>
            </a:r>
          </a:p>
        </p:txBody>
      </p:sp>
      <p:sp>
        <p:nvSpPr>
          <p:cNvPr id="31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17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18" name="API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#include &lt;</a:t>
            </a:r>
            <a:r>
              <a:rPr lang="en-US" sz="2800" dirty="0" err="1">
                <a:latin typeface="Consolas" panose="020B0609020204030204" pitchFamily="49" charset="0"/>
              </a:rPr>
              <a:t>pthread.h</a:t>
            </a:r>
            <a:r>
              <a:rPr lang="en-US" sz="2800" dirty="0">
                <a:latin typeface="Consolas" panose="020B0609020204030204" pitchFamily="49" charset="0"/>
              </a:rPr>
              <a:t>&gt;</a:t>
            </a:r>
          </a:p>
          <a:p>
            <a:pPr marL="0" lvl="0" indent="0">
              <a:buNone/>
            </a:pPr>
            <a:r>
              <a:rPr lang="en-US" sz="2800" dirty="0" err="1">
                <a:latin typeface="Consolas" panose="020B0609020204030204" pitchFamily="49" charset="0"/>
              </a:rPr>
              <a:t>int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365C0"/>
                </a:solidFill>
                <a:latin typeface="Consolas" panose="020B0609020204030204" pitchFamily="49" charset="0"/>
              </a:rPr>
              <a:t>pthread_mutex_destroy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 err="1">
                <a:latin typeface="Consolas" panose="020B0609020204030204" pitchFamily="49" charset="0"/>
              </a:rPr>
              <a:t>pthread_mutex_t</a:t>
            </a:r>
            <a:r>
              <a:rPr lang="en-US" sz="2800" dirty="0">
                <a:latin typeface="Consolas" panose="020B0609020204030204" pitchFamily="49" charset="0"/>
              </a:rPr>
              <a:t> * </a:t>
            </a:r>
            <a:r>
              <a:rPr lang="en-US" sz="2800" dirty="0" err="1">
                <a:latin typeface="Consolas" panose="020B0609020204030204" pitchFamily="49" charset="0"/>
              </a:rPr>
              <a:t>mutex</a:t>
            </a:r>
            <a:r>
              <a:rPr lang="en-US" sz="2800" dirty="0">
                <a:latin typeface="Consolas" panose="020B0609020204030204" pitchFamily="49" charset="0"/>
              </a:rPr>
              <a:t>);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Release</a:t>
            </a:r>
            <a:r>
              <a:rPr dirty="0"/>
              <a:t> resource</a:t>
            </a:r>
            <a:r>
              <a:rPr lang="en-US" dirty="0"/>
              <a:t>s</a:t>
            </a:r>
            <a:r>
              <a:rPr dirty="0"/>
              <a:t> for lock</a:t>
            </a:r>
            <a:endParaRPr lang="en-US" dirty="0"/>
          </a:p>
          <a:p>
            <a:pPr lvl="1"/>
            <a:r>
              <a:rPr lang="en-US" dirty="0"/>
              <a:t>Return 0 on success</a:t>
            </a:r>
            <a:endParaRPr dirty="0"/>
          </a:p>
          <a:p>
            <a:r>
              <a:rPr dirty="0"/>
              <a:t>Example</a:t>
            </a:r>
          </a:p>
        </p:txBody>
      </p:sp>
      <p:sp>
        <p:nvSpPr>
          <p:cNvPr id="321" name="typedef struct MyRecord {…"/>
          <p:cNvSpPr txBox="1"/>
          <p:nvPr/>
        </p:nvSpPr>
        <p:spPr>
          <a:xfrm>
            <a:off x="1158560" y="6286499"/>
            <a:ext cx="10426633" cy="2844801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typedef</a:t>
            </a:r>
            <a:r>
              <a:rPr dirty="0"/>
              <a:t> </a:t>
            </a:r>
            <a:r>
              <a:rPr dirty="0" err="1"/>
              <a:t>struct</a:t>
            </a:r>
            <a:r>
              <a:rPr dirty="0"/>
              <a:t> </a:t>
            </a:r>
            <a:r>
              <a:rPr dirty="0" err="1"/>
              <a:t>MyRecord</a:t>
            </a:r>
            <a:r>
              <a:rPr dirty="0"/>
              <a:t> {</a:t>
            </a:r>
          </a:p>
          <a:p>
            <a:pPr lvl="1" indent="228600"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</a:t>
            </a:r>
            <a:r>
              <a:rPr dirty="0" err="1"/>
              <a:t>pthread_mutex_t</a:t>
            </a:r>
            <a:r>
              <a:rPr dirty="0"/>
              <a:t>  </a:t>
            </a:r>
            <a:r>
              <a:rPr dirty="0" err="1"/>
              <a:t>myLock</a:t>
            </a:r>
            <a:r>
              <a:rPr dirty="0"/>
              <a:t>;</a:t>
            </a:r>
          </a:p>
          <a:p>
            <a:pPr lvl="1" indent="228600"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</a:t>
            </a:r>
            <a:r>
              <a:rPr dirty="0" err="1"/>
              <a:t>int</a:t>
            </a:r>
            <a:r>
              <a:rPr dirty="0"/>
              <a:t>              </a:t>
            </a:r>
            <a:r>
              <a:rPr dirty="0" err="1"/>
              <a:t>myValue</a:t>
            </a:r>
            <a:r>
              <a:rPr dirty="0"/>
              <a:t>;</a:t>
            </a:r>
          </a:p>
          <a:p>
            <a:pPr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} </a:t>
            </a:r>
            <a:r>
              <a:rPr dirty="0" err="1"/>
              <a:t>MyRec</a:t>
            </a:r>
            <a:r>
              <a:rPr dirty="0"/>
              <a:t>;</a:t>
            </a:r>
          </a:p>
          <a:p>
            <a:pPr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void </a:t>
            </a:r>
            <a:r>
              <a:rPr dirty="0" err="1"/>
              <a:t>freeARecord</a:t>
            </a:r>
            <a:r>
              <a:rPr dirty="0"/>
              <a:t>(</a:t>
            </a:r>
            <a:r>
              <a:rPr dirty="0" err="1"/>
              <a:t>MyRec</a:t>
            </a:r>
            <a:r>
              <a:rPr dirty="0"/>
              <a:t>* rec) {</a:t>
            </a:r>
          </a:p>
          <a:p>
            <a:pPr lvl="2" indent="457200"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pthread_mutex_destroy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(&amp;rec-&gt;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myLock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);</a:t>
            </a:r>
          </a:p>
          <a:p>
            <a:pPr lvl="2" indent="457200"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free(rec);</a:t>
            </a:r>
          </a:p>
          <a:p>
            <a:pPr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Lock / Unloc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Lock / Unlock</a:t>
            </a:r>
          </a:p>
        </p:txBody>
      </p:sp>
      <p:sp>
        <p:nvSpPr>
          <p:cNvPr id="32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25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26" name="API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#include &lt;</a:t>
            </a:r>
            <a:r>
              <a:rPr lang="en-US" sz="2800" dirty="0" err="1">
                <a:latin typeface="Consolas" panose="020B0609020204030204" pitchFamily="49" charset="0"/>
              </a:rPr>
              <a:t>pthread.h</a:t>
            </a:r>
            <a:r>
              <a:rPr lang="en-US" sz="2800" dirty="0">
                <a:latin typeface="Consolas" panose="020B0609020204030204" pitchFamily="49" charset="0"/>
              </a:rPr>
              <a:t>&gt;</a:t>
            </a:r>
          </a:p>
          <a:p>
            <a:pPr marL="0" lvl="0" indent="0">
              <a:buNone/>
            </a:pPr>
            <a:r>
              <a:rPr lang="en-US" sz="2800" dirty="0" err="1">
                <a:latin typeface="Consolas" panose="020B0609020204030204" pitchFamily="49" charset="0"/>
              </a:rPr>
              <a:t>int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365C0"/>
                </a:solidFill>
                <a:latin typeface="Consolas" panose="020B0609020204030204" pitchFamily="49" charset="0"/>
              </a:rPr>
              <a:t>pthread_mutex_lock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 err="1">
                <a:latin typeface="Consolas" panose="020B0609020204030204" pitchFamily="49" charset="0"/>
              </a:rPr>
              <a:t>pthread_mutex_t</a:t>
            </a:r>
            <a:r>
              <a:rPr lang="en-US" sz="2800" dirty="0">
                <a:latin typeface="Consolas" panose="020B0609020204030204" pitchFamily="49" charset="0"/>
              </a:rPr>
              <a:t> * </a:t>
            </a:r>
            <a:r>
              <a:rPr lang="en-US" sz="2800" dirty="0" err="1">
                <a:latin typeface="Consolas" panose="020B0609020204030204" pitchFamily="49" charset="0"/>
              </a:rPr>
              <a:t>mutex</a:t>
            </a:r>
            <a:r>
              <a:rPr lang="en-US" sz="2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800" dirty="0" err="1">
                <a:latin typeface="Consolas" panose="020B0609020204030204" pitchFamily="49" charset="0"/>
              </a:rPr>
              <a:t>int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365C0"/>
                </a:solidFill>
                <a:latin typeface="Consolas" panose="020B0609020204030204" pitchFamily="49" charset="0"/>
              </a:rPr>
              <a:t>pthread_mutex_unlock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 err="1">
                <a:latin typeface="Consolas" panose="020B0609020204030204" pitchFamily="49" charset="0"/>
              </a:rPr>
              <a:t>pthread_mutex_t</a:t>
            </a:r>
            <a:r>
              <a:rPr lang="en-US" sz="2800" dirty="0">
                <a:latin typeface="Consolas" panose="020B0609020204030204" pitchFamily="49" charset="0"/>
              </a:rPr>
              <a:t> * </a:t>
            </a:r>
            <a:r>
              <a:rPr lang="en-US" sz="2800" dirty="0" err="1">
                <a:latin typeface="Consolas" panose="020B0609020204030204" pitchFamily="49" charset="0"/>
              </a:rPr>
              <a:t>mutex</a:t>
            </a:r>
            <a:r>
              <a:rPr lang="en-US" sz="2800" dirty="0">
                <a:latin typeface="Consolas" panose="020B0609020204030204" pitchFamily="49" charset="0"/>
              </a:rPr>
              <a:t>);</a:t>
            </a:r>
          </a:p>
          <a:p>
            <a:pPr lvl="1">
              <a:spcBef>
                <a:spcPts val="800"/>
              </a:spcBef>
            </a:pPr>
            <a:r>
              <a:rPr dirty="0"/>
              <a:t>Enter</a:t>
            </a:r>
            <a:r>
              <a:rPr lang="en-US" dirty="0"/>
              <a:t>/</a:t>
            </a:r>
            <a:r>
              <a:rPr dirty="0"/>
              <a:t>leave the critical section. </a:t>
            </a:r>
            <a:r>
              <a:rPr lang="en-US" dirty="0"/>
              <a:t>Wait (asleep!) i</a:t>
            </a:r>
            <a:r>
              <a:rPr dirty="0"/>
              <a:t>f </a:t>
            </a:r>
            <a:r>
              <a:rPr lang="en-US" dirty="0" err="1"/>
              <a:t>mutex</a:t>
            </a:r>
            <a:r>
              <a:rPr lang="en-US" dirty="0"/>
              <a:t> is </a:t>
            </a:r>
            <a:r>
              <a:rPr dirty="0"/>
              <a:t>locked</a:t>
            </a:r>
          </a:p>
          <a:p>
            <a:pPr lvl="1">
              <a:spcBef>
                <a:spcPts val="800"/>
              </a:spcBef>
            </a:pPr>
            <a:r>
              <a:rPr dirty="0"/>
              <a:t>Return value</a:t>
            </a:r>
            <a:r>
              <a:rPr lang="en-US" dirty="0"/>
              <a:t> </a:t>
            </a:r>
            <a:r>
              <a:rPr dirty="0"/>
              <a:t>0 </a:t>
            </a:r>
            <a:r>
              <a:rPr lang="en-US" dirty="0"/>
              <a:t>on success. (</a:t>
            </a:r>
            <a:r>
              <a:rPr dirty="0"/>
              <a:t>≠0</a:t>
            </a:r>
            <a:r>
              <a:rPr lang="en-US" dirty="0"/>
              <a:t>? </a:t>
            </a:r>
            <a:r>
              <a:rPr dirty="0"/>
              <a:t>something went terribly wrong)</a:t>
            </a:r>
          </a:p>
          <a:p>
            <a:pPr>
              <a:spcBef>
                <a:spcPts val="800"/>
              </a:spcBef>
            </a:pPr>
            <a:r>
              <a:rPr dirty="0"/>
              <a:t>Example</a:t>
            </a:r>
          </a:p>
        </p:txBody>
      </p:sp>
      <p:sp>
        <p:nvSpPr>
          <p:cNvPr id="329" name="typedef struct MyRecord {…"/>
          <p:cNvSpPr txBox="1"/>
          <p:nvPr/>
        </p:nvSpPr>
        <p:spPr>
          <a:xfrm>
            <a:off x="1289083" y="5981699"/>
            <a:ext cx="10426633" cy="3149601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typedef</a:t>
            </a:r>
            <a:r>
              <a:rPr dirty="0"/>
              <a:t> </a:t>
            </a:r>
            <a:r>
              <a:rPr dirty="0" err="1"/>
              <a:t>struct</a:t>
            </a:r>
            <a:r>
              <a:rPr dirty="0"/>
              <a:t> </a:t>
            </a:r>
            <a:r>
              <a:rPr dirty="0" err="1"/>
              <a:t>MyRecord</a:t>
            </a:r>
            <a:r>
              <a:rPr dirty="0"/>
              <a:t> {</a:t>
            </a:r>
          </a:p>
          <a:p>
            <a:pPr lvl="1" indent="228600"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</a:t>
            </a:r>
            <a:r>
              <a:rPr dirty="0" err="1"/>
              <a:t>pthread_mutex_t</a:t>
            </a:r>
            <a:r>
              <a:rPr dirty="0"/>
              <a:t>  </a:t>
            </a:r>
            <a:r>
              <a:rPr dirty="0" err="1"/>
              <a:t>myLock</a:t>
            </a:r>
            <a:r>
              <a:rPr dirty="0"/>
              <a:t>;</a:t>
            </a:r>
          </a:p>
          <a:p>
            <a:pPr lvl="1" indent="228600"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</a:t>
            </a:r>
            <a:r>
              <a:rPr dirty="0" err="1"/>
              <a:t>int</a:t>
            </a:r>
            <a:r>
              <a:rPr dirty="0"/>
              <a:t>              </a:t>
            </a:r>
            <a:r>
              <a:rPr dirty="0" err="1"/>
              <a:t>myValue</a:t>
            </a:r>
            <a:r>
              <a:rPr dirty="0"/>
              <a:t>;</a:t>
            </a:r>
          </a:p>
          <a:p>
            <a:pPr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} </a:t>
            </a:r>
            <a:r>
              <a:rPr dirty="0" err="1"/>
              <a:t>MyRec</a:t>
            </a:r>
            <a:r>
              <a:rPr dirty="0"/>
              <a:t>;</a:t>
            </a:r>
          </a:p>
          <a:p>
            <a:pPr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void </a:t>
            </a:r>
            <a:r>
              <a:rPr dirty="0" err="1"/>
              <a:t>incrementRecordValue</a:t>
            </a:r>
            <a:r>
              <a:rPr dirty="0"/>
              <a:t>(</a:t>
            </a:r>
            <a:r>
              <a:rPr dirty="0" err="1"/>
              <a:t>MyRec</a:t>
            </a:r>
            <a:r>
              <a:rPr dirty="0"/>
              <a:t>* rec) {</a:t>
            </a:r>
          </a:p>
          <a:p>
            <a:pPr lvl="2" indent="457200"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pthread_mutex_lock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(&amp;rec-&gt;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myLock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);</a:t>
            </a:r>
          </a:p>
          <a:p>
            <a:pPr lvl="2" indent="457200"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rec-&gt;</a:t>
            </a:r>
            <a:r>
              <a:rPr dirty="0" err="1"/>
              <a:t>myValue</a:t>
            </a:r>
            <a:r>
              <a:rPr dirty="0"/>
              <a:t> = rec-&gt;</a:t>
            </a:r>
            <a:r>
              <a:rPr dirty="0" err="1"/>
              <a:t>myValue</a:t>
            </a:r>
            <a:r>
              <a:rPr dirty="0"/>
              <a:t> + 1;</a:t>
            </a:r>
          </a:p>
          <a:p>
            <a:pPr lvl="2" indent="457200"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pthread_mutex_unlock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(&amp;rec-&gt;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myLock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);</a:t>
            </a:r>
          </a:p>
          <a:p>
            <a:pPr algn="l" defTabSz="457200"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Key Observ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Key Observations</a:t>
            </a:r>
          </a:p>
        </p:txBody>
      </p:sp>
      <p:sp>
        <p:nvSpPr>
          <p:cNvPr id="332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33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34" name="Lock and Unlock come in pair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Lock and Unlock come in pairs</a:t>
            </a:r>
          </a:p>
          <a:p>
            <a:r>
              <a:rPr dirty="0"/>
              <a:t>You need ONE MUTEX per “thing” you wish to protect</a:t>
            </a:r>
          </a:p>
          <a:p>
            <a:pPr lvl="1"/>
            <a:r>
              <a:rPr dirty="0"/>
              <a:t>That’s why we package the integer and the mutex in a struct</a:t>
            </a:r>
          </a:p>
          <a:p>
            <a:pPr lvl="1"/>
            <a:r>
              <a:rPr dirty="0"/>
              <a:t>The mutex protects just that integer </a:t>
            </a:r>
          </a:p>
          <a:p>
            <a:pPr lvl="1"/>
            <a:r>
              <a:rPr dirty="0"/>
              <a:t>And nothing else!</a:t>
            </a:r>
          </a:p>
          <a:p>
            <a:r>
              <a:rPr dirty="0"/>
              <a:t>Lock is </a:t>
            </a:r>
            <a:r>
              <a:rPr b="1" dirty="0">
                <a:solidFill>
                  <a:srgbClr val="0433FF"/>
                </a:solidFill>
              </a:rPr>
              <a:t>BLOCKING</a:t>
            </a:r>
          </a:p>
          <a:p>
            <a:r>
              <a:rPr dirty="0"/>
              <a:t>Critical sections </a:t>
            </a:r>
            <a:r>
              <a:rPr i="1" dirty="0"/>
              <a:t>should be</a:t>
            </a:r>
            <a:r>
              <a:rPr dirty="0"/>
              <a:t> </a:t>
            </a:r>
            <a:r>
              <a:rPr b="1" dirty="0"/>
              <a:t>short</a:t>
            </a:r>
          </a:p>
          <a:p>
            <a:pPr lvl="1"/>
            <a:r>
              <a:rPr dirty="0"/>
              <a:t>Why?</a:t>
            </a:r>
          </a:p>
          <a:p>
            <a:r>
              <a:rPr dirty="0"/>
              <a:t>Locking incurs a </a:t>
            </a:r>
            <a:r>
              <a:rPr b="1" dirty="0"/>
              <a:t>big</a:t>
            </a:r>
            <a:r>
              <a:rPr b="1" i="1" dirty="0"/>
              <a:t> </a:t>
            </a:r>
            <a:r>
              <a:rPr dirty="0"/>
              <a:t>cost</a:t>
            </a:r>
          </a:p>
          <a:p>
            <a:pPr lvl="1"/>
            <a:r>
              <a:rPr dirty="0"/>
              <a:t>Why?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First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</a:t>
            </a:r>
            <a:r>
              <a:rPr dirty="0"/>
              <a:t>xample</a:t>
            </a:r>
            <a:r>
              <a:rPr lang="en-US" dirty="0"/>
              <a:t> 1</a:t>
            </a:r>
            <a:endParaRPr dirty="0"/>
          </a:p>
        </p:txBody>
      </p:sp>
      <p:sp>
        <p:nvSpPr>
          <p:cNvPr id="64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46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647" name="A shared counter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861800" cy="6578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Fix the example we had issue</a:t>
            </a:r>
            <a:endParaRPr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7768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First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</a:t>
            </a:r>
            <a:r>
              <a:rPr dirty="0"/>
              <a:t>xample</a:t>
            </a:r>
            <a:r>
              <a:rPr lang="en-US" dirty="0"/>
              <a:t> 2: counter ADT</a:t>
            </a:r>
            <a:endParaRPr dirty="0"/>
          </a:p>
        </p:txBody>
      </p:sp>
      <p:sp>
        <p:nvSpPr>
          <p:cNvPr id="64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46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647" name="A shared counter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861800" cy="6578600"/>
          </a:xfrm>
          <a:prstGeom prst="rect">
            <a:avLst/>
          </a:prstGeom>
        </p:spPr>
        <p:txBody>
          <a:bodyPr/>
          <a:lstStyle/>
          <a:p>
            <a:r>
              <a:rPr dirty="0"/>
              <a:t>A shared counter</a:t>
            </a:r>
          </a:p>
          <a:p>
            <a:pPr lvl="1"/>
            <a:r>
              <a:rPr dirty="0"/>
              <a:t>That was the driving example</a:t>
            </a:r>
          </a:p>
          <a:p>
            <a:pPr lvl="1"/>
            <a:r>
              <a:rPr dirty="0"/>
              <a:t>Make an ADT pairing</a:t>
            </a:r>
            <a:r>
              <a:rPr lang="en-US" dirty="0"/>
              <a:t> </a:t>
            </a:r>
            <a:r>
              <a:rPr dirty="0"/>
              <a:t>mutex</a:t>
            </a:r>
            <a:r>
              <a:rPr lang="en-US" dirty="0"/>
              <a:t> and </a:t>
            </a:r>
            <a:r>
              <a:rPr dirty="0"/>
              <a:t>counter</a:t>
            </a:r>
          </a:p>
          <a:p>
            <a:pPr lvl="1"/>
            <a:r>
              <a:rPr dirty="0"/>
              <a:t>Have functions to manipulate the ADT</a:t>
            </a:r>
          </a:p>
          <a:p>
            <a:pPr lvl="2"/>
            <a:r>
              <a:rPr dirty="0"/>
              <a:t>increase</a:t>
            </a:r>
          </a:p>
          <a:p>
            <a:pPr lvl="2"/>
            <a:r>
              <a:rPr dirty="0"/>
              <a:t>decrease</a:t>
            </a:r>
          </a:p>
          <a:p>
            <a:pPr lvl="2"/>
            <a:r>
              <a:rPr dirty="0" err="1"/>
              <a:t>resetToZero</a:t>
            </a:r>
            <a:endParaRPr lang="en-US" dirty="0"/>
          </a:p>
          <a:p>
            <a:pPr marL="342900" lvl="1" indent="0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4629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Locking Granular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Example 3: array</a:t>
            </a:r>
            <a:endParaRPr dirty="0"/>
          </a:p>
        </p:txBody>
      </p:sp>
      <p:sp>
        <p:nvSpPr>
          <p:cNvPr id="66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65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666" name="Key decision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11861800" cy="611431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Sharing an array</a:t>
            </a:r>
          </a:p>
          <a:p>
            <a:endParaRPr lang="en-US" dirty="0"/>
          </a:p>
          <a:p>
            <a:r>
              <a:rPr dirty="0"/>
              <a:t>Key decision</a:t>
            </a:r>
            <a:r>
              <a:rPr lang="en-US" dirty="0"/>
              <a:t>: </a:t>
            </a:r>
            <a:r>
              <a:rPr lang="en-US" b="1" dirty="0">
                <a:solidFill>
                  <a:srgbClr val="FF0000"/>
                </a:solidFill>
              </a:rPr>
              <a:t>Locking Granularity</a:t>
            </a:r>
            <a:endParaRPr b="1" dirty="0">
              <a:solidFill>
                <a:srgbClr val="FF0000"/>
              </a:solidFill>
            </a:endParaRPr>
          </a:p>
          <a:p>
            <a:pPr lvl="1"/>
            <a:r>
              <a:rPr dirty="0"/>
              <a:t>Lock the entire structure?</a:t>
            </a:r>
          </a:p>
          <a:p>
            <a:pPr lvl="1"/>
            <a:r>
              <a:rPr dirty="0"/>
              <a:t>Lock individual parts?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7867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Option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Option 1</a:t>
            </a:r>
          </a:p>
        </p:txBody>
      </p:sp>
      <p:sp>
        <p:nvSpPr>
          <p:cNvPr id="670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71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673" name="Rounded Rectangle"/>
          <p:cNvSpPr/>
          <p:nvPr/>
        </p:nvSpPr>
        <p:spPr>
          <a:xfrm>
            <a:off x="2581722" y="4912933"/>
            <a:ext cx="9394093" cy="1479217"/>
          </a:xfrm>
          <a:prstGeom prst="roundRect">
            <a:avLst>
              <a:gd name="adj" fmla="val 15000"/>
            </a:avLst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74" name="Rectangle"/>
          <p:cNvSpPr/>
          <p:nvPr/>
        </p:nvSpPr>
        <p:spPr>
          <a:xfrm>
            <a:off x="3215744" y="5358079"/>
            <a:ext cx="849257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75" name="Rectangle"/>
          <p:cNvSpPr/>
          <p:nvPr/>
        </p:nvSpPr>
        <p:spPr>
          <a:xfrm>
            <a:off x="4064493" y="5358079"/>
            <a:ext cx="849256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76" name="Rectangle"/>
          <p:cNvSpPr/>
          <p:nvPr/>
        </p:nvSpPr>
        <p:spPr>
          <a:xfrm>
            <a:off x="4912833" y="5358079"/>
            <a:ext cx="849256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77" name="Rectangle"/>
          <p:cNvSpPr/>
          <p:nvPr/>
        </p:nvSpPr>
        <p:spPr>
          <a:xfrm>
            <a:off x="5761581" y="5358079"/>
            <a:ext cx="849256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78" name="Rectangle"/>
          <p:cNvSpPr/>
          <p:nvPr/>
        </p:nvSpPr>
        <p:spPr>
          <a:xfrm>
            <a:off x="6609922" y="5358079"/>
            <a:ext cx="849256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79" name="Rectangle"/>
          <p:cNvSpPr/>
          <p:nvPr/>
        </p:nvSpPr>
        <p:spPr>
          <a:xfrm>
            <a:off x="7458670" y="5358079"/>
            <a:ext cx="849256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80" name="Rectangle"/>
          <p:cNvSpPr/>
          <p:nvPr/>
        </p:nvSpPr>
        <p:spPr>
          <a:xfrm>
            <a:off x="8307010" y="5358079"/>
            <a:ext cx="849257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81" name="Rectangle"/>
          <p:cNvSpPr/>
          <p:nvPr/>
        </p:nvSpPr>
        <p:spPr>
          <a:xfrm>
            <a:off x="9155758" y="5358079"/>
            <a:ext cx="849257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pic>
        <p:nvPicPr>
          <p:cNvPr id="682" name="Image" descr="Image"/>
          <p:cNvPicPr>
            <a:picLocks noChangeAspect="1"/>
          </p:cNvPicPr>
          <p:nvPr/>
        </p:nvPicPr>
        <p:blipFill>
          <a:blip r:embed="rId4"/>
          <a:srcRect l="5089" t="18800" r="60871" b="5381"/>
          <a:stretch>
            <a:fillRect/>
          </a:stretch>
        </p:blipFill>
        <p:spPr>
          <a:xfrm rot="19389011">
            <a:off x="11589313" y="5905481"/>
            <a:ext cx="821357" cy="1030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3" extrusionOk="0">
                <a:moveTo>
                  <a:pt x="8445" y="2"/>
                </a:moveTo>
                <a:cubicBezTo>
                  <a:pt x="7549" y="24"/>
                  <a:pt x="6691" y="191"/>
                  <a:pt x="5789" y="516"/>
                </a:cubicBezTo>
                <a:cubicBezTo>
                  <a:pt x="2586" y="1673"/>
                  <a:pt x="1724" y="2963"/>
                  <a:pt x="1465" y="7000"/>
                </a:cubicBezTo>
                <a:cubicBezTo>
                  <a:pt x="1300" y="9572"/>
                  <a:pt x="1210" y="9916"/>
                  <a:pt x="683" y="9918"/>
                </a:cubicBezTo>
                <a:cubicBezTo>
                  <a:pt x="131" y="9920"/>
                  <a:pt x="81" y="10335"/>
                  <a:pt x="17" y="15423"/>
                </a:cubicBezTo>
                <a:cubicBezTo>
                  <a:pt x="-38" y="19760"/>
                  <a:pt x="36" y="20947"/>
                  <a:pt x="381" y="21053"/>
                </a:cubicBezTo>
                <a:cubicBezTo>
                  <a:pt x="622" y="21126"/>
                  <a:pt x="748" y="21282"/>
                  <a:pt x="663" y="21393"/>
                </a:cubicBezTo>
                <a:cubicBezTo>
                  <a:pt x="516" y="21581"/>
                  <a:pt x="17107" y="21559"/>
                  <a:pt x="19280" y="21368"/>
                </a:cubicBezTo>
                <a:cubicBezTo>
                  <a:pt x="19677" y="21333"/>
                  <a:pt x="20672" y="21292"/>
                  <a:pt x="21562" y="21252"/>
                </a:cubicBezTo>
                <a:lnTo>
                  <a:pt x="21562" y="20796"/>
                </a:lnTo>
                <a:cubicBezTo>
                  <a:pt x="20960" y="20755"/>
                  <a:pt x="20457" y="20684"/>
                  <a:pt x="19905" y="20680"/>
                </a:cubicBezTo>
                <a:cubicBezTo>
                  <a:pt x="18548" y="20669"/>
                  <a:pt x="17724" y="20537"/>
                  <a:pt x="17457" y="20282"/>
                </a:cubicBezTo>
                <a:cubicBezTo>
                  <a:pt x="17167" y="20003"/>
                  <a:pt x="17086" y="18509"/>
                  <a:pt x="17165" y="14868"/>
                </a:cubicBezTo>
                <a:cubicBezTo>
                  <a:pt x="17226" y="12102"/>
                  <a:pt x="17188" y="9885"/>
                  <a:pt x="17072" y="9943"/>
                </a:cubicBezTo>
                <a:cubicBezTo>
                  <a:pt x="16531" y="10210"/>
                  <a:pt x="16186" y="9182"/>
                  <a:pt x="16040" y="6867"/>
                </a:cubicBezTo>
                <a:cubicBezTo>
                  <a:pt x="15812" y="3238"/>
                  <a:pt x="14329" y="1208"/>
                  <a:pt x="11310" y="392"/>
                </a:cubicBezTo>
                <a:cubicBezTo>
                  <a:pt x="10276" y="113"/>
                  <a:pt x="9341" y="-19"/>
                  <a:pt x="8445" y="2"/>
                </a:cubicBezTo>
                <a:close/>
                <a:moveTo>
                  <a:pt x="8852" y="1992"/>
                </a:moveTo>
                <a:cubicBezTo>
                  <a:pt x="10524" y="2044"/>
                  <a:pt x="12156" y="2840"/>
                  <a:pt x="13040" y="4222"/>
                </a:cubicBezTo>
                <a:cubicBezTo>
                  <a:pt x="13684" y="5231"/>
                  <a:pt x="13785" y="5749"/>
                  <a:pt x="13707" y="7663"/>
                </a:cubicBezTo>
                <a:lnTo>
                  <a:pt x="13613" y="9918"/>
                </a:lnTo>
                <a:lnTo>
                  <a:pt x="8924" y="9993"/>
                </a:lnTo>
                <a:cubicBezTo>
                  <a:pt x="6347" y="10033"/>
                  <a:pt x="4134" y="9986"/>
                  <a:pt x="4007" y="9885"/>
                </a:cubicBezTo>
                <a:cubicBezTo>
                  <a:pt x="3581" y="9546"/>
                  <a:pt x="3768" y="5284"/>
                  <a:pt x="4247" y="4372"/>
                </a:cubicBezTo>
                <a:cubicBezTo>
                  <a:pt x="4502" y="3885"/>
                  <a:pt x="5272" y="3145"/>
                  <a:pt x="5955" y="2730"/>
                </a:cubicBezTo>
                <a:cubicBezTo>
                  <a:pt x="6835" y="2196"/>
                  <a:pt x="7848" y="1961"/>
                  <a:pt x="8852" y="1992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683" name="Idea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11861800" cy="3203999"/>
          </a:xfrm>
          <a:prstGeom prst="rect">
            <a:avLst/>
          </a:prstGeom>
        </p:spPr>
        <p:txBody>
          <a:bodyPr/>
          <a:lstStyle/>
          <a:p>
            <a:r>
              <a:t>Idea</a:t>
            </a:r>
          </a:p>
          <a:p>
            <a:pPr lvl="1"/>
            <a:r>
              <a:t>Wrap up the array in a structure</a:t>
            </a:r>
          </a:p>
          <a:p>
            <a:pPr lvl="1"/>
            <a:r>
              <a:t>Have a single lock for the whole thing</a:t>
            </a:r>
          </a:p>
          <a:p>
            <a:r>
              <a:t>Issues?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3823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Option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Option 2</a:t>
            </a:r>
          </a:p>
        </p:txBody>
      </p:sp>
      <p:sp>
        <p:nvSpPr>
          <p:cNvPr id="68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87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689" name="Rectangle"/>
          <p:cNvSpPr/>
          <p:nvPr/>
        </p:nvSpPr>
        <p:spPr>
          <a:xfrm>
            <a:off x="3215744" y="5358079"/>
            <a:ext cx="849257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90" name="Rectangle"/>
          <p:cNvSpPr/>
          <p:nvPr/>
        </p:nvSpPr>
        <p:spPr>
          <a:xfrm>
            <a:off x="4064493" y="5358079"/>
            <a:ext cx="849256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91" name="Rectangle"/>
          <p:cNvSpPr/>
          <p:nvPr/>
        </p:nvSpPr>
        <p:spPr>
          <a:xfrm>
            <a:off x="4912833" y="5358079"/>
            <a:ext cx="849256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92" name="Rectangle"/>
          <p:cNvSpPr/>
          <p:nvPr/>
        </p:nvSpPr>
        <p:spPr>
          <a:xfrm>
            <a:off x="5761581" y="5358079"/>
            <a:ext cx="849256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93" name="Rectangle"/>
          <p:cNvSpPr/>
          <p:nvPr/>
        </p:nvSpPr>
        <p:spPr>
          <a:xfrm>
            <a:off x="6609922" y="5358079"/>
            <a:ext cx="849256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94" name="Rectangle"/>
          <p:cNvSpPr/>
          <p:nvPr/>
        </p:nvSpPr>
        <p:spPr>
          <a:xfrm>
            <a:off x="7458670" y="5358079"/>
            <a:ext cx="849256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95" name="Rectangle"/>
          <p:cNvSpPr/>
          <p:nvPr/>
        </p:nvSpPr>
        <p:spPr>
          <a:xfrm>
            <a:off x="8307010" y="5358079"/>
            <a:ext cx="849257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96" name="Rectangle"/>
          <p:cNvSpPr/>
          <p:nvPr/>
        </p:nvSpPr>
        <p:spPr>
          <a:xfrm>
            <a:off x="9155758" y="5358079"/>
            <a:ext cx="849257" cy="588925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97" name="Idea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11861800" cy="3203999"/>
          </a:xfrm>
          <a:prstGeom prst="rect">
            <a:avLst/>
          </a:prstGeom>
        </p:spPr>
        <p:txBody>
          <a:bodyPr/>
          <a:lstStyle/>
          <a:p>
            <a:r>
              <a:rPr dirty="0"/>
              <a:t>Idea</a:t>
            </a:r>
          </a:p>
          <a:p>
            <a:pPr lvl="1"/>
            <a:r>
              <a:rPr dirty="0"/>
              <a:t>Wrap up each value in a structure  (value</a:t>
            </a:r>
            <a:r>
              <a:rPr lang="en-US" dirty="0"/>
              <a:t> +</a:t>
            </a:r>
            <a:r>
              <a:rPr dirty="0"/>
              <a:t> lock)</a:t>
            </a:r>
          </a:p>
          <a:p>
            <a:pPr lvl="1"/>
            <a:r>
              <a:rPr dirty="0"/>
              <a:t>Make an array of </a:t>
            </a:r>
            <a:r>
              <a:rPr lang="en-US" dirty="0"/>
              <a:t>structures</a:t>
            </a:r>
            <a:endParaRPr dirty="0"/>
          </a:p>
          <a:p>
            <a:r>
              <a:rPr dirty="0"/>
              <a:t>Issues?</a:t>
            </a:r>
          </a:p>
        </p:txBody>
      </p:sp>
      <p:sp>
        <p:nvSpPr>
          <p:cNvPr id="698" name="Rectangle"/>
          <p:cNvSpPr/>
          <p:nvPr/>
        </p:nvSpPr>
        <p:spPr>
          <a:xfrm>
            <a:off x="3660479" y="5358079"/>
            <a:ext cx="404522" cy="588925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99" name="Rectangle"/>
          <p:cNvSpPr/>
          <p:nvPr/>
        </p:nvSpPr>
        <p:spPr>
          <a:xfrm>
            <a:off x="4521927" y="5358079"/>
            <a:ext cx="404522" cy="588925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00" name="Rectangle"/>
          <p:cNvSpPr/>
          <p:nvPr/>
        </p:nvSpPr>
        <p:spPr>
          <a:xfrm>
            <a:off x="5370268" y="5358079"/>
            <a:ext cx="404521" cy="588925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01" name="Rectangle"/>
          <p:cNvSpPr/>
          <p:nvPr/>
        </p:nvSpPr>
        <p:spPr>
          <a:xfrm>
            <a:off x="6219016" y="5358079"/>
            <a:ext cx="404521" cy="588925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02" name="Rectangle"/>
          <p:cNvSpPr/>
          <p:nvPr/>
        </p:nvSpPr>
        <p:spPr>
          <a:xfrm>
            <a:off x="7080056" y="5358079"/>
            <a:ext cx="404522" cy="588925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03" name="Rectangle"/>
          <p:cNvSpPr/>
          <p:nvPr/>
        </p:nvSpPr>
        <p:spPr>
          <a:xfrm>
            <a:off x="7909297" y="5358079"/>
            <a:ext cx="404522" cy="588925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04" name="Rectangle"/>
          <p:cNvSpPr/>
          <p:nvPr/>
        </p:nvSpPr>
        <p:spPr>
          <a:xfrm>
            <a:off x="8731842" y="5358079"/>
            <a:ext cx="404521" cy="588925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05" name="Rectangle"/>
          <p:cNvSpPr/>
          <p:nvPr/>
        </p:nvSpPr>
        <p:spPr>
          <a:xfrm>
            <a:off x="9599579" y="5358079"/>
            <a:ext cx="404521" cy="588925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pic>
        <p:nvPicPr>
          <p:cNvPr id="706" name="Image" descr="Image"/>
          <p:cNvPicPr>
            <a:picLocks noChangeAspect="1"/>
          </p:cNvPicPr>
          <p:nvPr/>
        </p:nvPicPr>
        <p:blipFill>
          <a:blip r:embed="rId4"/>
          <a:srcRect l="5083" t="18810" r="60871" b="5358"/>
          <a:stretch>
            <a:fillRect/>
          </a:stretch>
        </p:blipFill>
        <p:spPr>
          <a:xfrm rot="19389011">
            <a:off x="9664492" y="5541784"/>
            <a:ext cx="285576" cy="358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4" extrusionOk="0">
                <a:moveTo>
                  <a:pt x="8437" y="2"/>
                </a:moveTo>
                <a:cubicBezTo>
                  <a:pt x="7541" y="24"/>
                  <a:pt x="6703" y="177"/>
                  <a:pt x="5800" y="503"/>
                </a:cubicBezTo>
                <a:cubicBezTo>
                  <a:pt x="2598" y="1659"/>
                  <a:pt x="1714" y="2953"/>
                  <a:pt x="1455" y="6989"/>
                </a:cubicBezTo>
                <a:cubicBezTo>
                  <a:pt x="1290" y="9561"/>
                  <a:pt x="1202" y="9921"/>
                  <a:pt x="676" y="9923"/>
                </a:cubicBezTo>
                <a:cubicBezTo>
                  <a:pt x="123" y="9925"/>
                  <a:pt x="81" y="10319"/>
                  <a:pt x="17" y="15407"/>
                </a:cubicBezTo>
                <a:cubicBezTo>
                  <a:pt x="-38" y="19743"/>
                  <a:pt x="31" y="20930"/>
                  <a:pt x="376" y="21035"/>
                </a:cubicBezTo>
                <a:cubicBezTo>
                  <a:pt x="617" y="21109"/>
                  <a:pt x="762" y="21282"/>
                  <a:pt x="676" y="21393"/>
                </a:cubicBezTo>
                <a:cubicBezTo>
                  <a:pt x="530" y="21581"/>
                  <a:pt x="17111" y="21560"/>
                  <a:pt x="19285" y="21369"/>
                </a:cubicBezTo>
                <a:cubicBezTo>
                  <a:pt x="19679" y="21334"/>
                  <a:pt x="20677" y="21290"/>
                  <a:pt x="21562" y="21250"/>
                </a:cubicBezTo>
                <a:lnTo>
                  <a:pt x="21562" y="20797"/>
                </a:lnTo>
                <a:cubicBezTo>
                  <a:pt x="20960" y="20756"/>
                  <a:pt x="20466" y="20681"/>
                  <a:pt x="19914" y="20677"/>
                </a:cubicBezTo>
                <a:cubicBezTo>
                  <a:pt x="18556" y="20667"/>
                  <a:pt x="17723" y="20527"/>
                  <a:pt x="17457" y="20272"/>
                </a:cubicBezTo>
                <a:cubicBezTo>
                  <a:pt x="17166" y="19994"/>
                  <a:pt x="17077" y="18499"/>
                  <a:pt x="17157" y="14859"/>
                </a:cubicBezTo>
                <a:cubicBezTo>
                  <a:pt x="17218" y="12093"/>
                  <a:pt x="17184" y="9889"/>
                  <a:pt x="17067" y="9946"/>
                </a:cubicBezTo>
                <a:cubicBezTo>
                  <a:pt x="16527" y="10213"/>
                  <a:pt x="16194" y="9185"/>
                  <a:pt x="16048" y="6870"/>
                </a:cubicBezTo>
                <a:cubicBezTo>
                  <a:pt x="15820" y="3241"/>
                  <a:pt x="14332" y="1199"/>
                  <a:pt x="11314" y="384"/>
                </a:cubicBezTo>
                <a:cubicBezTo>
                  <a:pt x="10279" y="104"/>
                  <a:pt x="9333" y="-19"/>
                  <a:pt x="8437" y="2"/>
                </a:cubicBezTo>
                <a:close/>
                <a:moveTo>
                  <a:pt x="8857" y="1982"/>
                </a:moveTo>
                <a:cubicBezTo>
                  <a:pt x="10528" y="2033"/>
                  <a:pt x="12168" y="2841"/>
                  <a:pt x="13052" y="4223"/>
                </a:cubicBezTo>
                <a:cubicBezTo>
                  <a:pt x="13696" y="5231"/>
                  <a:pt x="13790" y="5743"/>
                  <a:pt x="13711" y="7657"/>
                </a:cubicBezTo>
                <a:lnTo>
                  <a:pt x="13621" y="9923"/>
                </a:lnTo>
                <a:lnTo>
                  <a:pt x="8916" y="9994"/>
                </a:lnTo>
                <a:cubicBezTo>
                  <a:pt x="6339" y="10034"/>
                  <a:pt x="4129" y="9976"/>
                  <a:pt x="4002" y="9875"/>
                </a:cubicBezTo>
                <a:cubicBezTo>
                  <a:pt x="3576" y="9536"/>
                  <a:pt x="3763" y="5278"/>
                  <a:pt x="4242" y="4366"/>
                </a:cubicBezTo>
                <a:cubicBezTo>
                  <a:pt x="4497" y="3880"/>
                  <a:pt x="5266" y="3136"/>
                  <a:pt x="5950" y="2721"/>
                </a:cubicBezTo>
                <a:cubicBezTo>
                  <a:pt x="6829" y="2187"/>
                  <a:pt x="7853" y="1951"/>
                  <a:pt x="8857" y="198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7" name="Image" descr="Image"/>
          <p:cNvPicPr>
            <a:picLocks noChangeAspect="1"/>
          </p:cNvPicPr>
          <p:nvPr/>
        </p:nvPicPr>
        <p:blipFill>
          <a:blip r:embed="rId4"/>
          <a:srcRect l="5083" t="18810" r="60871" b="5358"/>
          <a:stretch>
            <a:fillRect/>
          </a:stretch>
        </p:blipFill>
        <p:spPr>
          <a:xfrm rot="19389011">
            <a:off x="8816152" y="5541784"/>
            <a:ext cx="285576" cy="358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4" extrusionOk="0">
                <a:moveTo>
                  <a:pt x="8437" y="2"/>
                </a:moveTo>
                <a:cubicBezTo>
                  <a:pt x="7541" y="24"/>
                  <a:pt x="6703" y="177"/>
                  <a:pt x="5800" y="503"/>
                </a:cubicBezTo>
                <a:cubicBezTo>
                  <a:pt x="2598" y="1659"/>
                  <a:pt x="1714" y="2953"/>
                  <a:pt x="1455" y="6989"/>
                </a:cubicBezTo>
                <a:cubicBezTo>
                  <a:pt x="1290" y="9561"/>
                  <a:pt x="1202" y="9921"/>
                  <a:pt x="676" y="9923"/>
                </a:cubicBezTo>
                <a:cubicBezTo>
                  <a:pt x="123" y="9925"/>
                  <a:pt x="81" y="10319"/>
                  <a:pt x="17" y="15407"/>
                </a:cubicBezTo>
                <a:cubicBezTo>
                  <a:pt x="-38" y="19743"/>
                  <a:pt x="31" y="20930"/>
                  <a:pt x="376" y="21035"/>
                </a:cubicBezTo>
                <a:cubicBezTo>
                  <a:pt x="617" y="21109"/>
                  <a:pt x="762" y="21282"/>
                  <a:pt x="676" y="21393"/>
                </a:cubicBezTo>
                <a:cubicBezTo>
                  <a:pt x="530" y="21581"/>
                  <a:pt x="17111" y="21560"/>
                  <a:pt x="19285" y="21369"/>
                </a:cubicBezTo>
                <a:cubicBezTo>
                  <a:pt x="19679" y="21334"/>
                  <a:pt x="20677" y="21290"/>
                  <a:pt x="21562" y="21250"/>
                </a:cubicBezTo>
                <a:lnTo>
                  <a:pt x="21562" y="20797"/>
                </a:lnTo>
                <a:cubicBezTo>
                  <a:pt x="20960" y="20756"/>
                  <a:pt x="20466" y="20681"/>
                  <a:pt x="19914" y="20677"/>
                </a:cubicBezTo>
                <a:cubicBezTo>
                  <a:pt x="18556" y="20667"/>
                  <a:pt x="17723" y="20527"/>
                  <a:pt x="17457" y="20272"/>
                </a:cubicBezTo>
                <a:cubicBezTo>
                  <a:pt x="17166" y="19994"/>
                  <a:pt x="17077" y="18499"/>
                  <a:pt x="17157" y="14859"/>
                </a:cubicBezTo>
                <a:cubicBezTo>
                  <a:pt x="17218" y="12093"/>
                  <a:pt x="17184" y="9889"/>
                  <a:pt x="17067" y="9946"/>
                </a:cubicBezTo>
                <a:cubicBezTo>
                  <a:pt x="16527" y="10213"/>
                  <a:pt x="16194" y="9185"/>
                  <a:pt x="16048" y="6870"/>
                </a:cubicBezTo>
                <a:cubicBezTo>
                  <a:pt x="15820" y="3241"/>
                  <a:pt x="14332" y="1199"/>
                  <a:pt x="11314" y="384"/>
                </a:cubicBezTo>
                <a:cubicBezTo>
                  <a:pt x="10279" y="104"/>
                  <a:pt x="9333" y="-19"/>
                  <a:pt x="8437" y="2"/>
                </a:cubicBezTo>
                <a:close/>
                <a:moveTo>
                  <a:pt x="8857" y="1982"/>
                </a:moveTo>
                <a:cubicBezTo>
                  <a:pt x="10528" y="2033"/>
                  <a:pt x="12168" y="2841"/>
                  <a:pt x="13052" y="4223"/>
                </a:cubicBezTo>
                <a:cubicBezTo>
                  <a:pt x="13696" y="5231"/>
                  <a:pt x="13790" y="5743"/>
                  <a:pt x="13711" y="7657"/>
                </a:cubicBezTo>
                <a:lnTo>
                  <a:pt x="13621" y="9923"/>
                </a:lnTo>
                <a:lnTo>
                  <a:pt x="8916" y="9994"/>
                </a:lnTo>
                <a:cubicBezTo>
                  <a:pt x="6339" y="10034"/>
                  <a:pt x="4129" y="9976"/>
                  <a:pt x="4002" y="9875"/>
                </a:cubicBezTo>
                <a:cubicBezTo>
                  <a:pt x="3576" y="9536"/>
                  <a:pt x="3763" y="5278"/>
                  <a:pt x="4242" y="4366"/>
                </a:cubicBezTo>
                <a:cubicBezTo>
                  <a:pt x="4497" y="3880"/>
                  <a:pt x="5266" y="3136"/>
                  <a:pt x="5950" y="2721"/>
                </a:cubicBezTo>
                <a:cubicBezTo>
                  <a:pt x="6829" y="2187"/>
                  <a:pt x="7853" y="1951"/>
                  <a:pt x="8857" y="198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8" name="Image" descr="Image"/>
          <p:cNvPicPr>
            <a:picLocks noChangeAspect="1"/>
          </p:cNvPicPr>
          <p:nvPr/>
        </p:nvPicPr>
        <p:blipFill>
          <a:blip r:embed="rId4"/>
          <a:srcRect l="5083" t="18810" r="60871" b="5358"/>
          <a:stretch>
            <a:fillRect/>
          </a:stretch>
        </p:blipFill>
        <p:spPr>
          <a:xfrm rot="19389011">
            <a:off x="7974100" y="5541784"/>
            <a:ext cx="285576" cy="358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4" extrusionOk="0">
                <a:moveTo>
                  <a:pt x="8437" y="2"/>
                </a:moveTo>
                <a:cubicBezTo>
                  <a:pt x="7541" y="24"/>
                  <a:pt x="6703" y="177"/>
                  <a:pt x="5800" y="503"/>
                </a:cubicBezTo>
                <a:cubicBezTo>
                  <a:pt x="2598" y="1659"/>
                  <a:pt x="1714" y="2953"/>
                  <a:pt x="1455" y="6989"/>
                </a:cubicBezTo>
                <a:cubicBezTo>
                  <a:pt x="1290" y="9561"/>
                  <a:pt x="1202" y="9921"/>
                  <a:pt x="676" y="9923"/>
                </a:cubicBezTo>
                <a:cubicBezTo>
                  <a:pt x="123" y="9925"/>
                  <a:pt x="81" y="10319"/>
                  <a:pt x="17" y="15407"/>
                </a:cubicBezTo>
                <a:cubicBezTo>
                  <a:pt x="-38" y="19743"/>
                  <a:pt x="31" y="20930"/>
                  <a:pt x="376" y="21035"/>
                </a:cubicBezTo>
                <a:cubicBezTo>
                  <a:pt x="617" y="21109"/>
                  <a:pt x="762" y="21282"/>
                  <a:pt x="676" y="21393"/>
                </a:cubicBezTo>
                <a:cubicBezTo>
                  <a:pt x="530" y="21581"/>
                  <a:pt x="17111" y="21560"/>
                  <a:pt x="19285" y="21369"/>
                </a:cubicBezTo>
                <a:cubicBezTo>
                  <a:pt x="19679" y="21334"/>
                  <a:pt x="20677" y="21290"/>
                  <a:pt x="21562" y="21250"/>
                </a:cubicBezTo>
                <a:lnTo>
                  <a:pt x="21562" y="20797"/>
                </a:lnTo>
                <a:cubicBezTo>
                  <a:pt x="20960" y="20756"/>
                  <a:pt x="20466" y="20681"/>
                  <a:pt x="19914" y="20677"/>
                </a:cubicBezTo>
                <a:cubicBezTo>
                  <a:pt x="18556" y="20667"/>
                  <a:pt x="17723" y="20527"/>
                  <a:pt x="17457" y="20272"/>
                </a:cubicBezTo>
                <a:cubicBezTo>
                  <a:pt x="17166" y="19994"/>
                  <a:pt x="17077" y="18499"/>
                  <a:pt x="17157" y="14859"/>
                </a:cubicBezTo>
                <a:cubicBezTo>
                  <a:pt x="17218" y="12093"/>
                  <a:pt x="17184" y="9889"/>
                  <a:pt x="17067" y="9946"/>
                </a:cubicBezTo>
                <a:cubicBezTo>
                  <a:pt x="16527" y="10213"/>
                  <a:pt x="16194" y="9185"/>
                  <a:pt x="16048" y="6870"/>
                </a:cubicBezTo>
                <a:cubicBezTo>
                  <a:pt x="15820" y="3241"/>
                  <a:pt x="14332" y="1199"/>
                  <a:pt x="11314" y="384"/>
                </a:cubicBezTo>
                <a:cubicBezTo>
                  <a:pt x="10279" y="104"/>
                  <a:pt x="9333" y="-19"/>
                  <a:pt x="8437" y="2"/>
                </a:cubicBezTo>
                <a:close/>
                <a:moveTo>
                  <a:pt x="8857" y="1982"/>
                </a:moveTo>
                <a:cubicBezTo>
                  <a:pt x="10528" y="2033"/>
                  <a:pt x="12168" y="2841"/>
                  <a:pt x="13052" y="4223"/>
                </a:cubicBezTo>
                <a:cubicBezTo>
                  <a:pt x="13696" y="5231"/>
                  <a:pt x="13790" y="5743"/>
                  <a:pt x="13711" y="7657"/>
                </a:cubicBezTo>
                <a:lnTo>
                  <a:pt x="13621" y="9923"/>
                </a:lnTo>
                <a:lnTo>
                  <a:pt x="8916" y="9994"/>
                </a:lnTo>
                <a:cubicBezTo>
                  <a:pt x="6339" y="10034"/>
                  <a:pt x="4129" y="9976"/>
                  <a:pt x="4002" y="9875"/>
                </a:cubicBezTo>
                <a:cubicBezTo>
                  <a:pt x="3576" y="9536"/>
                  <a:pt x="3763" y="5278"/>
                  <a:pt x="4242" y="4366"/>
                </a:cubicBezTo>
                <a:cubicBezTo>
                  <a:pt x="4497" y="3880"/>
                  <a:pt x="5266" y="3136"/>
                  <a:pt x="5950" y="2721"/>
                </a:cubicBezTo>
                <a:cubicBezTo>
                  <a:pt x="6829" y="2187"/>
                  <a:pt x="7853" y="1951"/>
                  <a:pt x="8857" y="198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9" name="Image" descr="Image"/>
          <p:cNvPicPr>
            <a:picLocks noChangeAspect="1"/>
          </p:cNvPicPr>
          <p:nvPr/>
        </p:nvPicPr>
        <p:blipFill>
          <a:blip r:embed="rId4"/>
          <a:srcRect l="5083" t="18810" r="60871" b="5358"/>
          <a:stretch>
            <a:fillRect/>
          </a:stretch>
        </p:blipFill>
        <p:spPr>
          <a:xfrm rot="19389011">
            <a:off x="7190052" y="5541784"/>
            <a:ext cx="285576" cy="358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4" extrusionOk="0">
                <a:moveTo>
                  <a:pt x="8437" y="2"/>
                </a:moveTo>
                <a:cubicBezTo>
                  <a:pt x="7541" y="24"/>
                  <a:pt x="6703" y="177"/>
                  <a:pt x="5800" y="503"/>
                </a:cubicBezTo>
                <a:cubicBezTo>
                  <a:pt x="2598" y="1659"/>
                  <a:pt x="1714" y="2953"/>
                  <a:pt x="1455" y="6989"/>
                </a:cubicBezTo>
                <a:cubicBezTo>
                  <a:pt x="1290" y="9561"/>
                  <a:pt x="1202" y="9921"/>
                  <a:pt x="676" y="9923"/>
                </a:cubicBezTo>
                <a:cubicBezTo>
                  <a:pt x="123" y="9925"/>
                  <a:pt x="81" y="10319"/>
                  <a:pt x="17" y="15407"/>
                </a:cubicBezTo>
                <a:cubicBezTo>
                  <a:pt x="-38" y="19743"/>
                  <a:pt x="31" y="20930"/>
                  <a:pt x="376" y="21035"/>
                </a:cubicBezTo>
                <a:cubicBezTo>
                  <a:pt x="617" y="21109"/>
                  <a:pt x="762" y="21282"/>
                  <a:pt x="676" y="21393"/>
                </a:cubicBezTo>
                <a:cubicBezTo>
                  <a:pt x="530" y="21581"/>
                  <a:pt x="17111" y="21560"/>
                  <a:pt x="19285" y="21369"/>
                </a:cubicBezTo>
                <a:cubicBezTo>
                  <a:pt x="19679" y="21334"/>
                  <a:pt x="20677" y="21290"/>
                  <a:pt x="21562" y="21250"/>
                </a:cubicBezTo>
                <a:lnTo>
                  <a:pt x="21562" y="20797"/>
                </a:lnTo>
                <a:cubicBezTo>
                  <a:pt x="20960" y="20756"/>
                  <a:pt x="20466" y="20681"/>
                  <a:pt x="19914" y="20677"/>
                </a:cubicBezTo>
                <a:cubicBezTo>
                  <a:pt x="18556" y="20667"/>
                  <a:pt x="17723" y="20527"/>
                  <a:pt x="17457" y="20272"/>
                </a:cubicBezTo>
                <a:cubicBezTo>
                  <a:pt x="17166" y="19994"/>
                  <a:pt x="17077" y="18499"/>
                  <a:pt x="17157" y="14859"/>
                </a:cubicBezTo>
                <a:cubicBezTo>
                  <a:pt x="17218" y="12093"/>
                  <a:pt x="17184" y="9889"/>
                  <a:pt x="17067" y="9946"/>
                </a:cubicBezTo>
                <a:cubicBezTo>
                  <a:pt x="16527" y="10213"/>
                  <a:pt x="16194" y="9185"/>
                  <a:pt x="16048" y="6870"/>
                </a:cubicBezTo>
                <a:cubicBezTo>
                  <a:pt x="15820" y="3241"/>
                  <a:pt x="14332" y="1199"/>
                  <a:pt x="11314" y="384"/>
                </a:cubicBezTo>
                <a:cubicBezTo>
                  <a:pt x="10279" y="104"/>
                  <a:pt x="9333" y="-19"/>
                  <a:pt x="8437" y="2"/>
                </a:cubicBezTo>
                <a:close/>
                <a:moveTo>
                  <a:pt x="8857" y="1982"/>
                </a:moveTo>
                <a:cubicBezTo>
                  <a:pt x="10528" y="2033"/>
                  <a:pt x="12168" y="2841"/>
                  <a:pt x="13052" y="4223"/>
                </a:cubicBezTo>
                <a:cubicBezTo>
                  <a:pt x="13696" y="5231"/>
                  <a:pt x="13790" y="5743"/>
                  <a:pt x="13711" y="7657"/>
                </a:cubicBezTo>
                <a:lnTo>
                  <a:pt x="13621" y="9923"/>
                </a:lnTo>
                <a:lnTo>
                  <a:pt x="8916" y="9994"/>
                </a:lnTo>
                <a:cubicBezTo>
                  <a:pt x="6339" y="10034"/>
                  <a:pt x="4129" y="9976"/>
                  <a:pt x="4002" y="9875"/>
                </a:cubicBezTo>
                <a:cubicBezTo>
                  <a:pt x="3576" y="9536"/>
                  <a:pt x="3763" y="5278"/>
                  <a:pt x="4242" y="4366"/>
                </a:cubicBezTo>
                <a:cubicBezTo>
                  <a:pt x="4497" y="3880"/>
                  <a:pt x="5266" y="3136"/>
                  <a:pt x="5950" y="2721"/>
                </a:cubicBezTo>
                <a:cubicBezTo>
                  <a:pt x="6829" y="2187"/>
                  <a:pt x="7853" y="1951"/>
                  <a:pt x="8857" y="198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10" name="Image" descr="Image"/>
          <p:cNvPicPr>
            <a:picLocks noChangeAspect="1"/>
          </p:cNvPicPr>
          <p:nvPr/>
        </p:nvPicPr>
        <p:blipFill>
          <a:blip r:embed="rId4"/>
          <a:srcRect l="5083" t="18810" r="60871" b="5358"/>
          <a:stretch>
            <a:fillRect/>
          </a:stretch>
        </p:blipFill>
        <p:spPr>
          <a:xfrm rot="19389011">
            <a:off x="6301556" y="5541784"/>
            <a:ext cx="285576" cy="358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4" extrusionOk="0">
                <a:moveTo>
                  <a:pt x="8437" y="2"/>
                </a:moveTo>
                <a:cubicBezTo>
                  <a:pt x="7541" y="24"/>
                  <a:pt x="6703" y="177"/>
                  <a:pt x="5800" y="503"/>
                </a:cubicBezTo>
                <a:cubicBezTo>
                  <a:pt x="2598" y="1659"/>
                  <a:pt x="1714" y="2953"/>
                  <a:pt x="1455" y="6989"/>
                </a:cubicBezTo>
                <a:cubicBezTo>
                  <a:pt x="1290" y="9561"/>
                  <a:pt x="1202" y="9921"/>
                  <a:pt x="676" y="9923"/>
                </a:cubicBezTo>
                <a:cubicBezTo>
                  <a:pt x="123" y="9925"/>
                  <a:pt x="81" y="10319"/>
                  <a:pt x="17" y="15407"/>
                </a:cubicBezTo>
                <a:cubicBezTo>
                  <a:pt x="-38" y="19743"/>
                  <a:pt x="31" y="20930"/>
                  <a:pt x="376" y="21035"/>
                </a:cubicBezTo>
                <a:cubicBezTo>
                  <a:pt x="617" y="21109"/>
                  <a:pt x="762" y="21282"/>
                  <a:pt x="676" y="21393"/>
                </a:cubicBezTo>
                <a:cubicBezTo>
                  <a:pt x="530" y="21581"/>
                  <a:pt x="17111" y="21560"/>
                  <a:pt x="19285" y="21369"/>
                </a:cubicBezTo>
                <a:cubicBezTo>
                  <a:pt x="19679" y="21334"/>
                  <a:pt x="20677" y="21290"/>
                  <a:pt x="21562" y="21250"/>
                </a:cubicBezTo>
                <a:lnTo>
                  <a:pt x="21562" y="20797"/>
                </a:lnTo>
                <a:cubicBezTo>
                  <a:pt x="20960" y="20756"/>
                  <a:pt x="20466" y="20681"/>
                  <a:pt x="19914" y="20677"/>
                </a:cubicBezTo>
                <a:cubicBezTo>
                  <a:pt x="18556" y="20667"/>
                  <a:pt x="17723" y="20527"/>
                  <a:pt x="17457" y="20272"/>
                </a:cubicBezTo>
                <a:cubicBezTo>
                  <a:pt x="17166" y="19994"/>
                  <a:pt x="17077" y="18499"/>
                  <a:pt x="17157" y="14859"/>
                </a:cubicBezTo>
                <a:cubicBezTo>
                  <a:pt x="17218" y="12093"/>
                  <a:pt x="17184" y="9889"/>
                  <a:pt x="17067" y="9946"/>
                </a:cubicBezTo>
                <a:cubicBezTo>
                  <a:pt x="16527" y="10213"/>
                  <a:pt x="16194" y="9185"/>
                  <a:pt x="16048" y="6870"/>
                </a:cubicBezTo>
                <a:cubicBezTo>
                  <a:pt x="15820" y="3241"/>
                  <a:pt x="14332" y="1199"/>
                  <a:pt x="11314" y="384"/>
                </a:cubicBezTo>
                <a:cubicBezTo>
                  <a:pt x="10279" y="104"/>
                  <a:pt x="9333" y="-19"/>
                  <a:pt x="8437" y="2"/>
                </a:cubicBezTo>
                <a:close/>
                <a:moveTo>
                  <a:pt x="8857" y="1982"/>
                </a:moveTo>
                <a:cubicBezTo>
                  <a:pt x="10528" y="2033"/>
                  <a:pt x="12168" y="2841"/>
                  <a:pt x="13052" y="4223"/>
                </a:cubicBezTo>
                <a:cubicBezTo>
                  <a:pt x="13696" y="5231"/>
                  <a:pt x="13790" y="5743"/>
                  <a:pt x="13711" y="7657"/>
                </a:cubicBezTo>
                <a:lnTo>
                  <a:pt x="13621" y="9923"/>
                </a:lnTo>
                <a:lnTo>
                  <a:pt x="8916" y="9994"/>
                </a:lnTo>
                <a:cubicBezTo>
                  <a:pt x="6339" y="10034"/>
                  <a:pt x="4129" y="9976"/>
                  <a:pt x="4002" y="9875"/>
                </a:cubicBezTo>
                <a:cubicBezTo>
                  <a:pt x="3576" y="9536"/>
                  <a:pt x="3763" y="5278"/>
                  <a:pt x="4242" y="4366"/>
                </a:cubicBezTo>
                <a:cubicBezTo>
                  <a:pt x="4497" y="3880"/>
                  <a:pt x="5266" y="3136"/>
                  <a:pt x="5950" y="2721"/>
                </a:cubicBezTo>
                <a:cubicBezTo>
                  <a:pt x="6829" y="2187"/>
                  <a:pt x="7853" y="1951"/>
                  <a:pt x="8857" y="198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11" name="Image" descr="Image"/>
          <p:cNvPicPr>
            <a:picLocks noChangeAspect="1"/>
          </p:cNvPicPr>
          <p:nvPr/>
        </p:nvPicPr>
        <p:blipFill>
          <a:blip r:embed="rId4"/>
          <a:srcRect l="5083" t="18810" r="60871" b="5358"/>
          <a:stretch>
            <a:fillRect/>
          </a:stretch>
        </p:blipFill>
        <p:spPr>
          <a:xfrm rot="19389011">
            <a:off x="5446662" y="5541784"/>
            <a:ext cx="285576" cy="358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4" extrusionOk="0">
                <a:moveTo>
                  <a:pt x="8437" y="2"/>
                </a:moveTo>
                <a:cubicBezTo>
                  <a:pt x="7541" y="24"/>
                  <a:pt x="6703" y="177"/>
                  <a:pt x="5800" y="503"/>
                </a:cubicBezTo>
                <a:cubicBezTo>
                  <a:pt x="2598" y="1659"/>
                  <a:pt x="1714" y="2953"/>
                  <a:pt x="1455" y="6989"/>
                </a:cubicBezTo>
                <a:cubicBezTo>
                  <a:pt x="1290" y="9561"/>
                  <a:pt x="1202" y="9921"/>
                  <a:pt x="676" y="9923"/>
                </a:cubicBezTo>
                <a:cubicBezTo>
                  <a:pt x="123" y="9925"/>
                  <a:pt x="81" y="10319"/>
                  <a:pt x="17" y="15407"/>
                </a:cubicBezTo>
                <a:cubicBezTo>
                  <a:pt x="-38" y="19743"/>
                  <a:pt x="31" y="20930"/>
                  <a:pt x="376" y="21035"/>
                </a:cubicBezTo>
                <a:cubicBezTo>
                  <a:pt x="617" y="21109"/>
                  <a:pt x="762" y="21282"/>
                  <a:pt x="676" y="21393"/>
                </a:cubicBezTo>
                <a:cubicBezTo>
                  <a:pt x="530" y="21581"/>
                  <a:pt x="17111" y="21560"/>
                  <a:pt x="19285" y="21369"/>
                </a:cubicBezTo>
                <a:cubicBezTo>
                  <a:pt x="19679" y="21334"/>
                  <a:pt x="20677" y="21290"/>
                  <a:pt x="21562" y="21250"/>
                </a:cubicBezTo>
                <a:lnTo>
                  <a:pt x="21562" y="20797"/>
                </a:lnTo>
                <a:cubicBezTo>
                  <a:pt x="20960" y="20756"/>
                  <a:pt x="20466" y="20681"/>
                  <a:pt x="19914" y="20677"/>
                </a:cubicBezTo>
                <a:cubicBezTo>
                  <a:pt x="18556" y="20667"/>
                  <a:pt x="17723" y="20527"/>
                  <a:pt x="17457" y="20272"/>
                </a:cubicBezTo>
                <a:cubicBezTo>
                  <a:pt x="17166" y="19994"/>
                  <a:pt x="17077" y="18499"/>
                  <a:pt x="17157" y="14859"/>
                </a:cubicBezTo>
                <a:cubicBezTo>
                  <a:pt x="17218" y="12093"/>
                  <a:pt x="17184" y="9889"/>
                  <a:pt x="17067" y="9946"/>
                </a:cubicBezTo>
                <a:cubicBezTo>
                  <a:pt x="16527" y="10213"/>
                  <a:pt x="16194" y="9185"/>
                  <a:pt x="16048" y="6870"/>
                </a:cubicBezTo>
                <a:cubicBezTo>
                  <a:pt x="15820" y="3241"/>
                  <a:pt x="14332" y="1199"/>
                  <a:pt x="11314" y="384"/>
                </a:cubicBezTo>
                <a:cubicBezTo>
                  <a:pt x="10279" y="104"/>
                  <a:pt x="9333" y="-19"/>
                  <a:pt x="8437" y="2"/>
                </a:cubicBezTo>
                <a:close/>
                <a:moveTo>
                  <a:pt x="8857" y="1982"/>
                </a:moveTo>
                <a:cubicBezTo>
                  <a:pt x="10528" y="2033"/>
                  <a:pt x="12168" y="2841"/>
                  <a:pt x="13052" y="4223"/>
                </a:cubicBezTo>
                <a:cubicBezTo>
                  <a:pt x="13696" y="5231"/>
                  <a:pt x="13790" y="5743"/>
                  <a:pt x="13711" y="7657"/>
                </a:cubicBezTo>
                <a:lnTo>
                  <a:pt x="13621" y="9923"/>
                </a:lnTo>
                <a:lnTo>
                  <a:pt x="8916" y="9994"/>
                </a:lnTo>
                <a:cubicBezTo>
                  <a:pt x="6339" y="10034"/>
                  <a:pt x="4129" y="9976"/>
                  <a:pt x="4002" y="9875"/>
                </a:cubicBezTo>
                <a:cubicBezTo>
                  <a:pt x="3576" y="9536"/>
                  <a:pt x="3763" y="5278"/>
                  <a:pt x="4242" y="4366"/>
                </a:cubicBezTo>
                <a:cubicBezTo>
                  <a:pt x="4497" y="3880"/>
                  <a:pt x="5266" y="3136"/>
                  <a:pt x="5950" y="2721"/>
                </a:cubicBezTo>
                <a:cubicBezTo>
                  <a:pt x="6829" y="2187"/>
                  <a:pt x="7853" y="1951"/>
                  <a:pt x="8857" y="198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12" name="Image" descr="Image"/>
          <p:cNvPicPr>
            <a:picLocks noChangeAspect="1"/>
          </p:cNvPicPr>
          <p:nvPr/>
        </p:nvPicPr>
        <p:blipFill>
          <a:blip r:embed="rId4"/>
          <a:srcRect l="5083" t="18810" r="60871" b="5358"/>
          <a:stretch>
            <a:fillRect/>
          </a:stretch>
        </p:blipFill>
        <p:spPr>
          <a:xfrm rot="19389011">
            <a:off x="3703272" y="5541784"/>
            <a:ext cx="285576" cy="358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4" extrusionOk="0">
                <a:moveTo>
                  <a:pt x="8437" y="2"/>
                </a:moveTo>
                <a:cubicBezTo>
                  <a:pt x="7541" y="24"/>
                  <a:pt x="6703" y="177"/>
                  <a:pt x="5800" y="503"/>
                </a:cubicBezTo>
                <a:cubicBezTo>
                  <a:pt x="2598" y="1659"/>
                  <a:pt x="1714" y="2953"/>
                  <a:pt x="1455" y="6989"/>
                </a:cubicBezTo>
                <a:cubicBezTo>
                  <a:pt x="1290" y="9561"/>
                  <a:pt x="1202" y="9921"/>
                  <a:pt x="676" y="9923"/>
                </a:cubicBezTo>
                <a:cubicBezTo>
                  <a:pt x="123" y="9925"/>
                  <a:pt x="81" y="10319"/>
                  <a:pt x="17" y="15407"/>
                </a:cubicBezTo>
                <a:cubicBezTo>
                  <a:pt x="-38" y="19743"/>
                  <a:pt x="31" y="20930"/>
                  <a:pt x="376" y="21035"/>
                </a:cubicBezTo>
                <a:cubicBezTo>
                  <a:pt x="617" y="21109"/>
                  <a:pt x="762" y="21282"/>
                  <a:pt x="676" y="21393"/>
                </a:cubicBezTo>
                <a:cubicBezTo>
                  <a:pt x="530" y="21581"/>
                  <a:pt x="17111" y="21560"/>
                  <a:pt x="19285" y="21369"/>
                </a:cubicBezTo>
                <a:cubicBezTo>
                  <a:pt x="19679" y="21334"/>
                  <a:pt x="20677" y="21290"/>
                  <a:pt x="21562" y="21250"/>
                </a:cubicBezTo>
                <a:lnTo>
                  <a:pt x="21562" y="20797"/>
                </a:lnTo>
                <a:cubicBezTo>
                  <a:pt x="20960" y="20756"/>
                  <a:pt x="20466" y="20681"/>
                  <a:pt x="19914" y="20677"/>
                </a:cubicBezTo>
                <a:cubicBezTo>
                  <a:pt x="18556" y="20667"/>
                  <a:pt x="17723" y="20527"/>
                  <a:pt x="17457" y="20272"/>
                </a:cubicBezTo>
                <a:cubicBezTo>
                  <a:pt x="17166" y="19994"/>
                  <a:pt x="17077" y="18499"/>
                  <a:pt x="17157" y="14859"/>
                </a:cubicBezTo>
                <a:cubicBezTo>
                  <a:pt x="17218" y="12093"/>
                  <a:pt x="17184" y="9889"/>
                  <a:pt x="17067" y="9946"/>
                </a:cubicBezTo>
                <a:cubicBezTo>
                  <a:pt x="16527" y="10213"/>
                  <a:pt x="16194" y="9185"/>
                  <a:pt x="16048" y="6870"/>
                </a:cubicBezTo>
                <a:cubicBezTo>
                  <a:pt x="15820" y="3241"/>
                  <a:pt x="14332" y="1199"/>
                  <a:pt x="11314" y="384"/>
                </a:cubicBezTo>
                <a:cubicBezTo>
                  <a:pt x="10279" y="104"/>
                  <a:pt x="9333" y="-19"/>
                  <a:pt x="8437" y="2"/>
                </a:cubicBezTo>
                <a:close/>
                <a:moveTo>
                  <a:pt x="8857" y="1982"/>
                </a:moveTo>
                <a:cubicBezTo>
                  <a:pt x="10528" y="2033"/>
                  <a:pt x="12168" y="2841"/>
                  <a:pt x="13052" y="4223"/>
                </a:cubicBezTo>
                <a:cubicBezTo>
                  <a:pt x="13696" y="5231"/>
                  <a:pt x="13790" y="5743"/>
                  <a:pt x="13711" y="7657"/>
                </a:cubicBezTo>
                <a:lnTo>
                  <a:pt x="13621" y="9923"/>
                </a:lnTo>
                <a:lnTo>
                  <a:pt x="8916" y="9994"/>
                </a:lnTo>
                <a:cubicBezTo>
                  <a:pt x="6339" y="10034"/>
                  <a:pt x="4129" y="9976"/>
                  <a:pt x="4002" y="9875"/>
                </a:cubicBezTo>
                <a:cubicBezTo>
                  <a:pt x="3576" y="9536"/>
                  <a:pt x="3763" y="5278"/>
                  <a:pt x="4242" y="4366"/>
                </a:cubicBezTo>
                <a:cubicBezTo>
                  <a:pt x="4497" y="3880"/>
                  <a:pt x="5266" y="3136"/>
                  <a:pt x="5950" y="2721"/>
                </a:cubicBezTo>
                <a:cubicBezTo>
                  <a:pt x="6829" y="2187"/>
                  <a:pt x="7853" y="1951"/>
                  <a:pt x="8857" y="198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13" name="Image" descr="Image"/>
          <p:cNvPicPr>
            <a:picLocks noChangeAspect="1"/>
          </p:cNvPicPr>
          <p:nvPr/>
        </p:nvPicPr>
        <p:blipFill>
          <a:blip r:embed="rId4"/>
          <a:srcRect l="5083" t="18810" r="60871" b="5358"/>
          <a:stretch>
            <a:fillRect/>
          </a:stretch>
        </p:blipFill>
        <p:spPr>
          <a:xfrm rot="19389011">
            <a:off x="4581317" y="5541784"/>
            <a:ext cx="285576" cy="358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4" extrusionOk="0">
                <a:moveTo>
                  <a:pt x="8437" y="2"/>
                </a:moveTo>
                <a:cubicBezTo>
                  <a:pt x="7541" y="24"/>
                  <a:pt x="6703" y="177"/>
                  <a:pt x="5800" y="503"/>
                </a:cubicBezTo>
                <a:cubicBezTo>
                  <a:pt x="2598" y="1659"/>
                  <a:pt x="1714" y="2953"/>
                  <a:pt x="1455" y="6989"/>
                </a:cubicBezTo>
                <a:cubicBezTo>
                  <a:pt x="1290" y="9561"/>
                  <a:pt x="1202" y="9921"/>
                  <a:pt x="676" y="9923"/>
                </a:cubicBezTo>
                <a:cubicBezTo>
                  <a:pt x="123" y="9925"/>
                  <a:pt x="81" y="10319"/>
                  <a:pt x="17" y="15407"/>
                </a:cubicBezTo>
                <a:cubicBezTo>
                  <a:pt x="-38" y="19743"/>
                  <a:pt x="31" y="20930"/>
                  <a:pt x="376" y="21035"/>
                </a:cubicBezTo>
                <a:cubicBezTo>
                  <a:pt x="617" y="21109"/>
                  <a:pt x="762" y="21282"/>
                  <a:pt x="676" y="21393"/>
                </a:cubicBezTo>
                <a:cubicBezTo>
                  <a:pt x="530" y="21581"/>
                  <a:pt x="17111" y="21560"/>
                  <a:pt x="19285" y="21369"/>
                </a:cubicBezTo>
                <a:cubicBezTo>
                  <a:pt x="19679" y="21334"/>
                  <a:pt x="20677" y="21290"/>
                  <a:pt x="21562" y="21250"/>
                </a:cubicBezTo>
                <a:lnTo>
                  <a:pt x="21562" y="20797"/>
                </a:lnTo>
                <a:cubicBezTo>
                  <a:pt x="20960" y="20756"/>
                  <a:pt x="20466" y="20681"/>
                  <a:pt x="19914" y="20677"/>
                </a:cubicBezTo>
                <a:cubicBezTo>
                  <a:pt x="18556" y="20667"/>
                  <a:pt x="17723" y="20527"/>
                  <a:pt x="17457" y="20272"/>
                </a:cubicBezTo>
                <a:cubicBezTo>
                  <a:pt x="17166" y="19994"/>
                  <a:pt x="17077" y="18499"/>
                  <a:pt x="17157" y="14859"/>
                </a:cubicBezTo>
                <a:cubicBezTo>
                  <a:pt x="17218" y="12093"/>
                  <a:pt x="17184" y="9889"/>
                  <a:pt x="17067" y="9946"/>
                </a:cubicBezTo>
                <a:cubicBezTo>
                  <a:pt x="16527" y="10213"/>
                  <a:pt x="16194" y="9185"/>
                  <a:pt x="16048" y="6870"/>
                </a:cubicBezTo>
                <a:cubicBezTo>
                  <a:pt x="15820" y="3241"/>
                  <a:pt x="14332" y="1199"/>
                  <a:pt x="11314" y="384"/>
                </a:cubicBezTo>
                <a:cubicBezTo>
                  <a:pt x="10279" y="104"/>
                  <a:pt x="9333" y="-19"/>
                  <a:pt x="8437" y="2"/>
                </a:cubicBezTo>
                <a:close/>
                <a:moveTo>
                  <a:pt x="8857" y="1982"/>
                </a:moveTo>
                <a:cubicBezTo>
                  <a:pt x="10528" y="2033"/>
                  <a:pt x="12168" y="2841"/>
                  <a:pt x="13052" y="4223"/>
                </a:cubicBezTo>
                <a:cubicBezTo>
                  <a:pt x="13696" y="5231"/>
                  <a:pt x="13790" y="5743"/>
                  <a:pt x="13711" y="7657"/>
                </a:cubicBezTo>
                <a:lnTo>
                  <a:pt x="13621" y="9923"/>
                </a:lnTo>
                <a:lnTo>
                  <a:pt x="8916" y="9994"/>
                </a:lnTo>
                <a:cubicBezTo>
                  <a:pt x="6339" y="10034"/>
                  <a:pt x="4129" y="9976"/>
                  <a:pt x="4002" y="9875"/>
                </a:cubicBezTo>
                <a:cubicBezTo>
                  <a:pt x="3576" y="9536"/>
                  <a:pt x="3763" y="5278"/>
                  <a:pt x="4242" y="4366"/>
                </a:cubicBezTo>
                <a:cubicBezTo>
                  <a:pt x="4497" y="3880"/>
                  <a:pt x="5266" y="3136"/>
                  <a:pt x="5950" y="2721"/>
                </a:cubicBezTo>
                <a:cubicBezTo>
                  <a:pt x="6829" y="2187"/>
                  <a:pt x="7853" y="1951"/>
                  <a:pt x="8857" y="1982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7796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Study the remaining slides yourself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4011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Aside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mutex_trylock</a:t>
            </a:r>
            <a:r>
              <a:rPr lang="en-US" dirty="0"/>
              <a:t>()</a:t>
            </a:r>
          </a:p>
        </p:txBody>
      </p:sp>
      <p:sp>
        <p:nvSpPr>
          <p:cNvPr id="340" name="There is one more API…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</a:rPr>
              <a:t>pthread.h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int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pthread_mutex_trylock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pthread_mutex_t</a:t>
            </a:r>
            <a:r>
              <a:rPr lang="en-US" dirty="0">
                <a:latin typeface="Consolas" panose="020B0609020204030204" pitchFamily="49" charset="0"/>
              </a:rPr>
              <a:t> *mutex);</a:t>
            </a:r>
          </a:p>
          <a:p>
            <a:endParaRPr lang="en-US" dirty="0"/>
          </a:p>
          <a:p>
            <a:pPr lvl="1"/>
            <a:r>
              <a:rPr lang="en-US" dirty="0"/>
              <a:t>If the mutex is not locked, it will succeed and lock</a:t>
            </a:r>
          </a:p>
          <a:p>
            <a:pPr lvl="1"/>
            <a:r>
              <a:rPr lang="en-US" dirty="0"/>
              <a:t>If the mutex is already locked</a:t>
            </a:r>
          </a:p>
          <a:p>
            <a:pPr lvl="2"/>
            <a:r>
              <a:rPr lang="en-US" dirty="0"/>
              <a:t>It will NOT block</a:t>
            </a:r>
          </a:p>
          <a:p>
            <a:pPr lvl="2"/>
            <a:r>
              <a:rPr lang="en-US" dirty="0"/>
              <a:t>It will return an error code</a:t>
            </a:r>
          </a:p>
          <a:p>
            <a:r>
              <a:rPr lang="en-US" dirty="0"/>
              <a:t>Purpose</a:t>
            </a:r>
          </a:p>
          <a:p>
            <a:pPr lvl="1"/>
            <a:r>
              <a:rPr lang="en-US" dirty="0"/>
              <a:t>Mix breed. It allows polling before blocking. </a:t>
            </a:r>
          </a:p>
          <a:p>
            <a:pPr lvl="2"/>
            <a:r>
              <a:rPr lang="en-US" dirty="0"/>
              <a:t>Sometimes, it is fine to use the shared resource later</a:t>
            </a:r>
          </a:p>
        </p:txBody>
      </p:sp>
      <p:sp>
        <p:nvSpPr>
          <p:cNvPr id="338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39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7089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Amdahl’s Law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959601" y="8068591"/>
                <a:ext cx="4676172" cy="106747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1" i="1" u="none" strike="noStrike" cap="none" spc="0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 Light"/>
                  </a:rPr>
                  <a:t>Speedup</a:t>
                </a:r>
                <a14:m>
                  <m:oMath xmlns:m="http://schemas.openxmlformats.org/officeDocument/2006/math">
                    <m:r>
                      <a:rPr kumimoji="0" lang="en-US" sz="4000" b="1" i="1" u="none" strike="noStrike" cap="none" spc="0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FillTx/>
                        <a:latin typeface="Cambria Math"/>
                        <a:sym typeface="Helvetica Neue Light"/>
                      </a:rPr>
                      <m:t>=</m:t>
                    </m:r>
                    <m:f>
                      <m:fPr>
                        <m:ctrlPr>
                          <a:rPr kumimoji="0" lang="en-US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Light"/>
                          </a:rPr>
                        </m:ctrlPr>
                      </m:fPr>
                      <m:num>
                        <m:r>
                          <a:rPr kumimoji="0" lang="en-US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FillTx/>
                            <a:latin typeface="Cambria Math"/>
                            <a:sym typeface="Helvetica Neue Light"/>
                          </a:rPr>
                          <m:t>𝟏</m:t>
                        </m:r>
                      </m:num>
                      <m:den>
                        <m:d>
                          <m:dPr>
                            <m:ctrlPr>
                              <a:rPr kumimoji="0" lang="en-US" sz="40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Light"/>
                              </a:rPr>
                            </m:ctrlPr>
                          </m:dPr>
                          <m:e>
                            <m:r>
                              <a:rPr kumimoji="0" lang="en-US" sz="40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/>
                                <a:sym typeface="Helvetica Neue Light"/>
                              </a:rPr>
                              <m:t>𝟏</m:t>
                            </m:r>
                            <m:r>
                              <a:rPr kumimoji="0" lang="en-US" sz="40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/>
                                <a:sym typeface="Helvetica Neue Light"/>
                              </a:rPr>
                              <m:t>−</m:t>
                            </m:r>
                            <m:r>
                              <a:rPr kumimoji="0" lang="en-US" sz="4000" b="1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/>
                                <a:sym typeface="Helvetica Neue Light"/>
                              </a:rPr>
                              <m:t>𝒑</m:t>
                            </m:r>
                          </m:e>
                        </m:d>
                        <m:r>
                          <a:rPr kumimoji="0" lang="en-US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FillTx/>
                            <a:latin typeface="Cambria Math"/>
                            <a:sym typeface="Helvetica Neue Light"/>
                          </a:rPr>
                          <m:t>+</m:t>
                        </m:r>
                        <m:r>
                          <a:rPr kumimoji="0" lang="en-US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FillTx/>
                            <a:latin typeface="Cambria Math"/>
                            <a:sym typeface="Helvetica Neue Light"/>
                          </a:rPr>
                          <m:t>𝒑</m:t>
                        </m:r>
                        <m:r>
                          <a:rPr kumimoji="0" lang="en-US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FillTx/>
                            <a:latin typeface="Cambria Math"/>
                            <a:sym typeface="Helvetica Neue Light"/>
                          </a:rPr>
                          <m:t>/</m:t>
                        </m:r>
                        <m:r>
                          <a:rPr kumimoji="0" lang="en-US" sz="40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FillTx/>
                            <a:latin typeface="Cambria Math"/>
                            <a:sym typeface="Helvetica Neue Light"/>
                          </a:rPr>
                          <m:t>𝒏</m:t>
                        </m:r>
                      </m:den>
                    </m:f>
                  </m:oMath>
                </a14:m>
                <a:endParaRPr kumimoji="0" lang="en-US" sz="40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sym typeface="Helvetica Neue Ligh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601" y="8068591"/>
                <a:ext cx="4676172" cy="1067472"/>
              </a:xfrm>
              <a:prstGeom prst="rect">
                <a:avLst/>
              </a:prstGeom>
              <a:blipFill rotWithShape="0">
                <a:blip r:embed="rId2"/>
                <a:stretch>
                  <a:fillRect l="-2086" b="-342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71500" y="3462010"/>
            <a:ext cx="2882900" cy="600164"/>
          </a:xfrm>
          <a:prstGeom prst="rect">
            <a:avLst/>
          </a:prstGeom>
          <a:solidFill>
            <a:schemeClr val="accent5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Serial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4400" y="3462010"/>
            <a:ext cx="8001000" cy="600164"/>
          </a:xfrm>
          <a:prstGeom prst="rect">
            <a:avLst/>
          </a:prstGeom>
          <a:solidFill>
            <a:schemeClr val="accent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Serial code that</a:t>
            </a:r>
            <a:r>
              <a:rPr kumimoji="0" lang="en-US" sz="34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 can be p</a:t>
            </a:r>
            <a:r>
              <a:rPr kumimoji="0" lang="en-US" sz="3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arallelized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8800" y="6738610"/>
            <a:ext cx="2882900" cy="600164"/>
          </a:xfrm>
          <a:prstGeom prst="rect">
            <a:avLst/>
          </a:prstGeom>
          <a:solidFill>
            <a:schemeClr val="accent5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Serial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1700" y="6738610"/>
            <a:ext cx="2984500" cy="600164"/>
          </a:xfrm>
          <a:prstGeom prst="rect">
            <a:avLst/>
          </a:prstGeom>
          <a:solidFill>
            <a:schemeClr val="accent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400" dirty="0">
                <a:solidFill>
                  <a:srgbClr val="000000"/>
                </a:solidFill>
              </a:rPr>
              <a:t>Parallel c</a:t>
            </a:r>
            <a:r>
              <a:rPr kumimoji="0" lang="en-US" sz="34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ode</a:t>
            </a:r>
            <a:endParaRPr kumimoji="0" lang="en-US" sz="3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89544" y="6679619"/>
            <a:ext cx="5397500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n CPU cores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71500" y="3124200"/>
            <a:ext cx="10883900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headEnd type="arrow" w="med" len="med"/>
            <a:tailEnd type="arrow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/>
          <p:cNvSpPr txBox="1"/>
          <p:nvPr/>
        </p:nvSpPr>
        <p:spPr>
          <a:xfrm>
            <a:off x="5792056" y="2406055"/>
            <a:ext cx="387927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6990" y="4082455"/>
            <a:ext cx="387928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p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73373" y="4082455"/>
            <a:ext cx="844783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1-p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68800" y="7473245"/>
            <a:ext cx="815929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solidFill>
                  <a:srgbClr val="000000"/>
                </a:solidFill>
              </a:rPr>
              <a:t>p/n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73200" y="7467600"/>
            <a:ext cx="844783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</a:rPr>
              <a:t>1-p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 flipH="1">
            <a:off x="6426200" y="4062174"/>
            <a:ext cx="5029200" cy="2676436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/>
          <p:cNvCxnSpPr/>
          <p:nvPr/>
        </p:nvCxnSpPr>
        <p:spPr>
          <a:xfrm>
            <a:off x="3441700" y="4082455"/>
            <a:ext cx="12700" cy="2656155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/>
          <p:cNvCxnSpPr/>
          <p:nvPr/>
        </p:nvCxnSpPr>
        <p:spPr>
          <a:xfrm>
            <a:off x="568513" y="4096871"/>
            <a:ext cx="12700" cy="2656155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22679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Practical speedup lower due to overhead  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462010"/>
            <a:ext cx="2882900" cy="600164"/>
          </a:xfrm>
          <a:prstGeom prst="rect">
            <a:avLst/>
          </a:prstGeom>
          <a:solidFill>
            <a:schemeClr val="accent5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Serial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4400" y="3462010"/>
            <a:ext cx="8001000" cy="600164"/>
          </a:xfrm>
          <a:prstGeom prst="rect">
            <a:avLst/>
          </a:prstGeom>
          <a:solidFill>
            <a:schemeClr val="accent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Serial code that</a:t>
            </a:r>
            <a:r>
              <a:rPr kumimoji="0" lang="en-US" sz="34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 can be p</a:t>
            </a:r>
            <a:r>
              <a:rPr kumimoji="0" lang="en-US" sz="3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arallelized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8800" y="6741225"/>
            <a:ext cx="3631618" cy="600164"/>
          </a:xfrm>
          <a:prstGeom prst="rect">
            <a:avLst/>
          </a:prstGeom>
          <a:solidFill>
            <a:schemeClr val="accent5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Serial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0418" y="6740321"/>
            <a:ext cx="2984500" cy="600164"/>
          </a:xfrm>
          <a:prstGeom prst="rect">
            <a:avLst/>
          </a:prstGeom>
          <a:solidFill>
            <a:schemeClr val="accent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400" dirty="0">
                <a:solidFill>
                  <a:srgbClr val="000000"/>
                </a:solidFill>
              </a:rPr>
              <a:t>Parallel c</a:t>
            </a:r>
            <a:r>
              <a:rPr kumimoji="0" lang="en-US" sz="34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ode</a:t>
            </a:r>
            <a:endParaRPr kumimoji="0" lang="en-US" sz="3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89544" y="6679619"/>
            <a:ext cx="5397500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n CPU cores</a:t>
            </a:r>
          </a:p>
        </p:txBody>
      </p:sp>
      <p:cxnSp>
        <p:nvCxnSpPr>
          <p:cNvPr id="19" name="Straight Connector 18"/>
          <p:cNvCxnSpPr/>
          <p:nvPr/>
        </p:nvCxnSpPr>
        <p:spPr>
          <a:xfrm flipH="1">
            <a:off x="7174918" y="4062174"/>
            <a:ext cx="4280482" cy="2678147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/>
          <p:cNvCxnSpPr/>
          <p:nvPr/>
        </p:nvCxnSpPr>
        <p:spPr>
          <a:xfrm>
            <a:off x="3441700" y="4082455"/>
            <a:ext cx="748718" cy="2681616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Connector 34"/>
          <p:cNvCxnSpPr/>
          <p:nvPr/>
        </p:nvCxnSpPr>
        <p:spPr>
          <a:xfrm>
            <a:off x="568513" y="4096871"/>
            <a:ext cx="12700" cy="2656155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979165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Mutex Attribute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Mutex Attributes?</a:t>
            </a:r>
          </a:p>
        </p:txBody>
      </p:sp>
      <p:sp>
        <p:nvSpPr>
          <p:cNvPr id="34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47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48" name="An optional argument to create a mutex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</a:t>
            </a:r>
            <a:r>
              <a:rPr dirty="0"/>
              <a:t> value of type 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pthread_mutexattr_t</a:t>
            </a:r>
            <a:endParaRPr lang="en-US" dirty="0">
              <a:latin typeface="Courier"/>
              <a:ea typeface="Courier"/>
              <a:cs typeface="Courier"/>
              <a:sym typeface="Courier"/>
            </a:endParaRPr>
          </a:p>
          <a:p>
            <a:pPr lvl="1"/>
            <a:r>
              <a:rPr lang="en-US" dirty="0"/>
              <a:t>An optional argument to create a mutex</a:t>
            </a:r>
            <a:endParaRPr dirty="0">
              <a:latin typeface="Courier"/>
              <a:ea typeface="Courier"/>
              <a:cs typeface="Courier"/>
              <a:sym typeface="Courier"/>
            </a:endParaRPr>
          </a:p>
          <a:p>
            <a:r>
              <a:rPr dirty="0"/>
              <a:t>APIs to</a:t>
            </a:r>
          </a:p>
          <a:p>
            <a:pPr lvl="1"/>
            <a:r>
              <a:rPr dirty="0"/>
              <a:t>initialize attribute record</a:t>
            </a:r>
            <a:r>
              <a:rPr lang="en-US" dirty="0"/>
              <a:t> (</a:t>
            </a:r>
            <a:r>
              <a:rPr lang="en-US" b="1" dirty="0" err="1"/>
              <a:t>pthread_mutexattr_init</a:t>
            </a:r>
            <a:r>
              <a:rPr lang="en-US" b="1" dirty="0"/>
              <a:t>())</a:t>
            </a:r>
            <a:endParaRPr dirty="0"/>
          </a:p>
          <a:p>
            <a:pPr lvl="1"/>
            <a:r>
              <a:rPr dirty="0"/>
              <a:t>destroy attribute record</a:t>
            </a:r>
            <a:r>
              <a:rPr lang="en-US" dirty="0"/>
              <a:t> (</a:t>
            </a:r>
            <a:r>
              <a:rPr lang="en-US" b="1" dirty="0" err="1"/>
              <a:t>pthread_mutexattr_destroy</a:t>
            </a:r>
            <a:r>
              <a:rPr lang="en-US" b="1" dirty="0"/>
              <a:t>())</a:t>
            </a:r>
            <a:endParaRPr dirty="0"/>
          </a:p>
          <a:p>
            <a:pPr lvl="1"/>
            <a:r>
              <a:rPr dirty="0"/>
              <a:t>modify an attribute in attribute record</a:t>
            </a:r>
            <a:r>
              <a:rPr lang="en-US" dirty="0"/>
              <a:t> (set type, get type, etc.)</a:t>
            </a:r>
            <a:endParaRPr dirty="0"/>
          </a:p>
          <a:p>
            <a:r>
              <a:rPr dirty="0"/>
              <a:t>Key property:  </a:t>
            </a:r>
            <a:r>
              <a:rPr dirty="0" err="1"/>
              <a:t>mutex</a:t>
            </a:r>
            <a:r>
              <a:rPr dirty="0"/>
              <a:t> </a:t>
            </a:r>
            <a:r>
              <a:rPr b="1" dirty="0"/>
              <a:t>TYPE</a:t>
            </a:r>
            <a:endParaRPr lang="en-US" b="1" dirty="0"/>
          </a:p>
          <a:p>
            <a:pPr lvl="1"/>
            <a:r>
              <a:rPr lang="en-US" dirty="0"/>
              <a:t>How to deal with recursive lock? </a:t>
            </a:r>
          </a:p>
          <a:p>
            <a:pPr lvl="1"/>
            <a:r>
              <a:rPr lang="en-US" dirty="0"/>
              <a:t>What if other threads try to unlock?</a:t>
            </a:r>
          </a:p>
          <a:p>
            <a:endParaRPr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Mutex Type  (from the DOC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Mutex Type  (from the DOC)</a:t>
            </a:r>
          </a:p>
        </p:txBody>
      </p:sp>
      <p:sp>
        <p:nvSpPr>
          <p:cNvPr id="352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53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54" name="PTHREAD_MUTEX_NORMAL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28693" indent="-128693">
              <a:spcBef>
                <a:spcPts val="600"/>
              </a:spcBef>
              <a:defRPr sz="1900"/>
            </a:pPr>
            <a:r>
              <a:rPr dirty="0"/>
              <a:t>PTHREAD_MUTEX_</a:t>
            </a:r>
            <a:r>
              <a:rPr b="1" dirty="0"/>
              <a:t>NORMAL</a:t>
            </a:r>
          </a:p>
          <a:p>
            <a:pPr marL="471593" lvl="1" indent="-128693">
              <a:spcBef>
                <a:spcPts val="600"/>
              </a:spcBef>
              <a:defRPr sz="1900"/>
            </a:pPr>
            <a:r>
              <a:rPr dirty="0"/>
              <a:t>This type of mutex does not detect deadlock. A thread attempting to relock this mutex without first unlocking it will deadlock. Attempting to unlock a mutex locked by a different thread results in undefined </a:t>
            </a:r>
            <a:r>
              <a:rPr dirty="0" err="1"/>
              <a:t>behaviour</a:t>
            </a:r>
            <a:r>
              <a:rPr dirty="0"/>
              <a:t>. Attempting to unlock an unlocked mutex results in undefined </a:t>
            </a:r>
            <a:r>
              <a:rPr dirty="0" err="1"/>
              <a:t>behaviour</a:t>
            </a:r>
            <a:r>
              <a:rPr dirty="0"/>
              <a:t>.</a:t>
            </a:r>
          </a:p>
          <a:p>
            <a:pPr marL="128693" indent="-128693">
              <a:spcBef>
                <a:spcPts val="600"/>
              </a:spcBef>
              <a:defRPr sz="1900"/>
            </a:pPr>
            <a:r>
              <a:rPr dirty="0"/>
              <a:t>PTHREAD_MUTEX_</a:t>
            </a:r>
            <a:r>
              <a:rPr b="1" dirty="0"/>
              <a:t>ERRORCHECK</a:t>
            </a:r>
          </a:p>
          <a:p>
            <a:pPr marL="471593" lvl="1" indent="-128693">
              <a:spcBef>
                <a:spcPts val="600"/>
              </a:spcBef>
              <a:defRPr sz="1900"/>
            </a:pPr>
            <a:r>
              <a:rPr dirty="0"/>
              <a:t>This type of mutex provides error checking. A thread attempting to relock this mutex without first unlocking it will return with an error. A thread attempting to unlock a mutex which another thread has locked will return with an error. A thread attempting to unlock an unlocked mutex will return with an error.</a:t>
            </a:r>
          </a:p>
          <a:p>
            <a:pPr marL="128693" indent="-128693">
              <a:spcBef>
                <a:spcPts val="600"/>
              </a:spcBef>
              <a:defRPr sz="1900"/>
            </a:pPr>
            <a:r>
              <a:rPr dirty="0"/>
              <a:t>PTHREAD_MUTEX_</a:t>
            </a:r>
            <a:r>
              <a:rPr b="1" dirty="0"/>
              <a:t>RECURSIVE</a:t>
            </a:r>
          </a:p>
          <a:p>
            <a:pPr marL="471593" lvl="1" indent="-128693">
              <a:spcBef>
                <a:spcPts val="600"/>
              </a:spcBef>
              <a:defRPr sz="1900">
                <a:solidFill>
                  <a:srgbClr val="868686"/>
                </a:solidFill>
              </a:defRPr>
            </a:pPr>
            <a:r>
              <a:rPr dirty="0"/>
              <a:t>A thread attempting to relock this mutex without first unlocking it will succeed in locking the mutex. The relocking deadlock which can occur with mutexes of type PTHREAD_MUTEX_NORMAL cannot occur with this type of mutex. Multiple locks of this mutex require the same number of unlocks to release the mutex before another thread can acquire the mutex. A thread attempting to unlock a mutex which another thread has locked will return with an error. A thread attempting to unlock an unlocked mutex will return with an error.</a:t>
            </a:r>
          </a:p>
          <a:p>
            <a:pPr marL="128693" indent="-128693">
              <a:spcBef>
                <a:spcPts val="600"/>
              </a:spcBef>
              <a:defRPr sz="1900"/>
            </a:pPr>
            <a:r>
              <a:rPr dirty="0"/>
              <a:t>PTHREAD_MUTEX_</a:t>
            </a:r>
            <a:r>
              <a:rPr b="1" dirty="0"/>
              <a:t>DEFAULT</a:t>
            </a:r>
          </a:p>
          <a:p>
            <a:pPr marL="471593" lvl="1" indent="-128693">
              <a:spcBef>
                <a:spcPts val="600"/>
              </a:spcBef>
              <a:defRPr sz="1900">
                <a:solidFill>
                  <a:srgbClr val="868686"/>
                </a:solidFill>
              </a:defRPr>
            </a:pPr>
            <a:r>
              <a:rPr dirty="0"/>
              <a:t>Attempting to recursively lock a mutex of this type results in </a:t>
            </a:r>
            <a:r>
              <a:rPr u="sng" dirty="0"/>
              <a:t>undefined </a:t>
            </a:r>
            <a:r>
              <a:rPr u="sng" dirty="0" err="1"/>
              <a:t>behaviour</a:t>
            </a:r>
            <a:r>
              <a:rPr dirty="0"/>
              <a:t>. Attempting to unlock a mutex of this type which was not locked by the calling thread results in </a:t>
            </a:r>
            <a:r>
              <a:rPr u="sng" dirty="0"/>
              <a:t>undefined </a:t>
            </a:r>
            <a:r>
              <a:rPr u="sng" dirty="0" err="1"/>
              <a:t>behaviour</a:t>
            </a:r>
            <a:r>
              <a:rPr dirty="0"/>
              <a:t>. Attempting to unlock a mutex of this type which is not locked results in </a:t>
            </a:r>
            <a:r>
              <a:rPr u="sng" dirty="0"/>
              <a:t>undefined </a:t>
            </a:r>
            <a:r>
              <a:rPr u="sng" dirty="0" err="1"/>
              <a:t>behaviour</a:t>
            </a:r>
            <a:r>
              <a:rPr dirty="0"/>
              <a:t>. An implementation is allowed to map this mutex to one of the other mutex types.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676204" y="685800"/>
            <a:ext cx="11778826" cy="1006969"/>
          </a:xfrm>
        </p:spPr>
        <p:txBody>
          <a:bodyPr/>
          <a:lstStyle/>
          <a:p>
            <a:r>
              <a:rPr lang="en-US" altLang="en-US" dirty="0"/>
              <a:t>Sorted Linked List Example</a:t>
            </a:r>
          </a:p>
        </p:txBody>
      </p:sp>
      <p:pic>
        <p:nvPicPr>
          <p:cNvPr id="307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303" y="2111024"/>
            <a:ext cx="10591235" cy="158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hape 465"/>
          <p:cNvSpPr/>
          <p:nvPr/>
        </p:nvSpPr>
        <p:spPr>
          <a:xfrm>
            <a:off x="1528676" y="5007867"/>
            <a:ext cx="10238862" cy="1477328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lvl="0" algn="l" defTabSz="457200">
              <a:defRPr sz="1800"/>
            </a:pP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typedef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struct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list_node_s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{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data;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struct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list_node_s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* next;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}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LNode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  <a:endParaRPr sz="24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969232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Testing membership</a:t>
            </a:r>
          </a:p>
        </p:txBody>
      </p:sp>
      <p:sp>
        <p:nvSpPr>
          <p:cNvPr id="5" name="Shape 465"/>
          <p:cNvSpPr/>
          <p:nvPr/>
        </p:nvSpPr>
        <p:spPr>
          <a:xfrm>
            <a:off x="711200" y="2617899"/>
            <a:ext cx="11709401" cy="4062651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/>
          <a:p>
            <a:pPr lvl="0" algn="l" defTabSz="457200">
              <a:defRPr sz="1800"/>
            </a:pP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member(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value,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LNode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*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) {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LNode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*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lvl="0" algn="l" defTabSz="457200">
              <a:defRPr sz="1800"/>
            </a:pPr>
            <a:endParaRPr lang="en-US" sz="24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while(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!= NULL &amp;&amp;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-&gt;data &lt; value )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-&gt;next;</a:t>
            </a:r>
          </a:p>
          <a:p>
            <a:pPr lvl="0" algn="l" defTabSz="457200">
              <a:defRPr sz="1800"/>
            </a:pPr>
            <a:endParaRPr lang="en-US" sz="24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if(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== NULL ||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-&gt;data &gt; value ) 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return 0;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else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return 1;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24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676877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787400" y="685800"/>
            <a:ext cx="11778826" cy="1006969"/>
          </a:xfrm>
        </p:spPr>
        <p:txBody>
          <a:bodyPr/>
          <a:lstStyle/>
          <a:p>
            <a:r>
              <a:rPr lang="en-US" altLang="en-US" dirty="0"/>
              <a:t>Inserting a new value</a:t>
            </a:r>
          </a:p>
        </p:txBody>
      </p:sp>
      <p:pic>
        <p:nvPicPr>
          <p:cNvPr id="512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708" y="2140374"/>
            <a:ext cx="10415128" cy="5472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3908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Inserting a new value</a:t>
            </a:r>
          </a:p>
        </p:txBody>
      </p:sp>
      <p:sp>
        <p:nvSpPr>
          <p:cNvPr id="5" name="Shape 465"/>
          <p:cNvSpPr/>
          <p:nvPr/>
        </p:nvSpPr>
        <p:spPr>
          <a:xfrm>
            <a:off x="1244600" y="2167354"/>
            <a:ext cx="10744200" cy="7448193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lvl="0" algn="l" defTabSz="457200">
              <a:defRPr sz="1800"/>
            </a:pP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nt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insert(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value,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LNode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**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) {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LNode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*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*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LNode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*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pred_p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NULL;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LNode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*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temp_p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lvl="0" algn="l" defTabSz="457200">
              <a:defRPr sz="1800"/>
            </a:pPr>
            <a:endParaRPr lang="en-US" sz="23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while(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!= NULL &amp;&amp;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-&gt;data &lt; value ) {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pred_p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; 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-&gt;next;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}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if(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== NULL ||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-&gt;data &gt; value ) {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temp_p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(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LNode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*)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malloc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(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sizeof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LNode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) );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temp_p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value;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temp_p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if(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pred_p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== NULL)  /* new first node */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	*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temp_p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else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	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pred_p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-&gt;next =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temp_p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return 1;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} else  /* value already in list */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return 0;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23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266872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Deleting a value</a:t>
            </a:r>
          </a:p>
        </p:txBody>
      </p:sp>
      <p:pic>
        <p:nvPicPr>
          <p:cNvPr id="717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304" y="2316480"/>
            <a:ext cx="10713155" cy="4362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486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Deleting a value</a:t>
            </a:r>
          </a:p>
        </p:txBody>
      </p:sp>
      <p:sp>
        <p:nvSpPr>
          <p:cNvPr id="5" name="Shape 465"/>
          <p:cNvSpPr/>
          <p:nvPr/>
        </p:nvSpPr>
        <p:spPr>
          <a:xfrm>
            <a:off x="1244600" y="2521297"/>
            <a:ext cx="10744200" cy="6740307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lvl="0" algn="l" defTabSz="457200">
              <a:defRPr sz="1800"/>
            </a:pP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nt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delete(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value,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LNode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**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) {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LNode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*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*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LNode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*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pred_p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NULL;</a:t>
            </a:r>
          </a:p>
          <a:p>
            <a:pPr lvl="0" algn="l" defTabSz="457200">
              <a:defRPr sz="1800"/>
            </a:pPr>
            <a:endParaRPr lang="en-US" sz="23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while(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!= NULL &amp;&amp;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-&gt;data &lt; value ) {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pred_p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; 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-&gt;next;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}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if(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== NULL ||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-&gt;data &gt; value ) {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if(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pred_p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== NULL) {  /* deleting first node in list */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	*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-&gt;next;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} else {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	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pred_p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-&gt;next = 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-&gt;next;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}</a:t>
            </a:r>
          </a:p>
          <a:p>
            <a:pPr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free(</a:t>
            </a:r>
            <a:r>
              <a:rPr lang="en-US" sz="23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return 1;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} else  /* value not in list */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return 0;</a:t>
            </a:r>
          </a:p>
          <a:p>
            <a:pPr lvl="0" algn="l" defTabSz="457200">
              <a:defRPr sz="1800"/>
            </a:pPr>
            <a:r>
              <a:rPr lang="en-US" sz="23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23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77977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711200" y="838200"/>
            <a:ext cx="11778826" cy="918916"/>
          </a:xfrm>
        </p:spPr>
        <p:txBody>
          <a:bodyPr/>
          <a:lstStyle/>
          <a:p>
            <a:r>
              <a:rPr lang="en-US" altLang="en-US" dirty="0"/>
              <a:t>Simultaneous access by two threads?</a:t>
            </a:r>
          </a:p>
        </p:txBody>
      </p:sp>
      <p:pic>
        <p:nvPicPr>
          <p:cNvPr id="1024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2286000"/>
            <a:ext cx="10740248" cy="6163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88761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Solution #1</a:t>
            </a:r>
          </a:p>
        </p:txBody>
      </p:sp>
      <p:sp>
        <p:nvSpPr>
          <p:cNvPr id="1126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Lock the entire list any time a thread attempts to access it </a:t>
            </a:r>
          </a:p>
          <a:p>
            <a:pPr lvl="1"/>
            <a:r>
              <a:rPr lang="en-US" altLang="en-US" dirty="0"/>
              <a:t>A call to each of the three functions protected by a </a:t>
            </a:r>
            <a:r>
              <a:rPr lang="en-US" altLang="en-US" dirty="0" err="1"/>
              <a:t>mutex</a:t>
            </a:r>
            <a:r>
              <a:rPr lang="en-US" altLang="en-US" dirty="0"/>
              <a:t>, e.g.,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r>
              <a:rPr lang="en-US" altLang="en-US" dirty="0"/>
              <a:t>Issues?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7" name="Shape 465"/>
          <p:cNvSpPr/>
          <p:nvPr/>
        </p:nvSpPr>
        <p:spPr>
          <a:xfrm>
            <a:off x="1244600" y="4025462"/>
            <a:ext cx="9448800" cy="1107996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lvl="0" algn="l" defTabSz="457200">
              <a:defRPr sz="1800"/>
            </a:pP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pthread_mutex_lock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(&amp;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list_mutex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member( value,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algn="l" defTabSz="457200">
              <a:defRPr sz="1800"/>
            </a:pP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pthread_mutex_unlock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(&amp;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list_mutex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2475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Solution #2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Instead of locking the entire list, we could try to lock individual nodes</a:t>
            </a:r>
          </a:p>
          <a:p>
            <a:pPr lvl="1"/>
            <a:r>
              <a:rPr lang="en-US" altLang="en-US" dirty="0"/>
              <a:t>A “finer-grained” approach</a:t>
            </a:r>
          </a:p>
        </p:txBody>
      </p:sp>
      <p:sp>
        <p:nvSpPr>
          <p:cNvPr id="6" name="Shape 465"/>
          <p:cNvSpPr/>
          <p:nvPr/>
        </p:nvSpPr>
        <p:spPr>
          <a:xfrm>
            <a:off x="1397000" y="4099881"/>
            <a:ext cx="9296400" cy="1846659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lvl="0" algn="l" defTabSz="457200">
              <a:defRPr sz="1800"/>
            </a:pP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typedef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struct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list_node_s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{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data;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struct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list_node_s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* next;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pthread_mutex_t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mutex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}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LNode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  <a:endParaRPr sz="24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076257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-22497" y="609600"/>
            <a:ext cx="12212885" cy="992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b"/>
          <a:lstStyle>
            <a:lvl1pPr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1pPr>
            <a:lvl2pPr indent="2286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2pPr>
            <a:lvl3pPr indent="4572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3pPr>
            <a:lvl4pPr indent="6858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4pPr>
            <a:lvl5pPr indent="9144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5pPr>
            <a:lvl6pPr indent="11430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6pPr>
            <a:lvl7pPr indent="13716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7pPr>
            <a:lvl8pPr indent="16002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8pPr>
            <a:lvl9pPr indent="18288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9pPr>
          </a:lstStyle>
          <a:p>
            <a:r>
              <a:rPr lang="en-US" altLang="en-US" sz="3600" dirty="0"/>
              <a:t>Implementation of member with one </a:t>
            </a:r>
            <a:r>
              <a:rPr lang="en-US" altLang="en-US" sz="3600" dirty="0" err="1"/>
              <a:t>mutex</a:t>
            </a:r>
            <a:r>
              <a:rPr lang="en-US" altLang="en-US" sz="3600" dirty="0"/>
              <a:t> per node (1)</a:t>
            </a:r>
          </a:p>
        </p:txBody>
      </p:sp>
      <p:sp>
        <p:nvSpPr>
          <p:cNvPr id="7" name="Shape 465"/>
          <p:cNvSpPr/>
          <p:nvPr/>
        </p:nvSpPr>
        <p:spPr>
          <a:xfrm>
            <a:off x="711200" y="2590800"/>
            <a:ext cx="11709401" cy="5170646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/>
          <a:p>
            <a:pPr lvl="0" algn="l" defTabSz="457200">
              <a:defRPr sz="1800"/>
            </a:pP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member(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value,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LNode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*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) {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LNode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*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lvl="0" algn="l" defTabSz="457200">
              <a:defRPr sz="1800"/>
            </a:pPr>
            <a:endParaRPr lang="en-US" sz="24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pthread_mutex_lock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( &amp;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head_p_mutex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);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</a:t>
            </a:r>
            <a:endParaRPr lang="en-US" sz="24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while(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!= NULL &amp;&amp;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-&gt;data &lt; value ) {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if(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-&gt;next != NULL )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pthread_mutex_lock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( &amp;(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-&gt;next-&gt;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mutex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) );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if(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==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)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pthread_mutex_unlock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( &amp;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head_p_mutex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);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pthread_mutex_unlock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( &amp;(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mutex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) );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-&gt;next;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     }</a:t>
            </a:r>
          </a:p>
          <a:p>
            <a:pPr lvl="0" algn="l" defTabSz="457200">
              <a:defRPr sz="1800"/>
            </a:pPr>
            <a:endParaRPr sz="24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960056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-22497" y="609600"/>
            <a:ext cx="12212885" cy="992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b"/>
          <a:lstStyle>
            <a:lvl1pPr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1pPr>
            <a:lvl2pPr indent="2286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2pPr>
            <a:lvl3pPr indent="4572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3pPr>
            <a:lvl4pPr indent="6858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4pPr>
            <a:lvl5pPr indent="9144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5pPr>
            <a:lvl6pPr indent="11430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6pPr>
            <a:lvl7pPr indent="13716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7pPr>
            <a:lvl8pPr indent="16002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8pPr>
            <a:lvl9pPr indent="1828800" defTabSz="584200">
              <a:defRPr sz="4000">
                <a:latin typeface="+mj-lt"/>
                <a:ea typeface="+mj-ea"/>
                <a:cs typeface="+mj-cs"/>
                <a:sym typeface="Helvetica Neue Light"/>
              </a:defRPr>
            </a:lvl9pPr>
          </a:lstStyle>
          <a:p>
            <a:r>
              <a:rPr lang="en-US" altLang="en-US" sz="3600" dirty="0"/>
              <a:t>Implementation of member with one </a:t>
            </a:r>
            <a:r>
              <a:rPr lang="en-US" altLang="en-US" sz="3600" dirty="0" err="1"/>
              <a:t>mutex</a:t>
            </a:r>
            <a:r>
              <a:rPr lang="en-US" altLang="en-US" sz="3600" dirty="0"/>
              <a:t> per node (2)</a:t>
            </a:r>
          </a:p>
        </p:txBody>
      </p:sp>
      <p:sp>
        <p:nvSpPr>
          <p:cNvPr id="9" name="Shape 465"/>
          <p:cNvSpPr/>
          <p:nvPr/>
        </p:nvSpPr>
        <p:spPr>
          <a:xfrm>
            <a:off x="733972" y="2362200"/>
            <a:ext cx="11709401" cy="5170646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/>
          <a:p>
            <a:pPr lvl="0" algn="l" defTabSz="457200">
              <a:defRPr sz="1800"/>
            </a:pPr>
            <a:endParaRPr lang="en-US" sz="24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if(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== NULL ||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-&gt;data &gt; data ) {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if(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==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)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pthread_mutex_unlock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( &amp;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head_p_mutex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);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if(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!= NULL )</a:t>
            </a:r>
          </a:p>
          <a:p>
            <a:pPr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pthread_mutex_unlock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( &amp;(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mutex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) );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return 0;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} else{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if(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== 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)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pthread_mutex_unlock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( &amp;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head_p_mutex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);</a:t>
            </a:r>
          </a:p>
          <a:p>
            <a:pPr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	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pthread_mutex_unlock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( &amp;(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curr_p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-&gt;</a:t>
            </a:r>
            <a:r>
              <a:rPr lang="en-US" sz="24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mutex</a:t>
            </a: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) );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	return 1;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	}</a:t>
            </a:r>
          </a:p>
          <a:p>
            <a:pPr lvl="0" algn="l" defTabSz="457200">
              <a:defRPr sz="1800"/>
            </a:pPr>
            <a:r>
              <a:rPr lang="en-US" sz="24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24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972654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Issues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More complex to implement</a:t>
            </a:r>
          </a:p>
          <a:p>
            <a:r>
              <a:rPr lang="en-US" altLang="en-US" dirty="0"/>
              <a:t>More memory to store the list</a:t>
            </a:r>
          </a:p>
          <a:p>
            <a:pPr lvl="1"/>
            <a:r>
              <a:rPr lang="en-US" altLang="en-US" dirty="0"/>
              <a:t>One </a:t>
            </a:r>
            <a:r>
              <a:rPr lang="en-US" altLang="en-US" dirty="0" err="1"/>
              <a:t>mutex</a:t>
            </a:r>
            <a:r>
              <a:rPr lang="en-US" altLang="en-US" dirty="0"/>
              <a:t> per node</a:t>
            </a:r>
          </a:p>
          <a:p>
            <a:r>
              <a:rPr lang="en-US" altLang="en-US" dirty="0"/>
              <a:t>Slower</a:t>
            </a:r>
          </a:p>
          <a:p>
            <a:pPr lvl="1"/>
            <a:r>
              <a:rPr lang="en-US" altLang="en-US" dirty="0"/>
              <a:t>Each time a node is accessed, a </a:t>
            </a:r>
            <a:r>
              <a:rPr lang="en-US" altLang="en-US" dirty="0" err="1"/>
              <a:t>mutex</a:t>
            </a:r>
            <a:r>
              <a:rPr lang="en-US" altLang="en-US" dirty="0"/>
              <a:t> must be locked and unlocked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Using more than one lock creates opportunities for </a:t>
            </a:r>
            <a:r>
              <a:rPr lang="en-US" altLang="en-US" b="1" dirty="0">
                <a:solidFill>
                  <a:srgbClr val="FF0000"/>
                </a:solidFill>
              </a:rPr>
              <a:t>DEADLOCK!</a:t>
            </a:r>
          </a:p>
        </p:txBody>
      </p:sp>
    </p:spTree>
    <p:extLst>
      <p:ext uri="{BB962C8B-B14F-4D97-AF65-F5344CB8AC3E}">
        <p14:creationId xmlns:p14="http://schemas.microsoft.com/office/powerpoint/2010/main" val="306546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</p:bld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6D6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2552</Words>
  <Application>Microsoft Macintosh PowerPoint</Application>
  <PresentationFormat>Custom</PresentationFormat>
  <Paragraphs>408</Paragraphs>
  <Slides>37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Cambria Math</vt:lpstr>
      <vt:lpstr>Consolas</vt:lpstr>
      <vt:lpstr>Courier</vt:lpstr>
      <vt:lpstr>Helvetica</vt:lpstr>
      <vt:lpstr>Helvetica Neue</vt:lpstr>
      <vt:lpstr>Helvetica Neue Light</vt:lpstr>
      <vt:lpstr>Lucida Grande</vt:lpstr>
      <vt:lpstr>Times New Roman</vt:lpstr>
      <vt:lpstr>White</vt:lpstr>
      <vt:lpstr>(T2) Threads: Mutual Exclusion (mutex)</vt:lpstr>
      <vt:lpstr>Review</vt:lpstr>
      <vt:lpstr>Overview</vt:lpstr>
      <vt:lpstr>Mutual Exclusion</vt:lpstr>
      <vt:lpstr>Protocol</vt:lpstr>
      <vt:lpstr>Race to critical section</vt:lpstr>
      <vt:lpstr>Protocol</vt:lpstr>
      <vt:lpstr>Protocol</vt:lpstr>
      <vt:lpstr>Mutex</vt:lpstr>
      <vt:lpstr>pthread mutex type and APIs</vt:lpstr>
      <vt:lpstr>Initialization</vt:lpstr>
      <vt:lpstr>Destruction</vt:lpstr>
      <vt:lpstr>Lock / Unlock</vt:lpstr>
      <vt:lpstr>Key Observations</vt:lpstr>
      <vt:lpstr>Example 1</vt:lpstr>
      <vt:lpstr>Example 2: counter ADT</vt:lpstr>
      <vt:lpstr>Example 3: array</vt:lpstr>
      <vt:lpstr>Option 1</vt:lpstr>
      <vt:lpstr>Option 2</vt:lpstr>
      <vt:lpstr>PowerPoint Presentation</vt:lpstr>
      <vt:lpstr>mutex_trylock()</vt:lpstr>
      <vt:lpstr>Amdahl’s Law  </vt:lpstr>
      <vt:lpstr>Practical speedup lower due to overhead  </vt:lpstr>
      <vt:lpstr>Mutex Attributes?</vt:lpstr>
      <vt:lpstr>Mutex Type  (from the DOC)</vt:lpstr>
      <vt:lpstr>Sorted Linked List Example</vt:lpstr>
      <vt:lpstr>Testing membership</vt:lpstr>
      <vt:lpstr>Inserting a new value</vt:lpstr>
      <vt:lpstr>Inserting a new value</vt:lpstr>
      <vt:lpstr>Deleting a value</vt:lpstr>
      <vt:lpstr>Deleting a value</vt:lpstr>
      <vt:lpstr>Simultaneous access by two threads?</vt:lpstr>
      <vt:lpstr>Solution #1</vt:lpstr>
      <vt:lpstr>Solution #2</vt:lpstr>
      <vt:lpstr>PowerPoint Presentation</vt:lpstr>
      <vt:lpstr>PowerPoint Presentation</vt:lpstr>
      <vt:lpstr>Issues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modified xsi:type="dcterms:W3CDTF">2025-11-03T16:06:19Z</dcterms:modified>
</cp:coreProperties>
</file>