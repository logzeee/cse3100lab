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>
  <p:sldMasterIdLst>
    <p:sldMasterId id="2147483648" r:id="rId1"/>
  </p:sldMasterIdLst>
  <p:notesMasterIdLst>
    <p:notesMasterId r:id="rId28"/>
  </p:notesMasterIdLst>
  <p:sldIdLst>
    <p:sldId id="256" r:id="rId2"/>
    <p:sldId id="347" r:id="rId3"/>
    <p:sldId id="348" r:id="rId4"/>
    <p:sldId id="318" r:id="rId5"/>
    <p:sldId id="301" r:id="rId6"/>
    <p:sldId id="350" r:id="rId7"/>
    <p:sldId id="302" r:id="rId8"/>
    <p:sldId id="331" r:id="rId9"/>
    <p:sldId id="332" r:id="rId10"/>
    <p:sldId id="346" r:id="rId11"/>
    <p:sldId id="351" r:id="rId12"/>
    <p:sldId id="352" r:id="rId13"/>
    <p:sldId id="355" r:id="rId14"/>
    <p:sldId id="354" r:id="rId15"/>
    <p:sldId id="353" r:id="rId16"/>
    <p:sldId id="333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356" r:id="rId25"/>
    <p:sldId id="268" r:id="rId26"/>
    <p:sldId id="349" r:id="rId27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1pPr>
    <a:lvl2pPr marL="0" marR="0" indent="2667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2pPr>
    <a:lvl3pPr marL="0" marR="0" indent="533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3pPr>
    <a:lvl4pPr marL="0" marR="0" indent="8001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4pPr>
    <a:lvl5pPr marL="0" marR="0" indent="1066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5pPr>
    <a:lvl6pPr marL="0" marR="0" indent="13335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6pPr>
    <a:lvl7pPr marL="0" marR="0" indent="16129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7pPr>
    <a:lvl8pPr marL="0" marR="0" indent="1879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8pPr>
    <a:lvl9pPr marL="0" marR="0" indent="21463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2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968" autoAdjust="0"/>
  </p:normalViewPr>
  <p:slideViewPr>
    <p:cSldViewPr snapToGrid="0">
      <p:cViewPr varScale="1">
        <p:scale>
          <a:sx n="100" d="100"/>
          <a:sy n="100" d="100"/>
        </p:scale>
        <p:origin x="2568" y="168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86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6" name="Shape 20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3382370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0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0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0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0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0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0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0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0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0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chemeClr val="accent1"/>
                </a:solidFill>
              </a:rPr>
              <a:t>Spinlocks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63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There are also non-blocking versions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827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56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8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For  equal  priority threads,  write locks shall take precedence over read locks.</a:t>
            </a:r>
          </a:p>
        </p:txBody>
      </p:sp>
    </p:spTree>
    <p:extLst>
      <p:ext uri="{BB962C8B-B14F-4D97-AF65-F5344CB8AC3E}">
        <p14:creationId xmlns:p14="http://schemas.microsoft.com/office/powerpoint/2010/main" val="970435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26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084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/>
          <p:cNvSpPr/>
          <p:nvPr/>
        </p:nvSpPr>
        <p:spPr>
          <a:xfrm>
            <a:off x="647700" y="47498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14" name="Seal 3 SPOT281.jpg" descr="Seal 3 SPOT281.jpg"/>
          <p:cNvPicPr>
            <a:picLocks noChangeAspect="1"/>
          </p:cNvPicPr>
          <p:nvPr/>
        </p:nvPicPr>
        <p:blipFill>
          <a:blip r:embed="rId2"/>
          <a:srcRect l="3469" t="3249" r="3360" b="3533"/>
          <a:stretch>
            <a:fillRect/>
          </a:stretch>
        </p:blipFill>
        <p:spPr>
          <a:xfrm>
            <a:off x="12017002" y="166113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14"/>
                  <a:pt x="560" y="13813"/>
                </a:cubicBezTo>
                <a:cubicBezTo>
                  <a:pt x="1344" y="16446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7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571500" y="1320800"/>
            <a:ext cx="118618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5029200"/>
            <a:ext cx="11861800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747474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/>
            </a:lvl2pPr>
            <a:lvl3pPr marL="0" indent="0">
              <a:spcBef>
                <a:spcPts val="0"/>
              </a:spcBef>
              <a:buSzTx/>
              <a:buNone/>
              <a:defRPr sz="2400"/>
            </a:lvl3pPr>
            <a:lvl4pPr marL="0" indent="0">
              <a:spcBef>
                <a:spcPts val="0"/>
              </a:spcBef>
              <a:buSzTx/>
              <a:buNone/>
              <a:defRPr sz="2400"/>
            </a:lvl4pPr>
            <a:lvl5pPr marL="0" indent="0">
              <a:spcBef>
                <a:spcPts val="0"/>
              </a:spcBef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682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5" name="Seal 3 SPOT281.jpg" descr="Seal 3 SPOT281.jpg"/>
          <p:cNvPicPr>
            <a:picLocks noChangeAspect="1"/>
          </p:cNvPicPr>
          <p:nvPr/>
        </p:nvPicPr>
        <p:blipFill>
          <a:blip r:embed="rId2"/>
          <a:srcRect l="3953" t="3727" r="4037" b="3957"/>
          <a:stretch>
            <a:fillRect/>
          </a:stretch>
        </p:blipFill>
        <p:spPr>
          <a:xfrm>
            <a:off x="11652633" y="843096"/>
            <a:ext cx="747854" cy="750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2" h="21361" extrusionOk="0">
                <a:moveTo>
                  <a:pt x="11422" y="16"/>
                </a:moveTo>
                <a:cubicBezTo>
                  <a:pt x="7331" y="-203"/>
                  <a:pt x="3227" y="1854"/>
                  <a:pt x="1122" y="5835"/>
                </a:cubicBezTo>
                <a:cubicBezTo>
                  <a:pt x="406" y="7190"/>
                  <a:pt x="27" y="8923"/>
                  <a:pt x="2" y="10637"/>
                </a:cubicBezTo>
                <a:cubicBezTo>
                  <a:pt x="-23" y="12351"/>
                  <a:pt x="307" y="14046"/>
                  <a:pt x="985" y="15337"/>
                </a:cubicBezTo>
                <a:cubicBezTo>
                  <a:pt x="2583" y="18378"/>
                  <a:pt x="4999" y="20320"/>
                  <a:pt x="8244" y="21167"/>
                </a:cubicBezTo>
                <a:cubicBezTo>
                  <a:pt x="8700" y="21286"/>
                  <a:pt x="9272" y="21346"/>
                  <a:pt x="9902" y="21359"/>
                </a:cubicBezTo>
                <a:cubicBezTo>
                  <a:pt x="11791" y="21397"/>
                  <a:pt x="14195" y="20985"/>
                  <a:pt x="15560" y="20308"/>
                </a:cubicBezTo>
                <a:cubicBezTo>
                  <a:pt x="17837" y="19180"/>
                  <a:pt x="19258" y="17799"/>
                  <a:pt x="20453" y="15529"/>
                </a:cubicBezTo>
                <a:cubicBezTo>
                  <a:pt x="21226" y="14062"/>
                  <a:pt x="21577" y="12337"/>
                  <a:pt x="21539" y="10603"/>
                </a:cubicBezTo>
                <a:cubicBezTo>
                  <a:pt x="21476" y="7712"/>
                  <a:pt x="20339" y="4789"/>
                  <a:pt x="18327" y="2942"/>
                </a:cubicBezTo>
                <a:cubicBezTo>
                  <a:pt x="16323" y="1103"/>
                  <a:pt x="13877" y="148"/>
                  <a:pt x="11422" y="16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709400" cy="6565900"/>
          </a:xfrm>
          <a:prstGeom prst="rect">
            <a:avLst/>
          </a:prstGeom>
        </p:spPr>
        <p:txBody>
          <a:bodyPr numCol="2" spcCol="585470"/>
          <a:lstStyle>
            <a:lvl1pPr>
              <a:spcBef>
                <a:spcPts val="49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4900"/>
              </a:spcBef>
              <a:defRPr sz="2400"/>
            </a:lvl2pPr>
            <a:lvl3pPr>
              <a:spcBef>
                <a:spcPts val="4900"/>
              </a:spcBef>
              <a:defRPr sz="2400"/>
            </a:lvl3pPr>
            <a:lvl4pPr>
              <a:spcBef>
                <a:spcPts val="4900"/>
              </a:spcBef>
              <a:defRPr sz="2400"/>
            </a:lvl4pPr>
            <a:lvl5pPr>
              <a:spcBef>
                <a:spcPts val="49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863600"/>
            <a:ext cx="11861800" cy="8026400"/>
          </a:xfrm>
          <a:prstGeom prst="rect">
            <a:avLst/>
          </a:prstGeom>
        </p:spPr>
        <p:txBody>
          <a:bodyPr/>
          <a:lstStyle>
            <a:lvl1pPr>
              <a:spcBef>
                <a:spcPts val="72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7200"/>
              </a:spcBef>
              <a:defRPr sz="2400"/>
            </a:lvl2pPr>
            <a:lvl3pPr>
              <a:spcBef>
                <a:spcPts val="7200"/>
              </a:spcBef>
              <a:defRPr sz="2400"/>
            </a:lvl3pPr>
            <a:lvl4pPr>
              <a:spcBef>
                <a:spcPts val="7200"/>
              </a:spcBef>
              <a:defRPr sz="2400"/>
            </a:lvl4pPr>
            <a:lvl5pPr>
              <a:spcBef>
                <a:spcPts val="72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62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>
            <a:spLocks noGrp="1"/>
          </p:cNvSpPr>
          <p:nvPr>
            <p:ph type="title"/>
          </p:nvPr>
        </p:nvSpPr>
        <p:spPr>
          <a:xfrm>
            <a:off x="571500" y="3708400"/>
            <a:ext cx="11861800" cy="2336800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682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ModernPortfolio_photo-h-2.pdf" descr="ModernPortfolio_photo-h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Line"/>
          <p:cNvSpPr/>
          <p:nvPr/>
        </p:nvSpPr>
        <p:spPr>
          <a:xfrm>
            <a:off x="7543800" y="7975599"/>
            <a:ext cx="1" cy="14225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1409700" y="7785100"/>
            <a:ext cx="5791200" cy="1701800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r>
              <a:t>Title Text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848600" y="8470900"/>
            <a:ext cx="4953000" cy="508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ModernPortfolio_photo-v-1.pdf" descr="ModernPortfolio_photo-v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Line"/>
          <p:cNvSpPr/>
          <p:nvPr/>
        </p:nvSpPr>
        <p:spPr>
          <a:xfrm>
            <a:off x="647700" y="4749800"/>
            <a:ext cx="4882122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xfrm>
            <a:off x="571500" y="1320800"/>
            <a:ext cx="50927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71500" y="5029200"/>
            <a:ext cx="5092700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747474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/>
            </a:lvl2pPr>
            <a:lvl3pPr marL="0" indent="0">
              <a:spcBef>
                <a:spcPts val="0"/>
              </a:spcBef>
              <a:buSzTx/>
              <a:buNone/>
              <a:defRPr sz="2400"/>
            </a:lvl3pPr>
            <a:lvl4pPr marL="0" indent="0">
              <a:spcBef>
                <a:spcPts val="0"/>
              </a:spcBef>
              <a:buSzTx/>
              <a:buNone/>
              <a:defRPr sz="2400"/>
            </a:lvl4pPr>
            <a:lvl5pPr marL="0" indent="0">
              <a:spcBef>
                <a:spcPts val="0"/>
              </a:spcBef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080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ModernPortfolio_photo-v-1.pdf" descr="ModernPortfolio_photo-v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Line"/>
          <p:cNvSpPr/>
          <p:nvPr/>
        </p:nvSpPr>
        <p:spPr>
          <a:xfrm>
            <a:off x="647700" y="1968500"/>
            <a:ext cx="48768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571500" y="330200"/>
            <a:ext cx="5092700" cy="1397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50927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49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4900"/>
              </a:spcBef>
              <a:defRPr sz="2400"/>
            </a:lvl2pPr>
            <a:lvl3pPr>
              <a:spcBef>
                <a:spcPts val="4900"/>
              </a:spcBef>
              <a:defRPr sz="2400"/>
            </a:lvl3pPr>
            <a:lvl4pPr>
              <a:spcBef>
                <a:spcPts val="4900"/>
              </a:spcBef>
              <a:defRPr sz="2400"/>
            </a:lvl4pPr>
            <a:lvl5pPr>
              <a:spcBef>
                <a:spcPts val="49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10743" y="9258300"/>
            <a:ext cx="258370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Landscape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ModernPortfolio_2-up-h.pdf" descr="ModernPortfolio_2-up-h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Portrait &amp; Landscape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ModernPortfolio_2-up-vh.pdf" descr="ModernPortfolio_2-up-vh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Portrait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ModernPortfolio_2-up-v-2.pdf" descr="ModernPortfolio_2-up-v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 Portrait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ModernPortfolio_3-up-v-2.pdf" descr="ModernPortfolio_3-up-v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Big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ModernPortfolio_photo-big-2.pdf" descr="ModernPortfolio_photo-big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ModernPortfolio_3-up.pdf" descr="ModernPortfolio_3-up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4 Up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ModernPortfolio_4-up-2.pdf" descr="ModernPortfolio_4-up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7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50927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2pPr>
            <a:lvl3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3pPr>
            <a:lvl4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4pPr>
            <a:lvl5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8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69300" y="2324100"/>
            <a:ext cx="40640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2pPr>
            <a:lvl3pPr marL="901700">
              <a:spcBef>
                <a:spcPts val="1000"/>
              </a:spcBef>
              <a:defRPr sz="2400">
                <a:solidFill>
                  <a:srgbClr val="941100"/>
                </a:solidFill>
              </a:defRPr>
            </a:lvl3pPr>
            <a:lvl4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4pPr>
            <a:lvl5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96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197" name="Seal 3 SPOT281.jpg" descr="Seal 3 SPOT281.jpg"/>
          <p:cNvPicPr>
            <a:picLocks noChangeAspect="1"/>
          </p:cNvPicPr>
          <p:nvPr/>
        </p:nvPicPr>
        <p:blipFill>
          <a:blip r:embed="rId2"/>
          <a:srcRect l="4069" t="4341" r="4032" b="3948"/>
          <a:stretch>
            <a:fillRect/>
          </a:stretch>
        </p:blipFill>
        <p:spPr>
          <a:xfrm>
            <a:off x="11653573" y="848089"/>
            <a:ext cx="746954" cy="745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0" h="21564" extrusionOk="0">
                <a:moveTo>
                  <a:pt x="10791" y="0"/>
                </a:moveTo>
                <a:cubicBezTo>
                  <a:pt x="6286" y="0"/>
                  <a:pt x="3129" y="1889"/>
                  <a:pt x="1079" y="5832"/>
                </a:cubicBezTo>
                <a:cubicBezTo>
                  <a:pt x="380" y="7176"/>
                  <a:pt x="22" y="8927"/>
                  <a:pt x="1" y="10666"/>
                </a:cubicBezTo>
                <a:cubicBezTo>
                  <a:pt x="-20" y="12405"/>
                  <a:pt x="298" y="14141"/>
                  <a:pt x="964" y="15442"/>
                </a:cubicBezTo>
                <a:cubicBezTo>
                  <a:pt x="2541" y="18521"/>
                  <a:pt x="4983" y="20504"/>
                  <a:pt x="8245" y="21366"/>
                </a:cubicBezTo>
                <a:cubicBezTo>
                  <a:pt x="8703" y="21487"/>
                  <a:pt x="9276" y="21548"/>
                  <a:pt x="9908" y="21561"/>
                </a:cubicBezTo>
                <a:cubicBezTo>
                  <a:pt x="11802" y="21600"/>
                  <a:pt x="14214" y="21181"/>
                  <a:pt x="15583" y="20494"/>
                </a:cubicBezTo>
                <a:cubicBezTo>
                  <a:pt x="17867" y="19348"/>
                  <a:pt x="19292" y="17944"/>
                  <a:pt x="20491" y="15637"/>
                </a:cubicBezTo>
                <a:cubicBezTo>
                  <a:pt x="21218" y="14239"/>
                  <a:pt x="21580" y="12485"/>
                  <a:pt x="21580" y="10735"/>
                </a:cubicBezTo>
                <a:cubicBezTo>
                  <a:pt x="21580" y="8985"/>
                  <a:pt x="21218" y="7231"/>
                  <a:pt x="20491" y="5832"/>
                </a:cubicBezTo>
                <a:cubicBezTo>
                  <a:pt x="18441" y="1889"/>
                  <a:pt x="15295" y="0"/>
                  <a:pt x="10791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9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/>
            </a:lvl2pPr>
            <a:lvl3pPr marL="901700">
              <a:spcBef>
                <a:spcPts val="1000"/>
              </a:spcBef>
              <a:defRPr sz="2400"/>
            </a:lvl3pPr>
            <a:lvl4pPr marL="1244600">
              <a:spcBef>
                <a:spcPts val="1000"/>
              </a:spcBef>
              <a:defRPr sz="2400"/>
            </a:lvl4pPr>
            <a:lvl5pPr marL="1587500">
              <a:spcBef>
                <a:spcPts val="10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idx="10"/>
          </p:nvPr>
        </p:nvSpPr>
        <p:spPr>
          <a:xfrm>
            <a:off x="650241" y="8882099"/>
            <a:ext cx="3032196" cy="675076"/>
          </a:xfrm>
          <a:prstGeom prst="rect">
            <a:avLst/>
          </a:prstGeom>
          <a:ln/>
        </p:spPr>
        <p:txBody>
          <a:bodyPr lIns="130046" tIns="65023" rIns="130046" bIns="65023"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idx="11"/>
          </p:nvPr>
        </p:nvSpPr>
        <p:spPr>
          <a:xfrm>
            <a:off x="4443307" y="8882099"/>
            <a:ext cx="4115930" cy="675076"/>
          </a:xfrm>
          <a:prstGeom prst="rect">
            <a:avLst/>
          </a:prstGeom>
          <a:ln/>
        </p:spPr>
        <p:txBody>
          <a:bodyPr lIns="130046" tIns="65023" rIns="130046" bIns="65023"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xfrm>
            <a:off x="12163341" y="9131300"/>
            <a:ext cx="294953" cy="292388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237430-9D80-4F24-B61E-E39579E04673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1379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571500" y="330200"/>
            <a:ext cx="11861800" cy="139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 anchor="b"/>
          <a:lstStyle/>
          <a:p>
            <a:r>
              <a:t>Title Text</a:t>
            </a:r>
          </a:p>
        </p:txBody>
      </p:sp>
      <p:sp>
        <p:nvSpPr>
          <p:cNvPr id="3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" name="Seal 3 SPOT281.jpg" descr="Seal 3 SPOT281.jpg"/>
          <p:cNvPicPr>
            <a:picLocks noChangeAspect="1"/>
          </p:cNvPicPr>
          <p:nvPr/>
        </p:nvPicPr>
        <p:blipFill>
          <a:blip r:embed="rId2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861800" cy="656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/>
          <a:lstStyle>
            <a:lvl2pPr>
              <a:defRPr>
                <a:solidFill>
                  <a:srgbClr val="747474"/>
                </a:solidFill>
              </a:defRPr>
            </a:lvl2pPr>
            <a:lvl3pPr>
              <a:defRPr>
                <a:solidFill>
                  <a:srgbClr val="747474"/>
                </a:solidFill>
              </a:defRPr>
            </a:lvl3pPr>
            <a:lvl4pPr>
              <a:defRPr>
                <a:solidFill>
                  <a:srgbClr val="747474"/>
                </a:solidFill>
              </a:defRPr>
            </a:lvl4pPr>
            <a:lvl5pPr>
              <a:defRPr>
                <a:solidFill>
                  <a:srgbClr val="747474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71679" y="9131300"/>
            <a:ext cx="286615" cy="274422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r">
              <a:defRPr sz="14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ransition spd="med"/>
  <p:hf hdr="0" ftr="0" dt="0"/>
  <p:txStyles>
    <p:title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1pPr>
      <a:lvl2pPr marL="0" marR="0" indent="228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2pPr>
      <a:lvl3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3pPr>
      <a:lvl4pPr marL="0" marR="0" indent="685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4pPr>
      <a:lvl5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5pPr>
      <a:lvl6pPr marL="0" marR="0" indent="1143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6pPr>
      <a:lvl7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7pPr>
      <a:lvl8pPr marL="0" marR="0" indent="1600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8pPr>
      <a:lvl9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9pPr>
    </p:titleStyle>
    <p:bodyStyle>
      <a:lvl1pPr marL="2032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1pPr>
      <a:lvl2pPr marL="5461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2pPr>
      <a:lvl3pPr marL="8890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3pPr>
      <a:lvl4pPr marL="12319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4pPr>
      <a:lvl5pPr marL="15748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5pPr>
      <a:lvl6pPr marL="19177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6pPr>
      <a:lvl7pPr marL="22606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7pPr>
      <a:lvl8pPr marL="26035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8pPr>
      <a:lvl9pPr marL="29464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heather.cs.ucdavis.edu/~matloff/158/PLN/RWLock.c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t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Line"/>
          <p:cNvSpPr/>
          <p:nvPr/>
        </p:nvSpPr>
        <p:spPr>
          <a:xfrm>
            <a:off x="647700" y="47498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09" name="Seal 3 SPOT281.jpg" descr="Seal 3 SPOT281.jpg"/>
          <p:cNvPicPr>
            <a:picLocks noChangeAspect="1"/>
          </p:cNvPicPr>
          <p:nvPr/>
        </p:nvPicPr>
        <p:blipFill>
          <a:blip r:embed="rId2"/>
          <a:srcRect l="3469" t="3249" r="3360" b="3533"/>
          <a:stretch>
            <a:fillRect/>
          </a:stretch>
        </p:blipFill>
        <p:spPr>
          <a:xfrm>
            <a:off x="12017002" y="166113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14"/>
                  <a:pt x="560" y="13813"/>
                </a:cubicBezTo>
                <a:cubicBezTo>
                  <a:pt x="1344" y="16446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7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10" name="Primitives &amp; Implementations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(T5): More Threads Synchronization</a:t>
            </a:r>
            <a:endParaRPr dirty="0"/>
          </a:p>
        </p:txBody>
      </p:sp>
      <p:sp>
        <p:nvSpPr>
          <p:cNvPr id="211" name="Ion Mandoiu…"/>
          <p:cNvSpPr txBox="1">
            <a:spLocks noGrp="1"/>
          </p:cNvSpPr>
          <p:nvPr>
            <p:ph type="subTitle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Ion </a:t>
            </a:r>
            <a:r>
              <a:rPr dirty="0" err="1"/>
              <a:t>Mandoiu</a:t>
            </a:r>
            <a:endParaRPr dirty="0"/>
          </a:p>
          <a:p>
            <a:r>
              <a:rPr dirty="0"/>
              <a:t>Laurent Michel</a:t>
            </a:r>
            <a:endParaRPr lang="en-US" dirty="0"/>
          </a:p>
          <a:p>
            <a:r>
              <a:rPr lang="en-US" dirty="0"/>
              <a:t>Revised by M. Khan, J. Shi and W. </a:t>
            </a:r>
            <a:r>
              <a:rPr lang="en-US"/>
              <a:t>Wei</a:t>
            </a:r>
            <a:endParaRPr lang="en-US" dirty="0"/>
          </a:p>
          <a:p>
            <a:endParaRPr dirty="0"/>
          </a:p>
        </p:txBody>
      </p:sp>
      <p:pic>
        <p:nvPicPr>
          <p:cNvPr id="21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908" y="6005655"/>
            <a:ext cx="5080001" cy="3581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Deadlock is a state in which no member can make progress</a:t>
            </a:r>
          </a:p>
          <a:p>
            <a:pPr lvl="1"/>
            <a:r>
              <a:rPr lang="en-US" dirty="0"/>
              <a:t>All are waiting for other members to take actions</a:t>
            </a:r>
          </a:p>
          <a:p>
            <a:pPr lvl="1"/>
            <a:r>
              <a:rPr lang="en-US" dirty="0"/>
              <a:t>A member can be a thread, a process, a computer, etc.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 Two mutexes A and B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Thread 1, locked A, try to get B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Thread 2, locked B, try to get A</a:t>
            </a:r>
          </a:p>
        </p:txBody>
      </p:sp>
    </p:spTree>
    <p:extLst>
      <p:ext uri="{BB962C8B-B14F-4D97-AF65-F5344CB8AC3E}">
        <p14:creationId xmlns:p14="http://schemas.microsoft.com/office/powerpoint/2010/main" val="302457047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solutions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order</a:t>
            </a:r>
          </a:p>
          <a:p>
            <a:pPr lvl="1"/>
            <a:r>
              <a:rPr lang="en-US" dirty="0"/>
              <a:t>All the threads lock </a:t>
            </a:r>
            <a:r>
              <a:rPr lang="en-US" dirty="0" err="1"/>
              <a:t>mutexes</a:t>
            </a:r>
            <a:r>
              <a:rPr lang="en-US" dirty="0"/>
              <a:t> in the same order</a:t>
            </a:r>
          </a:p>
          <a:p>
            <a:pPr marL="342900" lvl="1" indent="0">
              <a:buNone/>
            </a:pPr>
            <a:endParaRPr lang="en-US" dirty="0"/>
          </a:p>
          <a:p>
            <a:pPr marL="342900" lvl="1" indent="0">
              <a:buNone/>
            </a:pPr>
            <a:r>
              <a:rPr lang="en-US" dirty="0"/>
              <a:t>m0, m1, and so on</a:t>
            </a:r>
          </a:p>
          <a:p>
            <a:pPr marL="342900" lvl="1" indent="0">
              <a:buNone/>
            </a:pPr>
            <a:endParaRPr lang="en-US" dirty="0"/>
          </a:p>
          <a:p>
            <a:r>
              <a:rPr lang="en-US" dirty="0"/>
              <a:t>Try and back off</a:t>
            </a:r>
          </a:p>
          <a:p>
            <a:pPr lvl="1"/>
            <a:r>
              <a:rPr lang="en-US" dirty="0"/>
              <a:t>Try to lock. If it fails, release all locks and try again </a:t>
            </a:r>
          </a:p>
          <a:p>
            <a:pPr marL="3429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986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en-US" sz="4000" dirty="0"/>
              <a:t>More Synchronization Primitives</a:t>
            </a:r>
            <a:endParaRPr sz="4000" dirty="0"/>
          </a:p>
        </p:txBody>
      </p:sp>
      <p:pic>
        <p:nvPicPr>
          <p:cNvPr id="93" name="Seal 3 SPOT281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11585193" y="813825"/>
            <a:ext cx="757284" cy="757669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Shape 9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3000" dirty="0">
                <a:solidFill>
                  <a:srgbClr val="941100"/>
                </a:solidFill>
              </a:rPr>
              <a:t>So far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3000" dirty="0" err="1">
                <a:solidFill>
                  <a:schemeClr val="bg1">
                    <a:lumMod val="50000"/>
                  </a:schemeClr>
                </a:solidFill>
              </a:rPr>
              <a:t>Mutexes</a:t>
            </a:r>
            <a:endParaRPr sz="3000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3000" dirty="0">
                <a:solidFill>
                  <a:schemeClr val="bg1">
                    <a:lumMod val="50000"/>
                  </a:schemeClr>
                </a:solidFill>
              </a:rPr>
              <a:t>Condition variables</a:t>
            </a:r>
          </a:p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3000" dirty="0">
                <a:solidFill>
                  <a:srgbClr val="941100"/>
                </a:solidFill>
              </a:rPr>
              <a:t>Today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3200" dirty="0">
                <a:solidFill>
                  <a:schemeClr val="accent1"/>
                </a:solidFill>
              </a:rPr>
              <a:t>Read-write locks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3200" dirty="0">
                <a:solidFill>
                  <a:schemeClr val="accent1"/>
                </a:solidFill>
              </a:rPr>
              <a:t>Barriers</a:t>
            </a: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endParaRPr lang="en-US" sz="3200" dirty="0">
              <a:solidFill>
                <a:schemeClr val="accent1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altLang="en-US" sz="3200" dirty="0"/>
              <a:t>Mutexes and condition variables are primitive constructs</a:t>
            </a:r>
          </a:p>
          <a:p>
            <a:pPr lvl="1">
              <a:defRPr/>
            </a:pPr>
            <a:r>
              <a:rPr lang="en-US" altLang="en-US" sz="3200" dirty="0"/>
              <a:t>Read-Write Locks and Barriers can be built using mutexes and condition variables </a:t>
            </a: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E9082A-C793-4AE5-98F1-9144ADB36EE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8249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Readers-Writers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 dirty="0"/>
              <a:t>In many applications, a data structure is read frequently but written infrequently</a:t>
            </a:r>
            <a:endParaRPr lang="en-US" altLang="en-US" dirty="0"/>
          </a:p>
          <a:p>
            <a:r>
              <a:rPr lang="en-US" sz="3200" dirty="0">
                <a:solidFill>
                  <a:schemeClr val="accent1"/>
                </a:solidFill>
              </a:rPr>
              <a:t>Constraints:</a:t>
            </a:r>
          </a:p>
          <a:p>
            <a:pPr lvl="1"/>
            <a:r>
              <a:rPr lang="en-US" altLang="en-US" sz="3200" dirty="0"/>
              <a:t>Multiple readers can read simultaneously</a:t>
            </a:r>
          </a:p>
          <a:p>
            <a:pPr lvl="2"/>
            <a:r>
              <a:rPr lang="en-US" sz="3200" dirty="0"/>
              <a:t>A reader can start even if other readers are reading</a:t>
            </a:r>
            <a:endParaRPr lang="en-US" altLang="en-US" sz="3200" dirty="0"/>
          </a:p>
          <a:p>
            <a:pPr lvl="1"/>
            <a:r>
              <a:rPr lang="en-US" altLang="en-US" sz="3200" dirty="0"/>
              <a:t>Only one writer can write at a time</a:t>
            </a:r>
          </a:p>
          <a:p>
            <a:pPr lvl="1"/>
            <a:r>
              <a:rPr lang="en-US" altLang="en-US" sz="3200" dirty="0"/>
              <a:t>Read and write cannot happen at the same time</a:t>
            </a:r>
            <a:endParaRPr lang="en-US" sz="3200" dirty="0"/>
          </a:p>
          <a:p>
            <a:pPr lvl="2"/>
            <a:r>
              <a:rPr lang="en-US" sz="3200" dirty="0"/>
              <a:t>A reader has to wait if a writer is writing</a:t>
            </a:r>
          </a:p>
          <a:p>
            <a:pPr lvl="2"/>
            <a:r>
              <a:rPr lang="en-US" sz="3200" dirty="0"/>
              <a:t>A writer has to wait for other readers and writers to finish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DD1DB-ADC5-4E34-AD60-402332DF2CE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53022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A0884-1A33-497D-B9D4-70E6A70C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0A6C6-9F78-407F-A989-8484A98B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dirty="0"/>
              <a:t>Use </a:t>
            </a:r>
            <a:r>
              <a:rPr lang="en-US" sz="3200" dirty="0" err="1"/>
              <a:t>Pthreads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read-write locks</a:t>
            </a:r>
            <a:r>
              <a:rPr lang="en-US" sz="3200" dirty="0"/>
              <a:t> </a:t>
            </a:r>
          </a:p>
          <a:p>
            <a:pPr lvl="1"/>
            <a:r>
              <a:rPr lang="en-US" altLang="en-US" sz="3200" dirty="0"/>
              <a:t>Like a mutex with </a:t>
            </a:r>
            <a:r>
              <a:rPr lang="en-US" altLang="en-US" sz="3200" dirty="0">
                <a:solidFill>
                  <a:schemeClr val="accent1"/>
                </a:solidFill>
              </a:rPr>
              <a:t>two different lock functions</a:t>
            </a:r>
            <a:r>
              <a:rPr lang="en-US" altLang="en-US" sz="3200" dirty="0"/>
              <a:t> (read/write)</a:t>
            </a:r>
          </a:p>
          <a:p>
            <a:endParaRPr lang="en-US" sz="3200" dirty="0"/>
          </a:p>
          <a:p>
            <a:r>
              <a:rPr lang="en-US" sz="3200" dirty="0"/>
              <a:t>Use mutex and condition variables</a:t>
            </a:r>
          </a:p>
          <a:p>
            <a:pPr lvl="1"/>
            <a:r>
              <a:rPr lang="en-US" sz="3200" dirty="0"/>
              <a:t>Keep track of the number of readers and writers</a:t>
            </a:r>
          </a:p>
          <a:p>
            <a:pPr lvl="2"/>
            <a:r>
              <a:rPr lang="en-US" sz="3200" dirty="0"/>
              <a:t>Active and </a:t>
            </a:r>
            <a:r>
              <a:rPr lang="en-US" sz="3200" dirty="0" err="1"/>
              <a:t>watiting</a:t>
            </a:r>
            <a:endParaRPr lang="en-US" sz="3200" dirty="0"/>
          </a:p>
          <a:p>
            <a:pPr lvl="1"/>
            <a:r>
              <a:rPr lang="en-US" sz="3200" dirty="0"/>
              <a:t>Choose proper predicate</a:t>
            </a:r>
          </a:p>
          <a:p>
            <a:pPr lvl="2"/>
            <a:r>
              <a:rPr lang="en-US" sz="3200" dirty="0"/>
              <a:t>If the predicate is true, proceed to read/write</a:t>
            </a:r>
          </a:p>
          <a:p>
            <a:pPr lvl="2"/>
            <a:r>
              <a:rPr lang="en-US" sz="3200" dirty="0"/>
              <a:t>If the predicate not true, wait</a:t>
            </a:r>
          </a:p>
          <a:p>
            <a:pPr lvl="1"/>
            <a:r>
              <a:rPr lang="en-US" sz="3200" dirty="0"/>
              <a:t>Notify others when a thread is done with reading/writing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A6338-31C1-4E87-B6F1-A51CA8A1843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3932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Pthread</a:t>
            </a:r>
            <a:r>
              <a:rPr lang="en-US" dirty="0"/>
              <a:t> Read-Write Lock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#include  &lt;</a:t>
            </a:r>
            <a:r>
              <a:rPr lang="en-US" sz="2400" dirty="0" err="1">
                <a:latin typeface="Consolas" panose="020B0609020204030204" pitchFamily="49" charset="0"/>
              </a:rPr>
              <a:t>pthread.h</a:t>
            </a:r>
            <a:r>
              <a:rPr lang="en-US" sz="24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pthread_rwlock_t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latin typeface="Consolas" panose="020B0609020204030204" pitchFamily="49" charset="0"/>
              </a:rPr>
              <a:t>rwlock</a:t>
            </a:r>
            <a:r>
              <a:rPr lang="en-US" sz="2400" dirty="0">
                <a:latin typeface="Consolas" panose="020B0609020204030204" pitchFamily="49" charset="0"/>
              </a:rPr>
              <a:t>; 		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define a read-write lock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initialize and destroy a read-write lock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pthread_rwlock_init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pthread_rwlock_t</a:t>
            </a:r>
            <a:r>
              <a:rPr lang="en-US" sz="2400" dirty="0">
                <a:latin typeface="Consolas" panose="020B0609020204030204" pitchFamily="49" charset="0"/>
              </a:rPr>
              <a:t> *restrict </a:t>
            </a:r>
            <a:r>
              <a:rPr lang="en-US" sz="2400" dirty="0" err="1">
                <a:latin typeface="Consolas" panose="020B0609020204030204" pitchFamily="49" charset="0"/>
              </a:rPr>
              <a:t>rwlock</a:t>
            </a:r>
            <a:r>
              <a:rPr lang="en-US" sz="24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	</a:t>
            </a:r>
            <a:r>
              <a:rPr lang="en-US" sz="2400" dirty="0" err="1">
                <a:latin typeface="Consolas" panose="020B0609020204030204" pitchFamily="49" charset="0"/>
              </a:rPr>
              <a:t>const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pthread_rwlockattr_t</a:t>
            </a:r>
            <a:r>
              <a:rPr lang="en-US" sz="2400" dirty="0">
                <a:latin typeface="Consolas" panose="020B0609020204030204" pitchFamily="49" charset="0"/>
              </a:rPr>
              <a:t> *restrict </a:t>
            </a:r>
            <a:r>
              <a:rPr lang="en-US" sz="2400" dirty="0" err="1">
                <a:latin typeface="Consolas" panose="020B0609020204030204" pitchFamily="49" charset="0"/>
              </a:rPr>
              <a:t>attr</a:t>
            </a:r>
            <a:r>
              <a:rPr lang="en-US" sz="2400" dirty="0">
                <a:latin typeface="Consolas" panose="020B0609020204030204" pitchFamily="49" charset="0"/>
              </a:rPr>
              <a:t>); 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pthread_rwlock_destroy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pthread_rwlock_t</a:t>
            </a:r>
            <a:r>
              <a:rPr lang="en-US" sz="2400" dirty="0">
                <a:latin typeface="Consolas" panose="020B0609020204030204" pitchFamily="49" charset="0"/>
              </a:rPr>
              <a:t> *</a:t>
            </a:r>
            <a:r>
              <a:rPr lang="en-US" sz="2400" dirty="0" err="1">
                <a:latin typeface="Consolas" panose="020B0609020204030204" pitchFamily="49" charset="0"/>
              </a:rPr>
              <a:t>rwlock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lock functions for readers and writers, and unlock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pthread_rwlock_rdlock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pthread_rwlock_t</a:t>
            </a:r>
            <a:r>
              <a:rPr lang="en-US" sz="2400" dirty="0">
                <a:latin typeface="Consolas" panose="020B0609020204030204" pitchFamily="49" charset="0"/>
              </a:rPr>
              <a:t> *</a:t>
            </a:r>
            <a:r>
              <a:rPr lang="en-US" sz="2400" dirty="0" err="1">
                <a:latin typeface="Consolas" panose="020B0609020204030204" pitchFamily="49" charset="0"/>
              </a:rPr>
              <a:t>rwlock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pthread_rwlock_wrlock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pthread_rwlock_t</a:t>
            </a:r>
            <a:r>
              <a:rPr lang="en-US" sz="2400" dirty="0">
                <a:latin typeface="Consolas" panose="020B0609020204030204" pitchFamily="49" charset="0"/>
              </a:rPr>
              <a:t> *</a:t>
            </a:r>
            <a:r>
              <a:rPr lang="en-US" sz="2400" dirty="0" err="1">
                <a:latin typeface="Consolas" panose="020B0609020204030204" pitchFamily="49" charset="0"/>
              </a:rPr>
              <a:t>rwlock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pthread_rwlock_unlock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pthread_rwlock_t</a:t>
            </a:r>
            <a:r>
              <a:rPr lang="en-US" sz="2400" dirty="0">
                <a:latin typeface="Consolas" panose="020B0609020204030204" pitchFamily="49" charset="0"/>
              </a:rPr>
              <a:t> *</a:t>
            </a:r>
            <a:r>
              <a:rPr lang="en-US" sz="2400" dirty="0" err="1">
                <a:latin typeface="Consolas" panose="020B0609020204030204" pitchFamily="49" charset="0"/>
              </a:rPr>
              <a:t>rwlock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2147D-CF77-4903-AA4D-8530B68D9BC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0602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Pthread</a:t>
            </a:r>
            <a:r>
              <a:rPr lang="en-US" altLang="en-US" dirty="0"/>
              <a:t> Read-Write Locks For </a:t>
            </a:r>
            <a:r>
              <a:rPr lang="en-US" altLang="en-US" dirty="0">
                <a:solidFill>
                  <a:srgbClr val="FF0000"/>
                </a:solidFill>
              </a:rPr>
              <a:t>Reading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First lock function locks for </a:t>
            </a:r>
            <a:r>
              <a:rPr lang="en-US" altLang="en-US" b="1" dirty="0">
                <a:solidFill>
                  <a:schemeClr val="accent5"/>
                </a:solidFill>
              </a:rPr>
              <a:t>reading</a:t>
            </a:r>
          </a:p>
          <a:p>
            <a:pPr lvl="2"/>
            <a:r>
              <a:rPr lang="en-US" altLang="en-US" dirty="0"/>
              <a:t>A thread gets read lock if and only if </a:t>
            </a:r>
            <a:r>
              <a:rPr lang="en-US" altLang="en-US" dirty="0">
                <a:solidFill>
                  <a:schemeClr val="accent1"/>
                </a:solidFill>
              </a:rPr>
              <a:t>no writer has the lock and no writer is blocked on the lock</a:t>
            </a:r>
          </a:p>
          <a:p>
            <a:pPr lvl="2"/>
            <a:r>
              <a:rPr lang="en-US" altLang="en-US" dirty="0"/>
              <a:t>More than one thread can get the read lock</a:t>
            </a:r>
          </a:p>
          <a:p>
            <a:pPr lvl="1"/>
            <a:endParaRPr lang="en-US" altLang="en-US" dirty="0"/>
          </a:p>
        </p:txBody>
      </p:sp>
      <p:pic>
        <p:nvPicPr>
          <p:cNvPr id="5" name="Picture 2" descr="http://www.javalobby.org/images/postings/rj/read_write_locks/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9630" y="5269470"/>
            <a:ext cx="5319584" cy="32004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F608C9-F11E-4E09-991C-8B4FC6514D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2237430-9D80-4F24-B61E-E39579E04673}" type="slidenum">
              <a:rPr lang="tr-TR" smtClean="0"/>
              <a:pPr>
                <a:defRPr/>
              </a:pPr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0643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Pthread</a:t>
            </a:r>
            <a:r>
              <a:rPr lang="en-US" altLang="en-US" dirty="0"/>
              <a:t> Read-Write Locks For </a:t>
            </a:r>
            <a:r>
              <a:rPr lang="en-US" altLang="en-US" dirty="0">
                <a:solidFill>
                  <a:srgbClr val="FF0000"/>
                </a:solidFill>
              </a:rPr>
              <a:t>Writing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Second lock function locks for </a:t>
            </a:r>
            <a:r>
              <a:rPr lang="en-US" altLang="en-US" b="1" dirty="0">
                <a:solidFill>
                  <a:schemeClr val="accent5"/>
                </a:solidFill>
              </a:rPr>
              <a:t>writing</a:t>
            </a:r>
          </a:p>
          <a:p>
            <a:pPr lvl="2"/>
            <a:r>
              <a:rPr lang="en-US" altLang="en-US" dirty="0"/>
              <a:t>A thread gets write lock if and only if </a:t>
            </a:r>
            <a:r>
              <a:rPr lang="en-US" altLang="en-US" dirty="0">
                <a:solidFill>
                  <a:schemeClr val="accent1"/>
                </a:solidFill>
              </a:rPr>
              <a:t>no reader or writer has the lock</a:t>
            </a:r>
            <a:endParaRPr lang="en-US" altLang="en-US" dirty="0"/>
          </a:p>
          <a:p>
            <a:pPr lvl="3"/>
            <a:r>
              <a:rPr lang="en-US" altLang="en-US" dirty="0"/>
              <a:t>Wait for read lock, too !</a:t>
            </a:r>
          </a:p>
          <a:p>
            <a:pPr lvl="2"/>
            <a:r>
              <a:rPr lang="en-US" altLang="en-US" dirty="0"/>
              <a:t>Only one writer is allowed at any time</a:t>
            </a:r>
          </a:p>
        </p:txBody>
      </p:sp>
      <p:pic>
        <p:nvPicPr>
          <p:cNvPr id="6" name="Picture 4" descr="http://www.javalobby.org/images/postings/rj/read_write_locks/3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0724" y="5709889"/>
            <a:ext cx="5486400" cy="33007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17C245-95E7-4FFB-BF2F-47F3789793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2237430-9D80-4F24-B61E-E39579E04673}" type="slidenum">
              <a:rPr lang="tr-TR" smtClean="0"/>
              <a:pPr>
                <a:defRPr/>
              </a:pPr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8445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Read-Write Lock Issues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 starvation</a:t>
            </a:r>
          </a:p>
          <a:p>
            <a:pPr lvl="1"/>
            <a:r>
              <a:rPr lang="en-US" dirty="0"/>
              <a:t>Too many readers. Writers do not have a chance to start</a:t>
            </a:r>
          </a:p>
          <a:p>
            <a:pPr lvl="1"/>
            <a:r>
              <a:rPr lang="en-US" dirty="0"/>
              <a:t>Solution?</a:t>
            </a:r>
          </a:p>
          <a:p>
            <a:r>
              <a:rPr lang="en-US" dirty="0"/>
              <a:t>"write locks shall take precedence over read locks"</a:t>
            </a:r>
          </a:p>
          <a:p>
            <a:pPr lvl="1"/>
            <a:r>
              <a:rPr lang="en-US" dirty="0"/>
              <a:t>which leads to reader starvation</a:t>
            </a:r>
          </a:p>
          <a:p>
            <a:endParaRPr lang="en-US" dirty="0"/>
          </a:p>
          <a:p>
            <a:r>
              <a:rPr lang="en-US" dirty="0"/>
              <a:t>Reader starvation: readers do not have a chance</a:t>
            </a:r>
          </a:p>
          <a:p>
            <a:pPr lvl="1"/>
            <a:r>
              <a:rPr lang="en-US" dirty="0"/>
              <a:t>Too many writers. Readers do not have a chance</a:t>
            </a:r>
          </a:p>
          <a:p>
            <a:pPr lvl="2"/>
            <a:r>
              <a:rPr lang="en-US" dirty="0"/>
              <a:t>Another writer starts when a writer unlocks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AD759-9503-42CA-A376-7B3EDB8FCD4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54828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C93D-5C3B-4E72-9417-9A3052A8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Pthread</a:t>
            </a:r>
            <a:r>
              <a:rPr lang="en-US" dirty="0"/>
              <a:t> read-write lock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0B7B1-674B-452D-86E2-A8B71ECF6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Pthread</a:t>
            </a:r>
            <a:r>
              <a:rPr lang="en-US" dirty="0"/>
              <a:t> </a:t>
            </a:r>
            <a:r>
              <a:rPr lang="en-US" dirty="0" err="1"/>
              <a:t>rwlock</a:t>
            </a:r>
            <a:r>
              <a:rPr lang="en-US" dirty="0"/>
              <a:t> prefers writer</a:t>
            </a:r>
          </a:p>
          <a:p>
            <a:pPr lvl="1"/>
            <a:r>
              <a:rPr lang="en-US" dirty="0"/>
              <a:t>From the manual page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The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pthread_rwlock_rdlock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() function shall apply a read lock to the read-write lock  referenced  by 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rwlock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.   The  calling  thread acquires the read lock if a writer does not hold the lock and there are no writers blocked on the lock.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7D397-7F36-4A8F-94E9-015F92BA2EF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7124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89E66-B3E8-4A6D-A127-2D39301B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mutex and condition to implement </a:t>
            </a:r>
            <a:r>
              <a:rPr lang="en-US" dirty="0" err="1"/>
              <a:t>rwlock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568A6-AC3E-4CD7-9696-EAAE7B000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mutex and condition is more flexible, we can adjust our strategy</a:t>
            </a:r>
          </a:p>
          <a:p>
            <a:pPr lvl="1"/>
            <a:r>
              <a:rPr lang="en-US" dirty="0"/>
              <a:t>There are many ways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Best for us: </a:t>
            </a:r>
            <a:br>
              <a:rPr lang="en-US" dirty="0"/>
            </a:br>
            <a:r>
              <a:rPr lang="en-US" dirty="0"/>
              <a:t>One mutex and two condition variables (one for </a:t>
            </a:r>
            <a:r>
              <a:rPr lang="en-US" dirty="0" err="1"/>
              <a:t>rd</a:t>
            </a:r>
            <a:r>
              <a:rPr lang="en-US" dirty="0"/>
              <a:t>, one for </a:t>
            </a:r>
            <a:r>
              <a:rPr lang="en-US" dirty="0" err="1"/>
              <a:t>wr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Keep track of the numbers needed by the predicate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http://heather.cs.ucdavis.edu/~matloff/158/PLN/RWLock.c</a:t>
            </a:r>
            <a:endParaRPr lang="en-US" dirty="0"/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6D590-AD35-4C51-BD65-6C1018A9092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79344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ED5F8-28EC-4603-92E3-1E96565DA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for </a:t>
            </a:r>
            <a:r>
              <a:rPr lang="en-US" dirty="0" err="1"/>
              <a:t>rwlock</a:t>
            </a:r>
            <a:r>
              <a:rPr lang="en-US" dirty="0"/>
              <a:t> lock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9F6DC-B677-4EA2-AA96-9762CBA1E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pthread_mutex_lock</a:t>
            </a:r>
            <a:r>
              <a:rPr lang="en-US" sz="2400" dirty="0">
                <a:latin typeface="Consolas" panose="020B0609020204030204" pitchFamily="49" charset="0"/>
              </a:rPr>
              <a:t>(&amp;mutex);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// increment/decrement waiting counter and the while loop</a:t>
            </a:r>
          </a:p>
          <a:p>
            <a:pPr marL="0" lvl="0" indent="0">
              <a:buNone/>
            </a:pPr>
            <a:r>
              <a:rPr lang="en-US" sz="2400">
                <a:solidFill>
                  <a:schemeClr val="accent2"/>
                </a:solidFill>
                <a:latin typeface="Consolas" panose="020B0609020204030204" pitchFamily="49" charset="0"/>
              </a:rPr>
              <a:t>increment 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</a:rPr>
              <a:t>waiting counter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// predicate depends on the policy!</a:t>
            </a:r>
            <a:endParaRPr lang="en-US" sz="2400" dirty="0"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while (! predicate)             </a:t>
            </a:r>
            <a:r>
              <a:rPr 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// check if this thread can lock</a:t>
            </a:r>
            <a:endParaRPr lang="en-US" sz="2400" dirty="0"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  </a:t>
            </a:r>
            <a:r>
              <a:rPr lang="en-US" sz="2400" dirty="0" err="1">
                <a:latin typeface="Consolas" panose="020B0609020204030204" pitchFamily="49" charset="0"/>
              </a:rPr>
              <a:t>pthread_cond_wait</a:t>
            </a:r>
            <a:r>
              <a:rPr lang="en-US" sz="2400" dirty="0">
                <a:latin typeface="Consolas" panose="020B0609020204030204" pitchFamily="49" charset="0"/>
              </a:rPr>
              <a:t>(&amp;</a:t>
            </a:r>
            <a:r>
              <a:rPr lang="en-US" sz="2400" dirty="0" err="1">
                <a:latin typeface="Consolas" panose="020B0609020204030204" pitchFamily="49" charset="0"/>
              </a:rPr>
              <a:t>cond</a:t>
            </a:r>
            <a:r>
              <a:rPr lang="en-US" sz="2400" dirty="0">
                <a:latin typeface="Consolas" panose="020B0609020204030204" pitchFamily="49" charset="0"/>
              </a:rPr>
              <a:t>); </a:t>
            </a:r>
            <a:r>
              <a:rPr 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// using either </a:t>
            </a:r>
            <a:r>
              <a:rPr lang="en-US" sz="2400" dirty="0" err="1">
                <a:solidFill>
                  <a:srgbClr val="0365C0"/>
                </a:solidFill>
                <a:latin typeface="Consolas" panose="020B0609020204030204" pitchFamily="49" charset="0"/>
              </a:rPr>
              <a:t>rd</a:t>
            </a:r>
            <a:r>
              <a:rPr 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 or </a:t>
            </a:r>
            <a:r>
              <a:rPr lang="en-US" sz="2400" dirty="0" err="1">
                <a:solidFill>
                  <a:srgbClr val="0365C0"/>
                </a:solidFill>
                <a:latin typeface="Consolas" panose="020B0609020204030204" pitchFamily="49" charset="0"/>
              </a:rPr>
              <a:t>wr</a:t>
            </a:r>
            <a:r>
              <a:rPr 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 condition</a:t>
            </a:r>
            <a:endParaRPr lang="en-US" sz="2400" dirty="0"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</a:rPr>
              <a:t>decrement waiting counter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</a:rPr>
              <a:t>increment active counter</a:t>
            </a:r>
          </a:p>
          <a:p>
            <a:pPr marL="0" lv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pthread_mutex_unlock</a:t>
            </a:r>
            <a:r>
              <a:rPr lang="en-US" sz="2400" dirty="0">
                <a:latin typeface="Consolas" panose="020B0609020204030204" pitchFamily="49" charset="0"/>
              </a:rPr>
              <a:t>(&amp;mutex);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// </a:t>
            </a:r>
            <a:r>
              <a:rPr lang="en-US" sz="2400" dirty="0" err="1">
                <a:solidFill>
                  <a:srgbClr val="0365C0"/>
                </a:solidFill>
                <a:latin typeface="Consolas" panose="020B0609020204030204" pitchFamily="49" charset="0"/>
              </a:rPr>
              <a:t>rwlock</a:t>
            </a:r>
            <a:r>
              <a:rPr 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 is locked. Can start to read/write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// Note that </a:t>
            </a:r>
            <a:r>
              <a:rPr lang="en-US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mutex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 is unlocked!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E3C0A-039C-466F-B4B4-ADC02F6B06F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7521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C53C1-A9BB-4BD7-8B09-895283BF5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for </a:t>
            </a:r>
            <a:r>
              <a:rPr lang="en-US" dirty="0" err="1"/>
              <a:t>rwlock</a:t>
            </a:r>
            <a:r>
              <a:rPr lang="en-US" dirty="0"/>
              <a:t> unlock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C9BEE-2F09-49BA-A765-F0C19209F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</a:rPr>
              <a:t>Perform read/write operations </a:t>
            </a:r>
            <a:r>
              <a:rPr 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// Depending on the lock type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// unlock </a:t>
            </a:r>
            <a:r>
              <a:rPr lang="en-US" sz="2400" dirty="0" err="1">
                <a:solidFill>
                  <a:srgbClr val="0365C0"/>
                </a:solidFill>
                <a:latin typeface="Consolas" panose="020B0609020204030204" pitchFamily="49" charset="0"/>
              </a:rPr>
              <a:t>rwlock</a:t>
            </a:r>
            <a:r>
              <a:rPr 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 when the operation is done</a:t>
            </a:r>
          </a:p>
          <a:p>
            <a:pPr marL="0" lv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pthread_mutex_lock</a:t>
            </a:r>
            <a:r>
              <a:rPr lang="en-US" sz="2400" dirty="0">
                <a:latin typeface="Consolas" panose="020B0609020204030204" pitchFamily="49" charset="0"/>
              </a:rPr>
              <a:t>(&amp;</a:t>
            </a:r>
            <a:r>
              <a:rPr lang="en-US" sz="2400" dirty="0" err="1">
                <a:latin typeface="Consolas" panose="020B0609020204030204" pitchFamily="49" charset="0"/>
              </a:rPr>
              <a:t>mutex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882B"/>
                </a:solidFill>
                <a:latin typeface="Consolas" panose="020B0609020204030204" pitchFamily="49" charset="0"/>
              </a:rPr>
              <a:t>decrement active counter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// inform waiting threads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// policy decides checking writer or reader first</a:t>
            </a:r>
          </a:p>
          <a:p>
            <a:pPr marL="0" lv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if there is a writer waiting</a:t>
            </a:r>
          </a:p>
          <a:p>
            <a:pPr marL="0" lv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signal write </a:t>
            </a:r>
            <a:r>
              <a:rPr lang="en-US" sz="2400" dirty="0" err="1">
                <a:latin typeface="Consolas" panose="020B0609020204030204" pitchFamily="49" charset="0"/>
              </a:rPr>
              <a:t>cond</a:t>
            </a:r>
            <a:endParaRPr lang="en-US" sz="2400" dirty="0"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>
                <a:solidFill>
                  <a:srgbClr val="7030A0"/>
                </a:solidFill>
                <a:latin typeface="Consolas" panose="020B0609020204030204" pitchFamily="49" charset="0"/>
              </a:rPr>
              <a:t>if there is a reader waiting</a:t>
            </a:r>
            <a:r>
              <a:rPr lang="en-US" sz="2400" dirty="0">
                <a:latin typeface="Consolas" panose="020B0609020204030204" pitchFamily="49" charset="0"/>
              </a:rPr>
              <a:t>  </a:t>
            </a:r>
            <a:r>
              <a:rPr lang="en-US" sz="2400" dirty="0">
                <a:solidFill>
                  <a:srgbClr val="0365C0"/>
                </a:solidFill>
                <a:latin typeface="Consolas" panose="020B0609020204030204" pitchFamily="49" charset="0"/>
              </a:rPr>
              <a:t>// only needed for write unlock</a:t>
            </a:r>
            <a:endParaRPr lang="en-US" sz="2400" dirty="0"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>
                <a:solidFill>
                  <a:srgbClr val="7030A0"/>
                </a:solidFill>
                <a:latin typeface="Consolas" panose="020B0609020204030204" pitchFamily="49" charset="0"/>
              </a:rPr>
              <a:t>   broadcast read </a:t>
            </a:r>
            <a:r>
              <a:rPr lang="en-US" sz="2400" dirty="0" err="1">
                <a:solidFill>
                  <a:srgbClr val="7030A0"/>
                </a:solidFill>
                <a:latin typeface="Consolas" panose="020B0609020204030204" pitchFamily="49" charset="0"/>
              </a:rPr>
              <a:t>cond</a:t>
            </a:r>
            <a:endParaRPr lang="en-US" sz="24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pthread_mutex_unlock</a:t>
            </a:r>
            <a:r>
              <a:rPr lang="en-US" sz="2400" dirty="0">
                <a:latin typeface="Consolas" panose="020B0609020204030204" pitchFamily="49" charset="0"/>
              </a:rPr>
              <a:t>(&amp;mutex);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1350C-CCD2-4854-A787-3A071255403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2447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89E66-B3E8-4A6D-A127-2D39301B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rwlock_writeunlock</a:t>
            </a:r>
            <a:r>
              <a:rPr lang="en-US" dirty="0"/>
              <a:t>()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568A6-AC3E-4CD7-9696-EAAE7B000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this lock prefer reader or writer?   A: reader B: writer C: don't know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    status = </a:t>
            </a:r>
            <a:r>
              <a:rPr lang="en-US" sz="2400" dirty="0" err="1">
                <a:latin typeface="Consolas" panose="020B0609020204030204" pitchFamily="49" charset="0"/>
              </a:rPr>
              <a:t>pthread_mutex_lock</a:t>
            </a:r>
            <a:r>
              <a:rPr lang="en-US" sz="2400" dirty="0">
                <a:latin typeface="Consolas" panose="020B0609020204030204" pitchFamily="49" charset="0"/>
              </a:rPr>
              <a:t> (&amp;</a:t>
            </a:r>
            <a:r>
              <a:rPr lang="en-US" sz="2400" dirty="0" err="1">
                <a:latin typeface="Consolas" panose="020B0609020204030204" pitchFamily="49" charset="0"/>
              </a:rPr>
              <a:t>rwl</a:t>
            </a:r>
            <a:r>
              <a:rPr lang="en-US" sz="2400" dirty="0"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latin typeface="Consolas" panose="020B0609020204030204" pitchFamily="49" charset="0"/>
              </a:rPr>
              <a:t>mutex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rwl</a:t>
            </a:r>
            <a:r>
              <a:rPr lang="en-US" sz="2400" dirty="0"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latin typeface="Consolas" panose="020B0609020204030204" pitchFamily="49" charset="0"/>
              </a:rPr>
              <a:t>w_active</a:t>
            </a:r>
            <a:r>
              <a:rPr lang="en-US" sz="2400" dirty="0">
                <a:latin typeface="Consolas" panose="020B0609020204030204" pitchFamily="49" charset="0"/>
              </a:rPr>
              <a:t>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    if 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rwl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r_wait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&gt; 0)</a:t>
            </a:r>
            <a:r>
              <a:rPr lang="en-US" sz="24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        status = </a:t>
            </a:r>
            <a:r>
              <a:rPr lang="en-US" sz="2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pthread_cond_broadcast</a:t>
            </a:r>
            <a:r>
              <a:rPr lang="en-US" sz="2400" dirty="0">
                <a:latin typeface="Consolas" panose="020B0609020204030204" pitchFamily="49" charset="0"/>
              </a:rPr>
              <a:t> (&amp;</a:t>
            </a:r>
            <a:r>
              <a:rPr lang="en-US" sz="2400" dirty="0" err="1">
                <a:latin typeface="Consolas" panose="020B0609020204030204" pitchFamily="49" charset="0"/>
              </a:rPr>
              <a:t>rwl</a:t>
            </a:r>
            <a:r>
              <a:rPr lang="en-US" sz="2400" dirty="0">
                <a:latin typeface="Consolas" panose="020B0609020204030204" pitchFamily="49" charset="0"/>
              </a:rPr>
              <a:t>-&gt;read);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        if (status != 0)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            </a:t>
            </a:r>
            <a:r>
              <a:rPr lang="en-US" sz="2400" dirty="0" err="1">
                <a:latin typeface="Consolas" panose="020B0609020204030204" pitchFamily="49" charset="0"/>
              </a:rPr>
              <a:t>pthread_mutex_unlock</a:t>
            </a:r>
            <a:r>
              <a:rPr lang="en-US" sz="2400" dirty="0">
                <a:latin typeface="Consolas" panose="020B0609020204030204" pitchFamily="49" charset="0"/>
              </a:rPr>
              <a:t> (&amp;</a:t>
            </a:r>
            <a:r>
              <a:rPr lang="en-US" sz="2400" dirty="0" err="1">
                <a:latin typeface="Consolas" panose="020B0609020204030204" pitchFamily="49" charset="0"/>
              </a:rPr>
              <a:t>rwl</a:t>
            </a:r>
            <a:r>
              <a:rPr lang="en-US" sz="2400" dirty="0"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latin typeface="Consolas" panose="020B0609020204030204" pitchFamily="49" charset="0"/>
              </a:rPr>
              <a:t>mutex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            return status;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    } else if 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rwl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w_wait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&gt; 0)</a:t>
            </a:r>
            <a:r>
              <a:rPr lang="en-US" sz="24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        status = </a:t>
            </a:r>
            <a:r>
              <a:rPr lang="en-US" sz="2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pthread_cond_signal</a:t>
            </a:r>
            <a:r>
              <a:rPr lang="en-US" sz="2400" dirty="0">
                <a:latin typeface="Consolas" panose="020B0609020204030204" pitchFamily="49" charset="0"/>
              </a:rPr>
              <a:t> (&amp;</a:t>
            </a:r>
            <a:r>
              <a:rPr lang="en-US" sz="2400" dirty="0" err="1">
                <a:latin typeface="Consolas" panose="020B0609020204030204" pitchFamily="49" charset="0"/>
              </a:rPr>
              <a:t>rwl</a:t>
            </a:r>
            <a:r>
              <a:rPr lang="en-US" sz="2400" dirty="0">
                <a:latin typeface="Consolas" panose="020B0609020204030204" pitchFamily="49" charset="0"/>
              </a:rPr>
              <a:t>-&gt;write);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        if (status != 0)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            </a:t>
            </a:r>
            <a:r>
              <a:rPr lang="en-US" sz="2400" dirty="0" err="1">
                <a:latin typeface="Consolas" panose="020B0609020204030204" pitchFamily="49" charset="0"/>
              </a:rPr>
              <a:t>pthread_mutex_unlock</a:t>
            </a:r>
            <a:r>
              <a:rPr lang="en-US" sz="2400" dirty="0">
                <a:latin typeface="Consolas" panose="020B0609020204030204" pitchFamily="49" charset="0"/>
              </a:rPr>
              <a:t> (&amp;</a:t>
            </a:r>
            <a:r>
              <a:rPr lang="en-US" sz="2400" dirty="0" err="1">
                <a:latin typeface="Consolas" panose="020B0609020204030204" pitchFamily="49" charset="0"/>
              </a:rPr>
              <a:t>rwl</a:t>
            </a:r>
            <a:r>
              <a:rPr lang="en-US" sz="2400" dirty="0"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latin typeface="Consolas" panose="020B0609020204030204" pitchFamily="49" charset="0"/>
              </a:rPr>
              <a:t>mutex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            return status;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pthread_mutex_unlock</a:t>
            </a:r>
            <a:r>
              <a:rPr lang="en-US" sz="2400" dirty="0">
                <a:latin typeface="Consolas" panose="020B0609020204030204" pitchFamily="49" charset="0"/>
              </a:rPr>
              <a:t> (&amp;</a:t>
            </a:r>
            <a:r>
              <a:rPr lang="en-US" sz="2400" dirty="0" err="1">
                <a:latin typeface="Consolas" panose="020B0609020204030204" pitchFamily="49" charset="0"/>
              </a:rPr>
              <a:t>rwl</a:t>
            </a:r>
            <a:r>
              <a:rPr lang="en-US" sz="2400" dirty="0"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latin typeface="Consolas" panose="020B0609020204030204" pitchFamily="49" charset="0"/>
              </a:rPr>
              <a:t>mutex</a:t>
            </a:r>
            <a:r>
              <a:rPr lang="en-US" sz="2400" dirty="0">
                <a:latin typeface="Consolas" panose="020B0609020204030204" pitchFamily="49" charset="0"/>
              </a:rPr>
              <a:t>);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6D590-AD35-4C51-BD65-6C1018A9092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5150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/>
              <a:t>Barriers</a:t>
            </a:r>
          </a:p>
        </p:txBody>
      </p:sp>
      <p:sp>
        <p:nvSpPr>
          <p:cNvPr id="182" name="Shape 18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941100"/>
                </a:solidFill>
              </a:rPr>
              <a:t>Purpose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3000" dirty="0">
                <a:solidFill>
                  <a:srgbClr val="747474"/>
                </a:solidFill>
              </a:rPr>
              <a:t>For applications where work is done in “phases” 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3000" dirty="0">
                <a:solidFill>
                  <a:srgbClr val="747474"/>
                </a:solidFill>
              </a:rPr>
              <a:t>Must have</a:t>
            </a:r>
            <a:r>
              <a:rPr sz="3000" dirty="0">
                <a:solidFill>
                  <a:srgbClr val="747474"/>
                </a:solidFill>
              </a:rPr>
              <a:t> “worker” threads wait for the </a:t>
            </a:r>
            <a:r>
              <a:rPr lang="en-US" sz="3000" dirty="0">
                <a:solidFill>
                  <a:srgbClr val="747474"/>
                </a:solidFill>
              </a:rPr>
              <a:t>entire </a:t>
            </a:r>
            <a:r>
              <a:rPr sz="3000" dirty="0">
                <a:solidFill>
                  <a:srgbClr val="747474"/>
                </a:solidFill>
              </a:rPr>
              <a:t>“group” to be</a:t>
            </a:r>
            <a:r>
              <a:rPr lang="en-US" sz="3000" dirty="0">
                <a:solidFill>
                  <a:srgbClr val="747474"/>
                </a:solidFill>
              </a:rPr>
              <a:t> </a:t>
            </a:r>
            <a:r>
              <a:rPr sz="3000" dirty="0">
                <a:solidFill>
                  <a:srgbClr val="747474"/>
                </a:solidFill>
              </a:rPr>
              <a:t>done before proceeding</a:t>
            </a:r>
            <a:r>
              <a:rPr lang="en-US" sz="3000" dirty="0">
                <a:solidFill>
                  <a:srgbClr val="747474"/>
                </a:solidFill>
              </a:rPr>
              <a:t> to next phase</a:t>
            </a:r>
            <a:endParaRPr sz="3000" dirty="0">
              <a:solidFill>
                <a:srgbClr val="747474"/>
              </a:solidFill>
            </a:endParaR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Number of workers known a priori</a:t>
            </a:r>
          </a:p>
        </p:txBody>
      </p:sp>
      <p:pic>
        <p:nvPicPr>
          <p:cNvPr id="4" name="Picture 2" descr="http://www.unlockingthegrowth.com/wp-content/uploads/2015/09/Barrier-300x12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0177" y="5943600"/>
            <a:ext cx="6636009" cy="267652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8E41A4-113D-42CB-9C58-3A4E5F9E7DB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6739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Visuall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Visually</a:t>
            </a:r>
          </a:p>
        </p:txBody>
      </p:sp>
      <p:sp>
        <p:nvSpPr>
          <p:cNvPr id="293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94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96" name="Rectangle"/>
          <p:cNvSpPr/>
          <p:nvPr/>
        </p:nvSpPr>
        <p:spPr>
          <a:xfrm>
            <a:off x="8549323" y="2962730"/>
            <a:ext cx="464779" cy="603419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grpSp>
        <p:nvGrpSpPr>
          <p:cNvPr id="299" name="Group"/>
          <p:cNvGrpSpPr/>
          <p:nvPr/>
        </p:nvGrpSpPr>
        <p:grpSpPr>
          <a:xfrm>
            <a:off x="654992" y="4415130"/>
            <a:ext cx="1463397" cy="923340"/>
            <a:chOff x="-6077" y="-168020"/>
            <a:chExt cx="1463396" cy="923339"/>
          </a:xfrm>
        </p:grpSpPr>
        <p:pic>
          <p:nvPicPr>
            <p:cNvPr id="297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98" name="T2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2</a:t>
              </a:r>
            </a:p>
          </p:txBody>
        </p:sp>
      </p:grpSp>
      <p:grpSp>
        <p:nvGrpSpPr>
          <p:cNvPr id="302" name="Group"/>
          <p:cNvGrpSpPr/>
          <p:nvPr/>
        </p:nvGrpSpPr>
        <p:grpSpPr>
          <a:xfrm>
            <a:off x="654992" y="3312101"/>
            <a:ext cx="1463397" cy="923341"/>
            <a:chOff x="-6077" y="-168020"/>
            <a:chExt cx="1463396" cy="923339"/>
          </a:xfrm>
        </p:grpSpPr>
        <p:pic>
          <p:nvPicPr>
            <p:cNvPr id="300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01" name="T1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1</a:t>
              </a:r>
            </a:p>
          </p:txBody>
        </p:sp>
      </p:grpSp>
      <p:grpSp>
        <p:nvGrpSpPr>
          <p:cNvPr id="305" name="Group"/>
          <p:cNvGrpSpPr/>
          <p:nvPr/>
        </p:nvGrpSpPr>
        <p:grpSpPr>
          <a:xfrm>
            <a:off x="667692" y="5518158"/>
            <a:ext cx="1450697" cy="923341"/>
            <a:chOff x="6622" y="-168020"/>
            <a:chExt cx="1450696" cy="923339"/>
          </a:xfrm>
        </p:grpSpPr>
        <p:pic>
          <p:nvPicPr>
            <p:cNvPr id="303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04" name="T3"/>
            <p:cNvSpPr txBox="1"/>
            <p:nvPr/>
          </p:nvSpPr>
          <p:spPr>
            <a:xfrm>
              <a:off x="6622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3</a:t>
              </a:r>
            </a:p>
          </p:txBody>
        </p:sp>
      </p:grpSp>
      <p:grpSp>
        <p:nvGrpSpPr>
          <p:cNvPr id="308" name="Group"/>
          <p:cNvGrpSpPr/>
          <p:nvPr/>
        </p:nvGrpSpPr>
        <p:grpSpPr>
          <a:xfrm>
            <a:off x="654992" y="6621187"/>
            <a:ext cx="1463397" cy="923340"/>
            <a:chOff x="-6077" y="-168020"/>
            <a:chExt cx="1463396" cy="923339"/>
          </a:xfrm>
        </p:grpSpPr>
        <p:pic>
          <p:nvPicPr>
            <p:cNvPr id="306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07" name="T4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4</a:t>
              </a:r>
            </a:p>
          </p:txBody>
        </p:sp>
      </p:grpSp>
      <p:grpSp>
        <p:nvGrpSpPr>
          <p:cNvPr id="311" name="Group"/>
          <p:cNvGrpSpPr/>
          <p:nvPr/>
        </p:nvGrpSpPr>
        <p:grpSpPr>
          <a:xfrm>
            <a:off x="654992" y="7724215"/>
            <a:ext cx="1463397" cy="923340"/>
            <a:chOff x="-6077" y="-168020"/>
            <a:chExt cx="1463396" cy="923339"/>
          </a:xfrm>
        </p:grpSpPr>
        <p:pic>
          <p:nvPicPr>
            <p:cNvPr id="309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10" name="T5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5</a:t>
              </a:r>
            </a:p>
          </p:txBody>
        </p:sp>
      </p:grpSp>
      <p:sp>
        <p:nvSpPr>
          <p:cNvPr id="312" name="5"/>
          <p:cNvSpPr txBox="1"/>
          <p:nvPr/>
        </p:nvSpPr>
        <p:spPr>
          <a:xfrm>
            <a:off x="8583338" y="8913928"/>
            <a:ext cx="39674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</a:t>
            </a:r>
          </a:p>
        </p:txBody>
      </p:sp>
      <p:sp>
        <p:nvSpPr>
          <p:cNvPr id="313" name="Line"/>
          <p:cNvSpPr/>
          <p:nvPr/>
        </p:nvSpPr>
        <p:spPr>
          <a:xfrm>
            <a:off x="2234837" y="3759694"/>
            <a:ext cx="171519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314" name="Line"/>
          <p:cNvSpPr/>
          <p:nvPr/>
        </p:nvSpPr>
        <p:spPr>
          <a:xfrm>
            <a:off x="2234837" y="4876800"/>
            <a:ext cx="423206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315" name="Line"/>
          <p:cNvSpPr/>
          <p:nvPr/>
        </p:nvSpPr>
        <p:spPr>
          <a:xfrm>
            <a:off x="2234837" y="5979828"/>
            <a:ext cx="75728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316" name="Line"/>
          <p:cNvSpPr/>
          <p:nvPr/>
        </p:nvSpPr>
        <p:spPr>
          <a:xfrm>
            <a:off x="2234837" y="7082856"/>
            <a:ext cx="208688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317" name="Line"/>
          <p:cNvSpPr/>
          <p:nvPr/>
        </p:nvSpPr>
        <p:spPr>
          <a:xfrm>
            <a:off x="2234837" y="8199963"/>
            <a:ext cx="532597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318" name="0"/>
          <p:cNvSpPr txBox="1"/>
          <p:nvPr/>
        </p:nvSpPr>
        <p:spPr>
          <a:xfrm>
            <a:off x="8583338" y="2209926"/>
            <a:ext cx="39674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FF26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80E5D1-E4C5-4FD6-9ADE-36F5ACDED9A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Visuall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Visually</a:t>
            </a:r>
          </a:p>
        </p:txBody>
      </p:sp>
      <p:sp>
        <p:nvSpPr>
          <p:cNvPr id="321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22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24" name="Rectangle"/>
          <p:cNvSpPr/>
          <p:nvPr/>
        </p:nvSpPr>
        <p:spPr>
          <a:xfrm>
            <a:off x="8549323" y="2962730"/>
            <a:ext cx="464779" cy="603419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grpSp>
        <p:nvGrpSpPr>
          <p:cNvPr id="327" name="Group"/>
          <p:cNvGrpSpPr/>
          <p:nvPr/>
        </p:nvGrpSpPr>
        <p:grpSpPr>
          <a:xfrm>
            <a:off x="654992" y="4415130"/>
            <a:ext cx="1463397" cy="923340"/>
            <a:chOff x="-6077" y="-168020"/>
            <a:chExt cx="1463396" cy="923339"/>
          </a:xfrm>
        </p:grpSpPr>
        <p:pic>
          <p:nvPicPr>
            <p:cNvPr id="325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6" name="T2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2</a:t>
              </a:r>
            </a:p>
          </p:txBody>
        </p:sp>
      </p:grpSp>
      <p:grpSp>
        <p:nvGrpSpPr>
          <p:cNvPr id="330" name="Group"/>
          <p:cNvGrpSpPr/>
          <p:nvPr/>
        </p:nvGrpSpPr>
        <p:grpSpPr>
          <a:xfrm>
            <a:off x="654992" y="3312101"/>
            <a:ext cx="1463397" cy="923341"/>
            <a:chOff x="-6077" y="-168020"/>
            <a:chExt cx="1463396" cy="923339"/>
          </a:xfrm>
        </p:grpSpPr>
        <p:pic>
          <p:nvPicPr>
            <p:cNvPr id="328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9" name="T1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1</a:t>
              </a:r>
            </a:p>
          </p:txBody>
        </p:sp>
      </p:grpSp>
      <p:grpSp>
        <p:nvGrpSpPr>
          <p:cNvPr id="333" name="Group"/>
          <p:cNvGrpSpPr/>
          <p:nvPr/>
        </p:nvGrpSpPr>
        <p:grpSpPr>
          <a:xfrm>
            <a:off x="667692" y="5518158"/>
            <a:ext cx="1450697" cy="923341"/>
            <a:chOff x="6622" y="-168020"/>
            <a:chExt cx="1450696" cy="923339"/>
          </a:xfrm>
        </p:grpSpPr>
        <p:pic>
          <p:nvPicPr>
            <p:cNvPr id="331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32" name="T3"/>
            <p:cNvSpPr txBox="1"/>
            <p:nvPr/>
          </p:nvSpPr>
          <p:spPr>
            <a:xfrm>
              <a:off x="6622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3</a:t>
              </a:r>
            </a:p>
          </p:txBody>
        </p:sp>
      </p:grpSp>
      <p:grpSp>
        <p:nvGrpSpPr>
          <p:cNvPr id="336" name="Group"/>
          <p:cNvGrpSpPr/>
          <p:nvPr/>
        </p:nvGrpSpPr>
        <p:grpSpPr>
          <a:xfrm>
            <a:off x="654992" y="6621187"/>
            <a:ext cx="1463397" cy="923340"/>
            <a:chOff x="-6077" y="-168020"/>
            <a:chExt cx="1463396" cy="923339"/>
          </a:xfrm>
        </p:grpSpPr>
        <p:pic>
          <p:nvPicPr>
            <p:cNvPr id="334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35" name="T4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4</a:t>
              </a:r>
            </a:p>
          </p:txBody>
        </p:sp>
      </p:grpSp>
      <p:grpSp>
        <p:nvGrpSpPr>
          <p:cNvPr id="339" name="Group"/>
          <p:cNvGrpSpPr/>
          <p:nvPr/>
        </p:nvGrpSpPr>
        <p:grpSpPr>
          <a:xfrm>
            <a:off x="654992" y="7724215"/>
            <a:ext cx="1463397" cy="923340"/>
            <a:chOff x="-6077" y="-168020"/>
            <a:chExt cx="1463396" cy="923339"/>
          </a:xfrm>
        </p:grpSpPr>
        <p:pic>
          <p:nvPicPr>
            <p:cNvPr id="337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38" name="T5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5</a:t>
              </a:r>
            </a:p>
          </p:txBody>
        </p:sp>
      </p:grpSp>
      <p:sp>
        <p:nvSpPr>
          <p:cNvPr id="340" name="5"/>
          <p:cNvSpPr txBox="1"/>
          <p:nvPr/>
        </p:nvSpPr>
        <p:spPr>
          <a:xfrm>
            <a:off x="8583338" y="8913928"/>
            <a:ext cx="39674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</a:t>
            </a:r>
          </a:p>
        </p:txBody>
      </p:sp>
      <p:sp>
        <p:nvSpPr>
          <p:cNvPr id="341" name="Line"/>
          <p:cNvSpPr/>
          <p:nvPr/>
        </p:nvSpPr>
        <p:spPr>
          <a:xfrm>
            <a:off x="2234837" y="3759694"/>
            <a:ext cx="505661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342" name="Line"/>
          <p:cNvSpPr/>
          <p:nvPr/>
        </p:nvSpPr>
        <p:spPr>
          <a:xfrm>
            <a:off x="2234837" y="4876800"/>
            <a:ext cx="5325975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343" name="Line"/>
          <p:cNvSpPr/>
          <p:nvPr/>
        </p:nvSpPr>
        <p:spPr>
          <a:xfrm>
            <a:off x="2234837" y="5979828"/>
            <a:ext cx="418191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344" name="Line"/>
          <p:cNvSpPr/>
          <p:nvPr/>
        </p:nvSpPr>
        <p:spPr>
          <a:xfrm>
            <a:off x="2234837" y="7082856"/>
            <a:ext cx="330727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345" name="Line"/>
          <p:cNvSpPr/>
          <p:nvPr/>
        </p:nvSpPr>
        <p:spPr>
          <a:xfrm>
            <a:off x="2145937" y="8199963"/>
            <a:ext cx="637583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346" name="0"/>
          <p:cNvSpPr txBox="1"/>
          <p:nvPr/>
        </p:nvSpPr>
        <p:spPr>
          <a:xfrm>
            <a:off x="8583338" y="2209926"/>
            <a:ext cx="39674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FF26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97DA94-17AA-4565-BE19-B56B202C966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Visuall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Visually</a:t>
            </a:r>
          </a:p>
        </p:txBody>
      </p:sp>
      <p:sp>
        <p:nvSpPr>
          <p:cNvPr id="349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50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52" name="Rectangle"/>
          <p:cNvSpPr/>
          <p:nvPr/>
        </p:nvSpPr>
        <p:spPr>
          <a:xfrm>
            <a:off x="8549323" y="2962730"/>
            <a:ext cx="464779" cy="603419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grpSp>
        <p:nvGrpSpPr>
          <p:cNvPr id="355" name="Group"/>
          <p:cNvGrpSpPr/>
          <p:nvPr/>
        </p:nvGrpSpPr>
        <p:grpSpPr>
          <a:xfrm>
            <a:off x="654992" y="4415130"/>
            <a:ext cx="1463397" cy="923340"/>
            <a:chOff x="-6077" y="-168020"/>
            <a:chExt cx="1463396" cy="923339"/>
          </a:xfrm>
        </p:grpSpPr>
        <p:pic>
          <p:nvPicPr>
            <p:cNvPr id="353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54" name="T2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2</a:t>
              </a:r>
            </a:p>
          </p:txBody>
        </p:sp>
      </p:grpSp>
      <p:grpSp>
        <p:nvGrpSpPr>
          <p:cNvPr id="358" name="Group"/>
          <p:cNvGrpSpPr/>
          <p:nvPr/>
        </p:nvGrpSpPr>
        <p:grpSpPr>
          <a:xfrm>
            <a:off x="654992" y="3312101"/>
            <a:ext cx="1463397" cy="923341"/>
            <a:chOff x="-6077" y="-168020"/>
            <a:chExt cx="1463396" cy="923339"/>
          </a:xfrm>
        </p:grpSpPr>
        <p:pic>
          <p:nvPicPr>
            <p:cNvPr id="356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57" name="T1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1</a:t>
              </a:r>
            </a:p>
          </p:txBody>
        </p:sp>
      </p:grpSp>
      <p:grpSp>
        <p:nvGrpSpPr>
          <p:cNvPr id="361" name="Group"/>
          <p:cNvGrpSpPr/>
          <p:nvPr/>
        </p:nvGrpSpPr>
        <p:grpSpPr>
          <a:xfrm>
            <a:off x="667692" y="5518158"/>
            <a:ext cx="1450697" cy="923341"/>
            <a:chOff x="6622" y="-168020"/>
            <a:chExt cx="1450696" cy="923339"/>
          </a:xfrm>
        </p:grpSpPr>
        <p:pic>
          <p:nvPicPr>
            <p:cNvPr id="359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60" name="T3"/>
            <p:cNvSpPr txBox="1"/>
            <p:nvPr/>
          </p:nvSpPr>
          <p:spPr>
            <a:xfrm>
              <a:off x="6622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3</a:t>
              </a:r>
            </a:p>
          </p:txBody>
        </p:sp>
      </p:grpSp>
      <p:grpSp>
        <p:nvGrpSpPr>
          <p:cNvPr id="364" name="Group"/>
          <p:cNvGrpSpPr/>
          <p:nvPr/>
        </p:nvGrpSpPr>
        <p:grpSpPr>
          <a:xfrm>
            <a:off x="654992" y="6621187"/>
            <a:ext cx="1463397" cy="923340"/>
            <a:chOff x="-6077" y="-168020"/>
            <a:chExt cx="1463396" cy="923339"/>
          </a:xfrm>
        </p:grpSpPr>
        <p:pic>
          <p:nvPicPr>
            <p:cNvPr id="362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63" name="T4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4</a:t>
              </a:r>
            </a:p>
          </p:txBody>
        </p:sp>
      </p:grpSp>
      <p:grpSp>
        <p:nvGrpSpPr>
          <p:cNvPr id="367" name="Group"/>
          <p:cNvGrpSpPr/>
          <p:nvPr/>
        </p:nvGrpSpPr>
        <p:grpSpPr>
          <a:xfrm>
            <a:off x="654992" y="7724215"/>
            <a:ext cx="1463397" cy="923340"/>
            <a:chOff x="-6077" y="-168020"/>
            <a:chExt cx="1463396" cy="923339"/>
          </a:xfrm>
        </p:grpSpPr>
        <p:pic>
          <p:nvPicPr>
            <p:cNvPr id="365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66" name="T5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5</a:t>
              </a:r>
            </a:p>
          </p:txBody>
        </p:sp>
      </p:grpSp>
      <p:sp>
        <p:nvSpPr>
          <p:cNvPr id="368" name="5"/>
          <p:cNvSpPr txBox="1"/>
          <p:nvPr/>
        </p:nvSpPr>
        <p:spPr>
          <a:xfrm>
            <a:off x="8583338" y="8913928"/>
            <a:ext cx="39674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</a:t>
            </a:r>
          </a:p>
        </p:txBody>
      </p:sp>
      <p:sp>
        <p:nvSpPr>
          <p:cNvPr id="369" name="Line"/>
          <p:cNvSpPr/>
          <p:nvPr/>
        </p:nvSpPr>
        <p:spPr>
          <a:xfrm>
            <a:off x="2234837" y="3759694"/>
            <a:ext cx="505661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370" name="Line"/>
          <p:cNvSpPr/>
          <p:nvPr/>
        </p:nvSpPr>
        <p:spPr>
          <a:xfrm>
            <a:off x="2234837" y="4876800"/>
            <a:ext cx="5325975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371" name="Line"/>
          <p:cNvSpPr/>
          <p:nvPr/>
        </p:nvSpPr>
        <p:spPr>
          <a:xfrm>
            <a:off x="2234837" y="5979828"/>
            <a:ext cx="418191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372" name="Line"/>
          <p:cNvSpPr/>
          <p:nvPr/>
        </p:nvSpPr>
        <p:spPr>
          <a:xfrm>
            <a:off x="2234837" y="7082856"/>
            <a:ext cx="330727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373" name="Line"/>
          <p:cNvSpPr/>
          <p:nvPr/>
        </p:nvSpPr>
        <p:spPr>
          <a:xfrm>
            <a:off x="2145937" y="8199963"/>
            <a:ext cx="637583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374" name="Zzzz…"/>
          <p:cNvSpPr txBox="1"/>
          <p:nvPr/>
        </p:nvSpPr>
        <p:spPr>
          <a:xfrm>
            <a:off x="7301558" y="8232042"/>
            <a:ext cx="1167944" cy="52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Zzzz…</a:t>
            </a:r>
          </a:p>
        </p:txBody>
      </p:sp>
      <p:sp>
        <p:nvSpPr>
          <p:cNvPr id="375" name="1"/>
          <p:cNvSpPr txBox="1"/>
          <p:nvPr/>
        </p:nvSpPr>
        <p:spPr>
          <a:xfrm>
            <a:off x="8583338" y="2209926"/>
            <a:ext cx="39674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FF26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380D84-EC4D-4EC5-8962-0EF5D727221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Visuall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Visually</a:t>
            </a:r>
          </a:p>
        </p:txBody>
      </p:sp>
      <p:sp>
        <p:nvSpPr>
          <p:cNvPr id="378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79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81" name="Rectangle"/>
          <p:cNvSpPr/>
          <p:nvPr/>
        </p:nvSpPr>
        <p:spPr>
          <a:xfrm>
            <a:off x="8549323" y="2962730"/>
            <a:ext cx="464779" cy="603419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grpSp>
        <p:nvGrpSpPr>
          <p:cNvPr id="384" name="Group"/>
          <p:cNvGrpSpPr/>
          <p:nvPr/>
        </p:nvGrpSpPr>
        <p:grpSpPr>
          <a:xfrm>
            <a:off x="654992" y="4415130"/>
            <a:ext cx="1463397" cy="923340"/>
            <a:chOff x="-6077" y="-168020"/>
            <a:chExt cx="1463396" cy="923339"/>
          </a:xfrm>
        </p:grpSpPr>
        <p:pic>
          <p:nvPicPr>
            <p:cNvPr id="382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83" name="T2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2</a:t>
              </a:r>
            </a:p>
          </p:txBody>
        </p:sp>
      </p:grpSp>
      <p:grpSp>
        <p:nvGrpSpPr>
          <p:cNvPr id="387" name="Group"/>
          <p:cNvGrpSpPr/>
          <p:nvPr/>
        </p:nvGrpSpPr>
        <p:grpSpPr>
          <a:xfrm>
            <a:off x="654992" y="3312101"/>
            <a:ext cx="1463397" cy="923341"/>
            <a:chOff x="-6077" y="-168020"/>
            <a:chExt cx="1463396" cy="923339"/>
          </a:xfrm>
        </p:grpSpPr>
        <p:pic>
          <p:nvPicPr>
            <p:cNvPr id="385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86" name="T1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1</a:t>
              </a:r>
            </a:p>
          </p:txBody>
        </p:sp>
      </p:grpSp>
      <p:grpSp>
        <p:nvGrpSpPr>
          <p:cNvPr id="390" name="Group"/>
          <p:cNvGrpSpPr/>
          <p:nvPr/>
        </p:nvGrpSpPr>
        <p:grpSpPr>
          <a:xfrm>
            <a:off x="667692" y="5518158"/>
            <a:ext cx="1450697" cy="923341"/>
            <a:chOff x="6622" y="-168020"/>
            <a:chExt cx="1450696" cy="923339"/>
          </a:xfrm>
        </p:grpSpPr>
        <p:pic>
          <p:nvPicPr>
            <p:cNvPr id="388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89" name="T3"/>
            <p:cNvSpPr txBox="1"/>
            <p:nvPr/>
          </p:nvSpPr>
          <p:spPr>
            <a:xfrm>
              <a:off x="6622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3</a:t>
              </a:r>
            </a:p>
          </p:txBody>
        </p:sp>
      </p:grpSp>
      <p:grpSp>
        <p:nvGrpSpPr>
          <p:cNvPr id="393" name="Group"/>
          <p:cNvGrpSpPr/>
          <p:nvPr/>
        </p:nvGrpSpPr>
        <p:grpSpPr>
          <a:xfrm>
            <a:off x="654992" y="6621187"/>
            <a:ext cx="1463397" cy="923340"/>
            <a:chOff x="-6077" y="-168020"/>
            <a:chExt cx="1463396" cy="923339"/>
          </a:xfrm>
        </p:grpSpPr>
        <p:pic>
          <p:nvPicPr>
            <p:cNvPr id="391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92" name="T4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4</a:t>
              </a:r>
            </a:p>
          </p:txBody>
        </p:sp>
      </p:grpSp>
      <p:grpSp>
        <p:nvGrpSpPr>
          <p:cNvPr id="396" name="Group"/>
          <p:cNvGrpSpPr/>
          <p:nvPr/>
        </p:nvGrpSpPr>
        <p:grpSpPr>
          <a:xfrm>
            <a:off x="654992" y="7724215"/>
            <a:ext cx="1463397" cy="923340"/>
            <a:chOff x="-6077" y="-168020"/>
            <a:chExt cx="1463396" cy="923339"/>
          </a:xfrm>
        </p:grpSpPr>
        <p:pic>
          <p:nvPicPr>
            <p:cNvPr id="394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95" name="T5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5</a:t>
              </a:r>
            </a:p>
          </p:txBody>
        </p:sp>
      </p:grpSp>
      <p:sp>
        <p:nvSpPr>
          <p:cNvPr id="397" name="5"/>
          <p:cNvSpPr txBox="1"/>
          <p:nvPr/>
        </p:nvSpPr>
        <p:spPr>
          <a:xfrm>
            <a:off x="8583338" y="8913928"/>
            <a:ext cx="39674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</a:t>
            </a:r>
          </a:p>
        </p:txBody>
      </p:sp>
      <p:sp>
        <p:nvSpPr>
          <p:cNvPr id="398" name="Line"/>
          <p:cNvSpPr/>
          <p:nvPr/>
        </p:nvSpPr>
        <p:spPr>
          <a:xfrm>
            <a:off x="2234837" y="3759694"/>
            <a:ext cx="576900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399" name="Line"/>
          <p:cNvSpPr/>
          <p:nvPr/>
        </p:nvSpPr>
        <p:spPr>
          <a:xfrm>
            <a:off x="2336437" y="4876800"/>
            <a:ext cx="6198038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400" name="Line"/>
          <p:cNvSpPr/>
          <p:nvPr/>
        </p:nvSpPr>
        <p:spPr>
          <a:xfrm>
            <a:off x="2336437" y="5979828"/>
            <a:ext cx="619803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401" name="Line"/>
          <p:cNvSpPr/>
          <p:nvPr/>
        </p:nvSpPr>
        <p:spPr>
          <a:xfrm>
            <a:off x="2234837" y="7082856"/>
            <a:ext cx="576900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402" name="Line"/>
          <p:cNvSpPr/>
          <p:nvPr/>
        </p:nvSpPr>
        <p:spPr>
          <a:xfrm>
            <a:off x="2145937" y="8199963"/>
            <a:ext cx="637583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403" name="Zzzz…"/>
          <p:cNvSpPr txBox="1"/>
          <p:nvPr/>
        </p:nvSpPr>
        <p:spPr>
          <a:xfrm>
            <a:off x="7301558" y="8232042"/>
            <a:ext cx="1167944" cy="52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Zzzz…</a:t>
            </a:r>
          </a:p>
        </p:txBody>
      </p:sp>
      <p:sp>
        <p:nvSpPr>
          <p:cNvPr id="404" name="Zzzz…"/>
          <p:cNvSpPr txBox="1"/>
          <p:nvPr/>
        </p:nvSpPr>
        <p:spPr>
          <a:xfrm>
            <a:off x="7353832" y="5925513"/>
            <a:ext cx="1167944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Zzzz…</a:t>
            </a:r>
          </a:p>
        </p:txBody>
      </p:sp>
      <p:sp>
        <p:nvSpPr>
          <p:cNvPr id="405" name="Zzzz…"/>
          <p:cNvSpPr txBox="1"/>
          <p:nvPr/>
        </p:nvSpPr>
        <p:spPr>
          <a:xfrm>
            <a:off x="7353832" y="4841967"/>
            <a:ext cx="1167944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Zzzz…</a:t>
            </a:r>
          </a:p>
        </p:txBody>
      </p:sp>
      <p:sp>
        <p:nvSpPr>
          <p:cNvPr id="406" name="3"/>
          <p:cNvSpPr txBox="1"/>
          <p:nvPr/>
        </p:nvSpPr>
        <p:spPr>
          <a:xfrm>
            <a:off x="8583338" y="2209926"/>
            <a:ext cx="39674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FF26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20CC45-DD1D-451C-B223-1D2425D2FFB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Visuall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Visually</a:t>
            </a:r>
          </a:p>
        </p:txBody>
      </p:sp>
      <p:sp>
        <p:nvSpPr>
          <p:cNvPr id="409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10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12" name="Rectangle"/>
          <p:cNvSpPr/>
          <p:nvPr/>
        </p:nvSpPr>
        <p:spPr>
          <a:xfrm>
            <a:off x="8549323" y="2962730"/>
            <a:ext cx="464779" cy="603419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grpSp>
        <p:nvGrpSpPr>
          <p:cNvPr id="415" name="Group"/>
          <p:cNvGrpSpPr/>
          <p:nvPr/>
        </p:nvGrpSpPr>
        <p:grpSpPr>
          <a:xfrm>
            <a:off x="654992" y="4415130"/>
            <a:ext cx="1463397" cy="923340"/>
            <a:chOff x="-6077" y="-168020"/>
            <a:chExt cx="1463396" cy="923339"/>
          </a:xfrm>
        </p:grpSpPr>
        <p:pic>
          <p:nvPicPr>
            <p:cNvPr id="413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14" name="T2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2</a:t>
              </a:r>
            </a:p>
          </p:txBody>
        </p:sp>
      </p:grpSp>
      <p:grpSp>
        <p:nvGrpSpPr>
          <p:cNvPr id="418" name="Group"/>
          <p:cNvGrpSpPr/>
          <p:nvPr/>
        </p:nvGrpSpPr>
        <p:grpSpPr>
          <a:xfrm>
            <a:off x="654992" y="3312101"/>
            <a:ext cx="1463397" cy="923341"/>
            <a:chOff x="-6077" y="-168020"/>
            <a:chExt cx="1463396" cy="923339"/>
          </a:xfrm>
        </p:grpSpPr>
        <p:pic>
          <p:nvPicPr>
            <p:cNvPr id="416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17" name="T1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1</a:t>
              </a:r>
            </a:p>
          </p:txBody>
        </p:sp>
      </p:grpSp>
      <p:grpSp>
        <p:nvGrpSpPr>
          <p:cNvPr id="421" name="Group"/>
          <p:cNvGrpSpPr/>
          <p:nvPr/>
        </p:nvGrpSpPr>
        <p:grpSpPr>
          <a:xfrm>
            <a:off x="667692" y="5518158"/>
            <a:ext cx="1450697" cy="923341"/>
            <a:chOff x="6622" y="-168020"/>
            <a:chExt cx="1450696" cy="923339"/>
          </a:xfrm>
        </p:grpSpPr>
        <p:pic>
          <p:nvPicPr>
            <p:cNvPr id="419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0" name="T3"/>
            <p:cNvSpPr txBox="1"/>
            <p:nvPr/>
          </p:nvSpPr>
          <p:spPr>
            <a:xfrm>
              <a:off x="6622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3</a:t>
              </a:r>
            </a:p>
          </p:txBody>
        </p:sp>
      </p:grpSp>
      <p:grpSp>
        <p:nvGrpSpPr>
          <p:cNvPr id="424" name="Group"/>
          <p:cNvGrpSpPr/>
          <p:nvPr/>
        </p:nvGrpSpPr>
        <p:grpSpPr>
          <a:xfrm>
            <a:off x="654992" y="6621187"/>
            <a:ext cx="1463397" cy="923340"/>
            <a:chOff x="-6077" y="-168020"/>
            <a:chExt cx="1463396" cy="923339"/>
          </a:xfrm>
        </p:grpSpPr>
        <p:pic>
          <p:nvPicPr>
            <p:cNvPr id="422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3" name="T4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4</a:t>
              </a:r>
            </a:p>
          </p:txBody>
        </p:sp>
      </p:grpSp>
      <p:grpSp>
        <p:nvGrpSpPr>
          <p:cNvPr id="427" name="Group"/>
          <p:cNvGrpSpPr/>
          <p:nvPr/>
        </p:nvGrpSpPr>
        <p:grpSpPr>
          <a:xfrm>
            <a:off x="654992" y="7724215"/>
            <a:ext cx="1463397" cy="923340"/>
            <a:chOff x="-6077" y="-168020"/>
            <a:chExt cx="1463396" cy="923339"/>
          </a:xfrm>
        </p:grpSpPr>
        <p:pic>
          <p:nvPicPr>
            <p:cNvPr id="425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6" name="T5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5</a:t>
              </a:r>
            </a:p>
          </p:txBody>
        </p:sp>
      </p:grpSp>
      <p:sp>
        <p:nvSpPr>
          <p:cNvPr id="428" name="5"/>
          <p:cNvSpPr txBox="1"/>
          <p:nvPr/>
        </p:nvSpPr>
        <p:spPr>
          <a:xfrm>
            <a:off x="8583338" y="8913928"/>
            <a:ext cx="39674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</a:t>
            </a:r>
          </a:p>
        </p:txBody>
      </p:sp>
      <p:sp>
        <p:nvSpPr>
          <p:cNvPr id="429" name="Line"/>
          <p:cNvSpPr/>
          <p:nvPr/>
        </p:nvSpPr>
        <p:spPr>
          <a:xfrm>
            <a:off x="2234837" y="3759694"/>
            <a:ext cx="576900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430" name="Line"/>
          <p:cNvSpPr/>
          <p:nvPr/>
        </p:nvSpPr>
        <p:spPr>
          <a:xfrm>
            <a:off x="2336437" y="4876800"/>
            <a:ext cx="6198038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431" name="Line"/>
          <p:cNvSpPr/>
          <p:nvPr/>
        </p:nvSpPr>
        <p:spPr>
          <a:xfrm>
            <a:off x="2336437" y="5979828"/>
            <a:ext cx="619803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432" name="Line"/>
          <p:cNvSpPr/>
          <p:nvPr/>
        </p:nvSpPr>
        <p:spPr>
          <a:xfrm>
            <a:off x="2311037" y="7082856"/>
            <a:ext cx="6198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433" name="Line"/>
          <p:cNvSpPr/>
          <p:nvPr/>
        </p:nvSpPr>
        <p:spPr>
          <a:xfrm>
            <a:off x="2145937" y="8199963"/>
            <a:ext cx="637583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434" name="Zzzz…"/>
          <p:cNvSpPr txBox="1"/>
          <p:nvPr/>
        </p:nvSpPr>
        <p:spPr>
          <a:xfrm>
            <a:off x="7301558" y="8232042"/>
            <a:ext cx="1167944" cy="52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Zzzz…</a:t>
            </a:r>
          </a:p>
        </p:txBody>
      </p:sp>
      <p:sp>
        <p:nvSpPr>
          <p:cNvPr id="435" name="Zzzz…"/>
          <p:cNvSpPr txBox="1"/>
          <p:nvPr/>
        </p:nvSpPr>
        <p:spPr>
          <a:xfrm>
            <a:off x="7353832" y="5925513"/>
            <a:ext cx="1167944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Zzzz…</a:t>
            </a:r>
          </a:p>
        </p:txBody>
      </p:sp>
      <p:sp>
        <p:nvSpPr>
          <p:cNvPr id="436" name="Zzzz…"/>
          <p:cNvSpPr txBox="1"/>
          <p:nvPr/>
        </p:nvSpPr>
        <p:spPr>
          <a:xfrm>
            <a:off x="7353832" y="4841967"/>
            <a:ext cx="1167944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Zzzz…</a:t>
            </a:r>
          </a:p>
        </p:txBody>
      </p:sp>
      <p:sp>
        <p:nvSpPr>
          <p:cNvPr id="437" name="4"/>
          <p:cNvSpPr txBox="1"/>
          <p:nvPr/>
        </p:nvSpPr>
        <p:spPr>
          <a:xfrm>
            <a:off x="8583338" y="2209926"/>
            <a:ext cx="39674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FF26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4</a:t>
            </a:r>
          </a:p>
        </p:txBody>
      </p:sp>
      <p:sp>
        <p:nvSpPr>
          <p:cNvPr id="438" name="Zzzz…"/>
          <p:cNvSpPr txBox="1"/>
          <p:nvPr/>
        </p:nvSpPr>
        <p:spPr>
          <a:xfrm>
            <a:off x="7353832" y="7032257"/>
            <a:ext cx="1167944" cy="52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Zzzz…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7E2041-D2EE-45A6-BBD2-18605AAB74D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Visuall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Visually</a:t>
            </a:r>
          </a:p>
        </p:txBody>
      </p:sp>
      <p:sp>
        <p:nvSpPr>
          <p:cNvPr id="441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42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44" name="Rectangle"/>
          <p:cNvSpPr/>
          <p:nvPr/>
        </p:nvSpPr>
        <p:spPr>
          <a:xfrm>
            <a:off x="8549323" y="2962730"/>
            <a:ext cx="464779" cy="603419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grpSp>
        <p:nvGrpSpPr>
          <p:cNvPr id="447" name="Group"/>
          <p:cNvGrpSpPr/>
          <p:nvPr/>
        </p:nvGrpSpPr>
        <p:grpSpPr>
          <a:xfrm>
            <a:off x="654992" y="4415130"/>
            <a:ext cx="1463397" cy="923340"/>
            <a:chOff x="-6077" y="-168020"/>
            <a:chExt cx="1463396" cy="923339"/>
          </a:xfrm>
        </p:grpSpPr>
        <p:pic>
          <p:nvPicPr>
            <p:cNvPr id="445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46" name="T2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2</a:t>
              </a:r>
            </a:p>
          </p:txBody>
        </p:sp>
      </p:grpSp>
      <p:grpSp>
        <p:nvGrpSpPr>
          <p:cNvPr id="450" name="Group"/>
          <p:cNvGrpSpPr/>
          <p:nvPr/>
        </p:nvGrpSpPr>
        <p:grpSpPr>
          <a:xfrm>
            <a:off x="654992" y="3312101"/>
            <a:ext cx="1463397" cy="923341"/>
            <a:chOff x="-6077" y="-168020"/>
            <a:chExt cx="1463396" cy="923339"/>
          </a:xfrm>
        </p:grpSpPr>
        <p:pic>
          <p:nvPicPr>
            <p:cNvPr id="448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49" name="T1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1</a:t>
              </a:r>
            </a:p>
          </p:txBody>
        </p:sp>
      </p:grpSp>
      <p:grpSp>
        <p:nvGrpSpPr>
          <p:cNvPr id="453" name="Group"/>
          <p:cNvGrpSpPr/>
          <p:nvPr/>
        </p:nvGrpSpPr>
        <p:grpSpPr>
          <a:xfrm>
            <a:off x="667692" y="5518158"/>
            <a:ext cx="1450697" cy="923341"/>
            <a:chOff x="6622" y="-168020"/>
            <a:chExt cx="1450696" cy="923339"/>
          </a:xfrm>
        </p:grpSpPr>
        <p:pic>
          <p:nvPicPr>
            <p:cNvPr id="451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52" name="T3"/>
            <p:cNvSpPr txBox="1"/>
            <p:nvPr/>
          </p:nvSpPr>
          <p:spPr>
            <a:xfrm>
              <a:off x="6622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3</a:t>
              </a:r>
            </a:p>
          </p:txBody>
        </p:sp>
      </p:grpSp>
      <p:grpSp>
        <p:nvGrpSpPr>
          <p:cNvPr id="456" name="Group"/>
          <p:cNvGrpSpPr/>
          <p:nvPr/>
        </p:nvGrpSpPr>
        <p:grpSpPr>
          <a:xfrm>
            <a:off x="654992" y="6621187"/>
            <a:ext cx="1463397" cy="923340"/>
            <a:chOff x="-6077" y="-168020"/>
            <a:chExt cx="1463396" cy="923339"/>
          </a:xfrm>
        </p:grpSpPr>
        <p:pic>
          <p:nvPicPr>
            <p:cNvPr id="454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55" name="T4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4</a:t>
              </a:r>
            </a:p>
          </p:txBody>
        </p:sp>
      </p:grpSp>
      <p:grpSp>
        <p:nvGrpSpPr>
          <p:cNvPr id="459" name="Group"/>
          <p:cNvGrpSpPr/>
          <p:nvPr/>
        </p:nvGrpSpPr>
        <p:grpSpPr>
          <a:xfrm>
            <a:off x="654992" y="7724215"/>
            <a:ext cx="1463397" cy="923340"/>
            <a:chOff x="-6077" y="-168020"/>
            <a:chExt cx="1463396" cy="923339"/>
          </a:xfrm>
        </p:grpSpPr>
        <p:pic>
          <p:nvPicPr>
            <p:cNvPr id="457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58" name="T5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5</a:t>
              </a:r>
            </a:p>
          </p:txBody>
        </p:sp>
      </p:grpSp>
      <p:sp>
        <p:nvSpPr>
          <p:cNvPr id="460" name="5"/>
          <p:cNvSpPr txBox="1"/>
          <p:nvPr/>
        </p:nvSpPr>
        <p:spPr>
          <a:xfrm>
            <a:off x="8583338" y="8913928"/>
            <a:ext cx="39674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</a:t>
            </a:r>
          </a:p>
        </p:txBody>
      </p:sp>
      <p:sp>
        <p:nvSpPr>
          <p:cNvPr id="461" name="Line"/>
          <p:cNvSpPr/>
          <p:nvPr/>
        </p:nvSpPr>
        <p:spPr>
          <a:xfrm>
            <a:off x="2311037" y="3759694"/>
            <a:ext cx="619803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462" name="Line"/>
          <p:cNvSpPr/>
          <p:nvPr/>
        </p:nvSpPr>
        <p:spPr>
          <a:xfrm>
            <a:off x="2336437" y="4876800"/>
            <a:ext cx="6198038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463" name="Line"/>
          <p:cNvSpPr/>
          <p:nvPr/>
        </p:nvSpPr>
        <p:spPr>
          <a:xfrm>
            <a:off x="2336437" y="5979828"/>
            <a:ext cx="619803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464" name="Line"/>
          <p:cNvSpPr/>
          <p:nvPr/>
        </p:nvSpPr>
        <p:spPr>
          <a:xfrm>
            <a:off x="2311037" y="7082856"/>
            <a:ext cx="6198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465" name="Line"/>
          <p:cNvSpPr/>
          <p:nvPr/>
        </p:nvSpPr>
        <p:spPr>
          <a:xfrm>
            <a:off x="2145937" y="8199963"/>
            <a:ext cx="637583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466" name="Zzzz…"/>
          <p:cNvSpPr txBox="1"/>
          <p:nvPr/>
        </p:nvSpPr>
        <p:spPr>
          <a:xfrm>
            <a:off x="7301558" y="8232042"/>
            <a:ext cx="1167944" cy="52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Zzzz…</a:t>
            </a:r>
          </a:p>
        </p:txBody>
      </p:sp>
      <p:sp>
        <p:nvSpPr>
          <p:cNvPr id="467" name="Zzzz…"/>
          <p:cNvSpPr txBox="1"/>
          <p:nvPr/>
        </p:nvSpPr>
        <p:spPr>
          <a:xfrm>
            <a:off x="7353832" y="5925513"/>
            <a:ext cx="1167944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Zzzz…</a:t>
            </a:r>
          </a:p>
        </p:txBody>
      </p:sp>
      <p:sp>
        <p:nvSpPr>
          <p:cNvPr id="468" name="Zzzz…"/>
          <p:cNvSpPr txBox="1"/>
          <p:nvPr/>
        </p:nvSpPr>
        <p:spPr>
          <a:xfrm>
            <a:off x="7353832" y="4841967"/>
            <a:ext cx="1167944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Zzzz…</a:t>
            </a:r>
          </a:p>
        </p:txBody>
      </p:sp>
      <p:sp>
        <p:nvSpPr>
          <p:cNvPr id="469" name="5"/>
          <p:cNvSpPr txBox="1"/>
          <p:nvPr/>
        </p:nvSpPr>
        <p:spPr>
          <a:xfrm>
            <a:off x="8583338" y="2209926"/>
            <a:ext cx="39674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FF26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5</a:t>
            </a:r>
          </a:p>
        </p:txBody>
      </p:sp>
      <p:sp>
        <p:nvSpPr>
          <p:cNvPr id="470" name="Zzzz…"/>
          <p:cNvSpPr txBox="1"/>
          <p:nvPr/>
        </p:nvSpPr>
        <p:spPr>
          <a:xfrm>
            <a:off x="7353832" y="7032257"/>
            <a:ext cx="1167944" cy="52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Zzzz…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617944-FDAF-4CC7-91B9-2A637AE61C4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Visuall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Visually</a:t>
            </a:r>
          </a:p>
        </p:txBody>
      </p:sp>
      <p:sp>
        <p:nvSpPr>
          <p:cNvPr id="473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74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76" name="Rectangle"/>
          <p:cNvSpPr/>
          <p:nvPr/>
        </p:nvSpPr>
        <p:spPr>
          <a:xfrm>
            <a:off x="8549323" y="2962730"/>
            <a:ext cx="464779" cy="603419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grpSp>
        <p:nvGrpSpPr>
          <p:cNvPr id="479" name="Group"/>
          <p:cNvGrpSpPr/>
          <p:nvPr/>
        </p:nvGrpSpPr>
        <p:grpSpPr>
          <a:xfrm>
            <a:off x="654992" y="4415130"/>
            <a:ext cx="1463397" cy="923340"/>
            <a:chOff x="-6077" y="-168020"/>
            <a:chExt cx="1463396" cy="923339"/>
          </a:xfrm>
        </p:grpSpPr>
        <p:pic>
          <p:nvPicPr>
            <p:cNvPr id="477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78" name="T2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2</a:t>
              </a:r>
            </a:p>
          </p:txBody>
        </p:sp>
      </p:grpSp>
      <p:grpSp>
        <p:nvGrpSpPr>
          <p:cNvPr id="482" name="Group"/>
          <p:cNvGrpSpPr/>
          <p:nvPr/>
        </p:nvGrpSpPr>
        <p:grpSpPr>
          <a:xfrm>
            <a:off x="654992" y="3312101"/>
            <a:ext cx="1463397" cy="923341"/>
            <a:chOff x="-6077" y="-168020"/>
            <a:chExt cx="1463396" cy="923339"/>
          </a:xfrm>
        </p:grpSpPr>
        <p:pic>
          <p:nvPicPr>
            <p:cNvPr id="480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81" name="T1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1</a:t>
              </a:r>
            </a:p>
          </p:txBody>
        </p:sp>
      </p:grpSp>
      <p:grpSp>
        <p:nvGrpSpPr>
          <p:cNvPr id="485" name="Group"/>
          <p:cNvGrpSpPr/>
          <p:nvPr/>
        </p:nvGrpSpPr>
        <p:grpSpPr>
          <a:xfrm>
            <a:off x="667692" y="5518158"/>
            <a:ext cx="1450697" cy="923341"/>
            <a:chOff x="6622" y="-168020"/>
            <a:chExt cx="1450696" cy="923339"/>
          </a:xfrm>
        </p:grpSpPr>
        <p:pic>
          <p:nvPicPr>
            <p:cNvPr id="483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84" name="T3"/>
            <p:cNvSpPr txBox="1"/>
            <p:nvPr/>
          </p:nvSpPr>
          <p:spPr>
            <a:xfrm>
              <a:off x="6622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3</a:t>
              </a:r>
            </a:p>
          </p:txBody>
        </p:sp>
      </p:grpSp>
      <p:grpSp>
        <p:nvGrpSpPr>
          <p:cNvPr id="488" name="Group"/>
          <p:cNvGrpSpPr/>
          <p:nvPr/>
        </p:nvGrpSpPr>
        <p:grpSpPr>
          <a:xfrm>
            <a:off x="654992" y="6621187"/>
            <a:ext cx="1463397" cy="923340"/>
            <a:chOff x="-6077" y="-168020"/>
            <a:chExt cx="1463396" cy="923339"/>
          </a:xfrm>
        </p:grpSpPr>
        <p:pic>
          <p:nvPicPr>
            <p:cNvPr id="486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87" name="T4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4</a:t>
              </a:r>
            </a:p>
          </p:txBody>
        </p:sp>
      </p:grpSp>
      <p:grpSp>
        <p:nvGrpSpPr>
          <p:cNvPr id="491" name="Group"/>
          <p:cNvGrpSpPr/>
          <p:nvPr/>
        </p:nvGrpSpPr>
        <p:grpSpPr>
          <a:xfrm>
            <a:off x="654992" y="7724215"/>
            <a:ext cx="1463397" cy="923340"/>
            <a:chOff x="-6077" y="-168020"/>
            <a:chExt cx="1463396" cy="923339"/>
          </a:xfrm>
        </p:grpSpPr>
        <p:pic>
          <p:nvPicPr>
            <p:cNvPr id="489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90" name="T5"/>
            <p:cNvSpPr txBox="1"/>
            <p:nvPr/>
          </p:nvSpPr>
          <p:spPr>
            <a:xfrm>
              <a:off x="-6078" y="-60934"/>
              <a:ext cx="585048" cy="70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</a:t>
              </a:r>
              <a:r>
                <a:rPr baseline="-5999"/>
                <a:t>5</a:t>
              </a:r>
            </a:p>
          </p:txBody>
        </p:sp>
      </p:grpSp>
      <p:sp>
        <p:nvSpPr>
          <p:cNvPr id="492" name="5"/>
          <p:cNvSpPr txBox="1"/>
          <p:nvPr/>
        </p:nvSpPr>
        <p:spPr>
          <a:xfrm>
            <a:off x="8583338" y="8913928"/>
            <a:ext cx="39674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</a:t>
            </a:r>
          </a:p>
        </p:txBody>
      </p:sp>
      <p:pic>
        <p:nvPicPr>
          <p:cNvPr id="493" name="Line" descr="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272937" y="3583327"/>
            <a:ext cx="6274238" cy="352234"/>
          </a:xfrm>
          <a:prstGeom prst="rect">
            <a:avLst/>
          </a:prstGeom>
        </p:spPr>
      </p:pic>
      <p:sp>
        <p:nvSpPr>
          <p:cNvPr id="495" name="Line"/>
          <p:cNvSpPr/>
          <p:nvPr/>
        </p:nvSpPr>
        <p:spPr>
          <a:xfrm>
            <a:off x="2336437" y="4876800"/>
            <a:ext cx="6198038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496" name="Line"/>
          <p:cNvSpPr/>
          <p:nvPr/>
        </p:nvSpPr>
        <p:spPr>
          <a:xfrm>
            <a:off x="2336437" y="5979828"/>
            <a:ext cx="619803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497" name="Line"/>
          <p:cNvSpPr/>
          <p:nvPr/>
        </p:nvSpPr>
        <p:spPr>
          <a:xfrm>
            <a:off x="2311037" y="7082856"/>
            <a:ext cx="6198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498" name="Line"/>
          <p:cNvSpPr/>
          <p:nvPr/>
        </p:nvSpPr>
        <p:spPr>
          <a:xfrm>
            <a:off x="2145937" y="8199963"/>
            <a:ext cx="637583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499" name="Zzzz…"/>
          <p:cNvSpPr txBox="1"/>
          <p:nvPr/>
        </p:nvSpPr>
        <p:spPr>
          <a:xfrm>
            <a:off x="7301558" y="8232042"/>
            <a:ext cx="1167944" cy="52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Zzzz…</a:t>
            </a:r>
          </a:p>
        </p:txBody>
      </p:sp>
      <p:sp>
        <p:nvSpPr>
          <p:cNvPr id="500" name="Zzzz…"/>
          <p:cNvSpPr txBox="1"/>
          <p:nvPr/>
        </p:nvSpPr>
        <p:spPr>
          <a:xfrm>
            <a:off x="7353832" y="5925513"/>
            <a:ext cx="1167944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Zzzz…</a:t>
            </a:r>
          </a:p>
        </p:txBody>
      </p:sp>
      <p:sp>
        <p:nvSpPr>
          <p:cNvPr id="501" name="Zzzz…"/>
          <p:cNvSpPr txBox="1"/>
          <p:nvPr/>
        </p:nvSpPr>
        <p:spPr>
          <a:xfrm>
            <a:off x="7353832" y="4841967"/>
            <a:ext cx="1167944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Zzzz…</a:t>
            </a:r>
          </a:p>
        </p:txBody>
      </p:sp>
      <p:sp>
        <p:nvSpPr>
          <p:cNvPr id="502" name="5"/>
          <p:cNvSpPr txBox="1"/>
          <p:nvPr/>
        </p:nvSpPr>
        <p:spPr>
          <a:xfrm>
            <a:off x="8583338" y="2209926"/>
            <a:ext cx="39674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FF26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5</a:t>
            </a:r>
          </a:p>
        </p:txBody>
      </p:sp>
      <p:sp>
        <p:nvSpPr>
          <p:cNvPr id="503" name="Zzzz…"/>
          <p:cNvSpPr txBox="1"/>
          <p:nvPr/>
        </p:nvSpPr>
        <p:spPr>
          <a:xfrm>
            <a:off x="7353832" y="7032257"/>
            <a:ext cx="1167944" cy="52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Zzzz…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60E63D-4B4B-4E0E-B1DC-330C387999F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23</a:t>
            </a:fld>
            <a:endParaRPr lang="en-US"/>
          </a:p>
        </p:txBody>
      </p:sp>
      <p:sp>
        <p:nvSpPr>
          <p:cNvPr id="33" name="Shape 387"/>
          <p:cNvSpPr/>
          <p:nvPr/>
        </p:nvSpPr>
        <p:spPr>
          <a:xfrm>
            <a:off x="9851657" y="2208811"/>
            <a:ext cx="2013373" cy="1333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/>
            </a:pPr>
            <a:r>
              <a:rPr sz="4000" dirty="0">
                <a:solidFill>
                  <a:srgbClr val="FF0000"/>
                </a:solidFill>
              </a:rPr>
              <a:t>Last</a:t>
            </a:r>
            <a:r>
              <a:rPr lang="en-US" sz="4000" dirty="0">
                <a:solidFill>
                  <a:srgbClr val="FF0000"/>
                </a:solidFill>
              </a:rPr>
              <a:t> one</a:t>
            </a:r>
            <a:endParaRPr sz="4000" dirty="0">
              <a:solidFill>
                <a:srgbClr val="FF0000"/>
              </a:solidFill>
            </a:endParaRPr>
          </a:p>
          <a:p>
            <a:pPr lvl="0">
              <a:defRPr sz="1800"/>
            </a:pPr>
            <a:r>
              <a:rPr sz="4000" dirty="0">
                <a:solidFill>
                  <a:srgbClr val="FF0000"/>
                </a:solidFill>
              </a:rPr>
              <a:t>notifies!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536"/>
          <p:cNvSpPr/>
          <p:nvPr/>
        </p:nvSpPr>
        <p:spPr>
          <a:xfrm>
            <a:off x="2336437" y="5979828"/>
            <a:ext cx="7798644" cy="1"/>
          </a:xfrm>
          <a:prstGeom prst="line">
            <a:avLst/>
          </a:prstGeom>
          <a:ln w="25400">
            <a:solidFill/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lvl="0">
              <a:defRPr sz="3400"/>
            </a:pPr>
            <a:endParaRPr/>
          </a:p>
        </p:txBody>
      </p:sp>
      <p:sp>
        <p:nvSpPr>
          <p:cNvPr id="36" name="Shape 542"/>
          <p:cNvSpPr/>
          <p:nvPr/>
        </p:nvSpPr>
        <p:spPr>
          <a:xfrm>
            <a:off x="6806133" y="5963203"/>
            <a:ext cx="1721257" cy="52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lvl="0">
              <a:defRPr sz="1800"/>
            </a:pPr>
            <a:r>
              <a:rPr sz="2800" dirty="0"/>
              <a:t>Wakeup…</a:t>
            </a:r>
          </a:p>
        </p:txBody>
      </p:sp>
      <p:sp>
        <p:nvSpPr>
          <p:cNvPr id="32" name="Shape 535"/>
          <p:cNvSpPr/>
          <p:nvPr/>
        </p:nvSpPr>
        <p:spPr>
          <a:xfrm>
            <a:off x="2311400" y="3733800"/>
            <a:ext cx="9448800" cy="0"/>
          </a:xfrm>
          <a:prstGeom prst="line">
            <a:avLst/>
          </a:prstGeom>
          <a:ln w="25400">
            <a:solidFill/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lvl="0">
              <a:defRPr sz="3400"/>
            </a:pPr>
            <a:endParaRPr/>
          </a:p>
        </p:txBody>
      </p:sp>
      <p:sp>
        <p:nvSpPr>
          <p:cNvPr id="357" name="Shape 35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Reusable Barrier?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5D80E3-1080-4AD8-965D-DD34D1583B5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59" name="Shape 359"/>
          <p:cNvSpPr/>
          <p:nvPr/>
        </p:nvSpPr>
        <p:spPr>
          <a:xfrm>
            <a:off x="8549323" y="2962730"/>
            <a:ext cx="464779" cy="603419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pPr lvl="0">
              <a:defRPr sz="3400"/>
            </a:pPr>
            <a:endParaRPr/>
          </a:p>
        </p:txBody>
      </p:sp>
      <p:grpSp>
        <p:nvGrpSpPr>
          <p:cNvPr id="362" name="Group 362"/>
          <p:cNvGrpSpPr/>
          <p:nvPr/>
        </p:nvGrpSpPr>
        <p:grpSpPr>
          <a:xfrm>
            <a:off x="654992" y="4415130"/>
            <a:ext cx="1463397" cy="923340"/>
            <a:chOff x="-6077" y="-168020"/>
            <a:chExt cx="1463396" cy="923339"/>
          </a:xfrm>
        </p:grpSpPr>
        <p:pic>
          <p:nvPicPr>
            <p:cNvPr id="360" name="pasted-image.tif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61" name="Shape 361"/>
            <p:cNvSpPr/>
            <p:nvPr/>
          </p:nvSpPr>
          <p:spPr>
            <a:xfrm>
              <a:off x="-6078" y="-60935"/>
              <a:ext cx="585048" cy="7091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0">
                <a:defRPr sz="1800"/>
              </a:pPr>
              <a:r>
                <a:rPr sz="4000"/>
                <a:t>T</a:t>
              </a:r>
              <a:r>
                <a:rPr sz="4000" baseline="-5999"/>
                <a:t>2</a:t>
              </a:r>
            </a:p>
          </p:txBody>
        </p:sp>
      </p:grpSp>
      <p:grpSp>
        <p:nvGrpSpPr>
          <p:cNvPr id="365" name="Group 365"/>
          <p:cNvGrpSpPr/>
          <p:nvPr/>
        </p:nvGrpSpPr>
        <p:grpSpPr>
          <a:xfrm>
            <a:off x="654992" y="3312101"/>
            <a:ext cx="1463397" cy="923341"/>
            <a:chOff x="-6077" y="-168020"/>
            <a:chExt cx="1463396" cy="923339"/>
          </a:xfrm>
        </p:grpSpPr>
        <p:pic>
          <p:nvPicPr>
            <p:cNvPr id="363" name="pasted-image.tif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64" name="Shape 364"/>
            <p:cNvSpPr/>
            <p:nvPr/>
          </p:nvSpPr>
          <p:spPr>
            <a:xfrm>
              <a:off x="-6078" y="-60935"/>
              <a:ext cx="585048" cy="7091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0">
                <a:defRPr sz="1800"/>
              </a:pPr>
              <a:r>
                <a:rPr sz="4000"/>
                <a:t>T</a:t>
              </a:r>
              <a:r>
                <a:rPr sz="4000" baseline="-5999"/>
                <a:t>1</a:t>
              </a:r>
            </a:p>
          </p:txBody>
        </p:sp>
      </p:grpSp>
      <p:grpSp>
        <p:nvGrpSpPr>
          <p:cNvPr id="368" name="Group 368"/>
          <p:cNvGrpSpPr/>
          <p:nvPr/>
        </p:nvGrpSpPr>
        <p:grpSpPr>
          <a:xfrm>
            <a:off x="667692" y="5518158"/>
            <a:ext cx="1450697" cy="923341"/>
            <a:chOff x="6622" y="-168020"/>
            <a:chExt cx="1450696" cy="923339"/>
          </a:xfrm>
        </p:grpSpPr>
        <p:pic>
          <p:nvPicPr>
            <p:cNvPr id="366" name="pasted-image.tif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67" name="Shape 367"/>
            <p:cNvSpPr/>
            <p:nvPr/>
          </p:nvSpPr>
          <p:spPr>
            <a:xfrm>
              <a:off x="6622" y="-60935"/>
              <a:ext cx="585048" cy="7091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0">
                <a:defRPr sz="1800"/>
              </a:pPr>
              <a:r>
                <a:rPr sz="4000"/>
                <a:t>T</a:t>
              </a:r>
              <a:r>
                <a:rPr sz="4000" baseline="-5999"/>
                <a:t>3</a:t>
              </a:r>
            </a:p>
          </p:txBody>
        </p:sp>
      </p:grpSp>
      <p:grpSp>
        <p:nvGrpSpPr>
          <p:cNvPr id="371" name="Group 371"/>
          <p:cNvGrpSpPr/>
          <p:nvPr/>
        </p:nvGrpSpPr>
        <p:grpSpPr>
          <a:xfrm>
            <a:off x="654992" y="6621187"/>
            <a:ext cx="1463397" cy="923340"/>
            <a:chOff x="-6077" y="-168020"/>
            <a:chExt cx="1463396" cy="923339"/>
          </a:xfrm>
        </p:grpSpPr>
        <p:pic>
          <p:nvPicPr>
            <p:cNvPr id="369" name="pasted-image.tif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70" name="Shape 370"/>
            <p:cNvSpPr/>
            <p:nvPr/>
          </p:nvSpPr>
          <p:spPr>
            <a:xfrm>
              <a:off x="-6078" y="-60935"/>
              <a:ext cx="585048" cy="7091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0">
                <a:defRPr sz="1800"/>
              </a:pPr>
              <a:r>
                <a:rPr sz="4000"/>
                <a:t>T</a:t>
              </a:r>
              <a:r>
                <a:rPr sz="4000" baseline="-5999"/>
                <a:t>4</a:t>
              </a:r>
            </a:p>
          </p:txBody>
        </p:sp>
      </p:grpSp>
      <p:grpSp>
        <p:nvGrpSpPr>
          <p:cNvPr id="374" name="Group 374"/>
          <p:cNvGrpSpPr/>
          <p:nvPr/>
        </p:nvGrpSpPr>
        <p:grpSpPr>
          <a:xfrm>
            <a:off x="654992" y="7724215"/>
            <a:ext cx="1463397" cy="923340"/>
            <a:chOff x="-6077" y="-168020"/>
            <a:chExt cx="1463396" cy="923339"/>
          </a:xfrm>
        </p:grpSpPr>
        <p:pic>
          <p:nvPicPr>
            <p:cNvPr id="372" name="pasted-image.tif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73" name="Shape 373"/>
            <p:cNvSpPr/>
            <p:nvPr/>
          </p:nvSpPr>
          <p:spPr>
            <a:xfrm>
              <a:off x="-6078" y="-60935"/>
              <a:ext cx="585048" cy="7091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0">
                <a:defRPr sz="1800"/>
              </a:pPr>
              <a:r>
                <a:rPr sz="4000"/>
                <a:t>T</a:t>
              </a:r>
              <a:r>
                <a:rPr sz="4000" baseline="-5999"/>
                <a:t>5</a:t>
              </a:r>
            </a:p>
          </p:txBody>
        </p:sp>
      </p:grpSp>
      <p:sp>
        <p:nvSpPr>
          <p:cNvPr id="378" name="Shape 378"/>
          <p:cNvSpPr/>
          <p:nvPr/>
        </p:nvSpPr>
        <p:spPr>
          <a:xfrm>
            <a:off x="2336437" y="4876800"/>
            <a:ext cx="6198038" cy="0"/>
          </a:xfrm>
          <a:prstGeom prst="line">
            <a:avLst/>
          </a:prstGeom>
          <a:ln w="25400">
            <a:solidFill/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lvl="0">
              <a:defRPr sz="3400"/>
            </a:pPr>
            <a:endParaRPr/>
          </a:p>
        </p:txBody>
      </p:sp>
      <p:sp>
        <p:nvSpPr>
          <p:cNvPr id="380" name="Shape 380"/>
          <p:cNvSpPr/>
          <p:nvPr/>
        </p:nvSpPr>
        <p:spPr>
          <a:xfrm>
            <a:off x="2311037" y="7082856"/>
            <a:ext cx="6198039" cy="1"/>
          </a:xfrm>
          <a:prstGeom prst="line">
            <a:avLst/>
          </a:prstGeom>
          <a:ln w="25400">
            <a:solidFill/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lvl="0">
              <a:defRPr sz="3400"/>
            </a:pPr>
            <a:endParaRPr/>
          </a:p>
        </p:txBody>
      </p:sp>
      <p:sp>
        <p:nvSpPr>
          <p:cNvPr id="381" name="Shape 381"/>
          <p:cNvSpPr/>
          <p:nvPr/>
        </p:nvSpPr>
        <p:spPr>
          <a:xfrm flipV="1">
            <a:off x="2145937" y="8199963"/>
            <a:ext cx="6375838" cy="1"/>
          </a:xfrm>
          <a:prstGeom prst="line">
            <a:avLst/>
          </a:prstGeom>
          <a:ln w="25400">
            <a:solidFill/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lvl="0">
              <a:defRPr sz="3400"/>
            </a:pPr>
            <a:endParaRPr/>
          </a:p>
        </p:txBody>
      </p:sp>
      <p:sp>
        <p:nvSpPr>
          <p:cNvPr id="37" name="Shape 359"/>
          <p:cNvSpPr/>
          <p:nvPr/>
        </p:nvSpPr>
        <p:spPr>
          <a:xfrm>
            <a:off x="11760200" y="2971800"/>
            <a:ext cx="464779" cy="603419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pPr lvl="0">
              <a:defRPr sz="3400"/>
            </a:pPr>
            <a:endParaRPr/>
          </a:p>
        </p:txBody>
      </p:sp>
      <p:sp>
        <p:nvSpPr>
          <p:cNvPr id="33" name="Wakeup…"/>
          <p:cNvSpPr txBox="1"/>
          <p:nvPr/>
        </p:nvSpPr>
        <p:spPr>
          <a:xfrm>
            <a:off x="6806133" y="4828311"/>
            <a:ext cx="1721257" cy="52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rPr dirty="0"/>
              <a:t>Wakeup…</a:t>
            </a:r>
          </a:p>
        </p:txBody>
      </p:sp>
      <p:sp>
        <p:nvSpPr>
          <p:cNvPr id="34" name="Wakeup…"/>
          <p:cNvSpPr txBox="1"/>
          <p:nvPr/>
        </p:nvSpPr>
        <p:spPr>
          <a:xfrm>
            <a:off x="6806133" y="7098096"/>
            <a:ext cx="1721257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Wakeup…</a:t>
            </a:r>
          </a:p>
        </p:txBody>
      </p:sp>
      <p:sp>
        <p:nvSpPr>
          <p:cNvPr id="38" name="Wakeup…"/>
          <p:cNvSpPr txBox="1"/>
          <p:nvPr/>
        </p:nvSpPr>
        <p:spPr>
          <a:xfrm>
            <a:off x="6806133" y="8204731"/>
            <a:ext cx="1721257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Wakeup…</a:t>
            </a:r>
          </a:p>
        </p:txBody>
      </p:sp>
    </p:spTree>
    <p:extLst>
      <p:ext uri="{BB962C8B-B14F-4D97-AF65-F5344CB8AC3E}">
        <p14:creationId xmlns:p14="http://schemas.microsoft.com/office/powerpoint/2010/main" val="3344031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OSIX Barri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POSIX Barriers</a:t>
            </a:r>
            <a:r>
              <a:rPr lang="en-US" dirty="0"/>
              <a:t> Support</a:t>
            </a:r>
            <a:endParaRPr dirty="0"/>
          </a:p>
        </p:txBody>
      </p:sp>
      <p:sp>
        <p:nvSpPr>
          <p:cNvPr id="287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88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89" name="Only three method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#include  &lt;</a:t>
            </a:r>
            <a:r>
              <a:rPr lang="en-US" sz="2400" dirty="0" err="1">
                <a:latin typeface="Consolas" panose="020B0609020204030204" pitchFamily="49" charset="0"/>
              </a:rPr>
              <a:t>pthread.h</a:t>
            </a:r>
            <a:r>
              <a:rPr lang="en-US" sz="24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create barrier. note the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count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argument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pthread_barrier_init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pthread_barrier_t</a:t>
            </a:r>
            <a:r>
              <a:rPr lang="en-US" sz="2400" dirty="0">
                <a:latin typeface="Consolas" panose="020B0609020204030204" pitchFamily="49" charset="0"/>
              </a:rPr>
              <a:t> *restrict barrier,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	</a:t>
            </a:r>
            <a:r>
              <a:rPr lang="en-US" sz="2400" dirty="0" err="1">
                <a:latin typeface="Consolas" panose="020B0609020204030204" pitchFamily="49" charset="0"/>
              </a:rPr>
              <a:t>const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pthread_barrierattr_t</a:t>
            </a:r>
            <a:r>
              <a:rPr lang="en-US" sz="2400" dirty="0">
                <a:latin typeface="Consolas" panose="020B0609020204030204" pitchFamily="49" charset="0"/>
              </a:rPr>
              <a:t> *restrict </a:t>
            </a:r>
            <a:r>
              <a:rPr lang="en-US" sz="2400" dirty="0" err="1">
                <a:latin typeface="Consolas" panose="020B0609020204030204" pitchFamily="49" charset="0"/>
              </a:rPr>
              <a:t>attr</a:t>
            </a:r>
            <a:r>
              <a:rPr lang="en-US" sz="2400" dirty="0">
                <a:latin typeface="Consolas" panose="020B0609020204030204" pitchFamily="49" charset="0"/>
              </a:rPr>
              <a:t>, unsigned count); 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destroy a barrier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pthread_barrier_destroy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pthread_barrier_t</a:t>
            </a:r>
            <a:r>
              <a:rPr lang="en-US" sz="2400" dirty="0">
                <a:latin typeface="Consolas" panose="020B0609020204030204" pitchFamily="49" charset="0"/>
              </a:rPr>
              <a:t> *barrier);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wait on a barrier. When the function returns,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one thread gets PTHREAD_BARRIER_SERIAL_THREAD, others get 0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pthread_barrier_wait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pthread_barrier_t</a:t>
            </a:r>
            <a:r>
              <a:rPr lang="en-US" sz="2400" dirty="0">
                <a:latin typeface="Consolas" panose="020B0609020204030204" pitchFamily="49" charset="0"/>
              </a:rPr>
              <a:t> *barrier);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6C9335-CDAF-46A0-9B22-E025DA3D565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6734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C8611-F484-43CE-A9D2-191A5AD04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 mechanisms in this course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5525-7920-4F70-BD6B-B02411BB6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use mutex, condition, read/write lock, barriers, and only call blocking functions!</a:t>
            </a:r>
          </a:p>
          <a:p>
            <a:endParaRPr lang="en-US" dirty="0"/>
          </a:p>
          <a:p>
            <a:r>
              <a:rPr lang="en-US" dirty="0"/>
              <a:t>The following mechanisms </a:t>
            </a:r>
            <a:r>
              <a:rPr lang="en-US" dirty="0">
                <a:solidFill>
                  <a:schemeClr val="accent5"/>
                </a:solidFill>
              </a:rPr>
              <a:t>are not allowed </a:t>
            </a:r>
            <a:r>
              <a:rPr lang="en-US" dirty="0"/>
              <a:t>for synchronization!</a:t>
            </a:r>
          </a:p>
          <a:p>
            <a:pPr lvl="1"/>
            <a:r>
              <a:rPr lang="en-US" dirty="0"/>
              <a:t>Busy waiting, like spin lock</a:t>
            </a:r>
          </a:p>
          <a:p>
            <a:pPr lvl="1"/>
            <a:r>
              <a:rPr lang="en-US" dirty="0"/>
              <a:t>sleep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285EF-74F0-4A75-B08D-6684AA31307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08761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D6D6D6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 Light"/>
        <a:ea typeface="Helvetica Neue Light"/>
        <a:cs typeface="Helvetica Neue Light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BCBCB"/>
        </a:solid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 Light"/>
        <a:ea typeface="Helvetica Neue Light"/>
        <a:cs typeface="Helvetica Neue Light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BCBCB"/>
        </a:solid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1372</Words>
  <Application>Microsoft Macintosh PowerPoint</Application>
  <PresentationFormat>Custom</PresentationFormat>
  <Paragraphs>274</Paragraphs>
  <Slides>26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Consolas</vt:lpstr>
      <vt:lpstr>Helvetica</vt:lpstr>
      <vt:lpstr>Helvetica Neue</vt:lpstr>
      <vt:lpstr>Helvetica Neue Light</vt:lpstr>
      <vt:lpstr>Lucida Grande</vt:lpstr>
      <vt:lpstr>White</vt:lpstr>
      <vt:lpstr>(T5): More Threads Synchronization</vt:lpstr>
      <vt:lpstr>Deadlock</vt:lpstr>
      <vt:lpstr>Common solutions</vt:lpstr>
      <vt:lpstr>More Synchronization Primitives</vt:lpstr>
      <vt:lpstr>Readers-Writers Problem</vt:lpstr>
      <vt:lpstr>Solutions?</vt:lpstr>
      <vt:lpstr>Pthread Read-Write Lock</vt:lpstr>
      <vt:lpstr>Pthread Read-Write Locks For Reading</vt:lpstr>
      <vt:lpstr>Pthread Read-Write Locks For Writing</vt:lpstr>
      <vt:lpstr>Read-Write Lock Issues</vt:lpstr>
      <vt:lpstr>Pthread read-write lock</vt:lpstr>
      <vt:lpstr>Use mutex and condition to implement rwlock</vt:lpstr>
      <vt:lpstr>Pseudocode for rwlock lock</vt:lpstr>
      <vt:lpstr>Pseudocode for rwlock unlock</vt:lpstr>
      <vt:lpstr>Example: rwlock_writeunlock()</vt:lpstr>
      <vt:lpstr>Barriers</vt:lpstr>
      <vt:lpstr>Visually</vt:lpstr>
      <vt:lpstr>Visually</vt:lpstr>
      <vt:lpstr>Visually</vt:lpstr>
      <vt:lpstr>Visually</vt:lpstr>
      <vt:lpstr>Visually</vt:lpstr>
      <vt:lpstr>Visually</vt:lpstr>
      <vt:lpstr>Visually</vt:lpstr>
      <vt:lpstr>Reusable Barrier?</vt:lpstr>
      <vt:lpstr>POSIX Barriers Support</vt:lpstr>
      <vt:lpstr>Sync mechanisms in this course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modified xsi:type="dcterms:W3CDTF">2025-11-10T17:59:59Z</dcterms:modified>
</cp:coreProperties>
</file>